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a6454ee4d64150" /><Relationship Type="http://schemas.openxmlformats.org/officeDocument/2006/relationships/extended-properties" Target="/docProps/app.xml" Id="Rfbfdd949ffcb4719" /><Relationship Type="http://schemas.openxmlformats.org/officeDocument/2006/relationships/officeDocument" Target="/ppt/presentation.xml" Id="R3c420b0a30ad4ab6" /></Relationships>
</file>

<file path=ppt/presentation.xml><?xml version="1.0" encoding="utf-8"?>
<p:presentation xmlns:p="http://schemas.openxmlformats.org/presentationml/2006/main">
  <p:sldMasterIdLst>
    <p:sldMasterId xmlns:r="http://schemas.openxmlformats.org/officeDocument/2006/relationships" id="2147483648" r:id="R845b66c1a31b4c3a"/>
  </p:sldMasterIdLst>
  <p:notesMasterIdLst>
    <p:notesMasterId xmlns:r="http://schemas.openxmlformats.org/officeDocument/2006/relationships" r:id="R4bf3df17d2c94485"/>
  </p:notesMasterIdLst>
  <p:sldIdLst>
    <p:sldId xmlns:r="http://schemas.openxmlformats.org/officeDocument/2006/relationships" id="256" r:id="R81125fa8dd2f4c8f"/>
    <p:sldId xmlns:r="http://schemas.openxmlformats.org/officeDocument/2006/relationships" id="257" r:id="R646398bba95f49cb"/>
    <p:sldId xmlns:r="http://schemas.openxmlformats.org/officeDocument/2006/relationships" id="258" r:id="R292b9a9774ff4e4a"/>
    <p:sldId xmlns:r="http://schemas.openxmlformats.org/officeDocument/2006/relationships" id="259" r:id="Rdb74695644834169"/>
    <p:sldId xmlns:r="http://schemas.openxmlformats.org/officeDocument/2006/relationships" id="260" r:id="R058dc777866b47e1"/>
    <p:sldId xmlns:r="http://schemas.openxmlformats.org/officeDocument/2006/relationships" id="261" r:id="Re549de5f90cd454c"/>
    <p:sldId xmlns:r="http://schemas.openxmlformats.org/officeDocument/2006/relationships" id="262" r:id="R15f4e599c52f4c1b"/>
    <p:sldId xmlns:r="http://schemas.openxmlformats.org/officeDocument/2006/relationships" id="263" r:id="R2fad53c08a4f4d2e"/>
    <p:sldId xmlns:r="http://schemas.openxmlformats.org/officeDocument/2006/relationships" id="264" r:id="R91245715e85742f6"/>
    <p:sldId xmlns:r="http://schemas.openxmlformats.org/officeDocument/2006/relationships" id="265" r:id="Red37b191c5894aff"/>
    <p:sldId xmlns:r="http://schemas.openxmlformats.org/officeDocument/2006/relationships" id="266" r:id="R10cb80057ad542ef"/>
    <p:sldId xmlns:r="http://schemas.openxmlformats.org/officeDocument/2006/relationships" id="267" r:id="R3515b929a23845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339310b6534ac8" /><Relationship Type="http://schemas.openxmlformats.org/officeDocument/2006/relationships/slideMaster" Target="/ppt/slideMasters/slideMaster1.xml" Id="R845b66c1a31b4c3a" /><Relationship Type="http://schemas.openxmlformats.org/officeDocument/2006/relationships/notesMaster" Target="/ppt/notesMasters/notesMaster1.xml" Id="R4bf3df17d2c94485" /><Relationship Type="http://schemas.openxmlformats.org/officeDocument/2006/relationships/presProps" Target="/ppt/presProps.xml" Id="Re58c4225e7f848f5" /><Relationship Type="http://schemas.openxmlformats.org/officeDocument/2006/relationships/tableStyles" Target="/ppt/tableStyles.xml" Id="R7e02ef6ddb534f90" /><Relationship Type="http://schemas.openxmlformats.org/officeDocument/2006/relationships/slide" Target="/ppt/slides/slide1.xml" Id="R81125fa8dd2f4c8f" /><Relationship Type="http://schemas.openxmlformats.org/officeDocument/2006/relationships/slide" Target="/ppt/slides/slide2.xml" Id="R646398bba95f49cb" /><Relationship Type="http://schemas.openxmlformats.org/officeDocument/2006/relationships/slide" Target="/ppt/slides/slide3.xml" Id="R292b9a9774ff4e4a" /><Relationship Type="http://schemas.openxmlformats.org/officeDocument/2006/relationships/slide" Target="/ppt/slides/slide4.xml" Id="Rdb74695644834169" /><Relationship Type="http://schemas.openxmlformats.org/officeDocument/2006/relationships/slide" Target="/ppt/slides/slide5.xml" Id="R058dc777866b47e1" /><Relationship Type="http://schemas.openxmlformats.org/officeDocument/2006/relationships/slide" Target="/ppt/slides/slide6.xml" Id="Re549de5f90cd454c" /><Relationship Type="http://schemas.openxmlformats.org/officeDocument/2006/relationships/slide" Target="/ppt/slides/slide7.xml" Id="R15f4e599c52f4c1b" /><Relationship Type="http://schemas.openxmlformats.org/officeDocument/2006/relationships/slide" Target="/ppt/slides/slide8.xml" Id="R2fad53c08a4f4d2e" /><Relationship Type="http://schemas.openxmlformats.org/officeDocument/2006/relationships/slide" Target="/ppt/slides/slide9.xml" Id="R91245715e85742f6" /><Relationship Type="http://schemas.openxmlformats.org/officeDocument/2006/relationships/slide" Target="/ppt/slides/slide10.xml" Id="Red37b191c5894aff" /><Relationship Type="http://schemas.openxmlformats.org/officeDocument/2006/relationships/slide" Target="/ppt/slides/slide11.xml" Id="R10cb80057ad542ef" /><Relationship Type="http://schemas.openxmlformats.org/officeDocument/2006/relationships/slide" Target="/ppt/slides/slide12.xml" Id="R3515b929a23845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d912f500b84d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488ae367b3491d" /><Relationship Type="http://schemas.openxmlformats.org/officeDocument/2006/relationships/notesMaster" Target="/ppt/notesMasters/notesMaster1.xml" Id="R63c1fd00d47f42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6f090eabd54e83" /><Relationship Type="http://schemas.openxmlformats.org/officeDocument/2006/relationships/notesMaster" Target="/ppt/notesMasters/notesMaster1.xml" Id="Rc6dc439ac0c741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305d030d5249b8" /><Relationship Type="http://schemas.openxmlformats.org/officeDocument/2006/relationships/notesMaster" Target="/ppt/notesMasters/notesMaster1.xml" Id="Rcac75515e9704a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dcc6be21ff48c8" /><Relationship Type="http://schemas.openxmlformats.org/officeDocument/2006/relationships/notesMaster" Target="/ppt/notesMasters/notesMaster1.xml" Id="Ra20e3f0e78294d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6942fb474f4212" /><Relationship Type="http://schemas.openxmlformats.org/officeDocument/2006/relationships/notesMaster" Target="/ppt/notesMasters/notesMaster1.xml" Id="R92e52c04a50e4b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7ec2de8f484fb0" /><Relationship Type="http://schemas.openxmlformats.org/officeDocument/2006/relationships/notesMaster" Target="/ppt/notesMasters/notesMaster1.xml" Id="Rc0459ce63c5740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caf10476484a8e" /><Relationship Type="http://schemas.openxmlformats.org/officeDocument/2006/relationships/notesMaster" Target="/ppt/notesMasters/notesMaster1.xml" Id="Rd63d7363bed34b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3d0d7707a24af9" /><Relationship Type="http://schemas.openxmlformats.org/officeDocument/2006/relationships/notesMaster" Target="/ppt/notesMasters/notesMaster1.xml" Id="R10ce4f587af241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3b3c4e56c541ac" /><Relationship Type="http://schemas.openxmlformats.org/officeDocument/2006/relationships/notesMaster" Target="/ppt/notesMasters/notesMaster1.xml" Id="Ra81ab0c9a95048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f27520e92f4460" /><Relationship Type="http://schemas.openxmlformats.org/officeDocument/2006/relationships/notesMaster" Target="/ppt/notesMasters/notesMaster1.xml" Id="R11837efb655347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8857ac80964176" /><Relationship Type="http://schemas.openxmlformats.org/officeDocument/2006/relationships/notesMaster" Target="/ppt/notesMasters/notesMaster1.xml" Id="R23d00a9f4a8148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491696b2db491c" /><Relationship Type="http://schemas.openxmlformats.org/officeDocument/2006/relationships/notesMaster" Target="/ppt/notesMasters/notesMaster1.xml" Id="Ra8cd58e1e56848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Ouverture proposée : EBRA Press Service regroupe la saisie des interventions et leur suivi par le management. Cette présentation couvre le périmètre fonctionnel du projet fourni. Visuel de couverture abstrait créé pour cette présentation, sans représentation d’une interface réelle.</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Intention de l’outil : rendre les demandes et leurs étapes visibles dans un registre partagé. Les bénéfices présentés sont attendus, sans estimation de gains. Sources : formulaires Agent, vues Manager et fichiers LIRE-MOI.</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Collaborateur suit ses interventions. Le Manager consolide les données accessibles depuis ses sources. La version 3.6.4 autorise chaque agent à modifier et valider ses propres lignes. Sources : web/app.js et fonctions update/validate des deux serveurs.</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listes du projet proposent trois origines, onze types et neuf titres de presse. Type, origine et titre sont requis lors d’un lancement manuel. Les références client et le numéro d’ordre sont libres. Sources : web/index.html Agent et Manager.</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Déroulé à expliquer : qualifier la demande, lancer le traitement, réaliser l’intervention puis clôturer avec un commentaire. L’outil conserve la date de début et la date de fin et calcule la durée. Une seule intervention peut être active par collaborateur. Sources : Agent web/app.js et serverr.ps1.</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actions Ouvrir, Répondre et Transférer utilisent les fenêtres Outlook classiques. Le journal trace l’ouverture de la fenêtre de réponse, ce qui ne prouve pas l’envoi du mail. Une prise en charge crée un traitement Back. La clôture exige le déplacement du mail. Sources : outlook.ps1, mail.js et serverr.ps1.</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volumes dépendent de la sélection filtrée. La DMT moyenne du Manager utilise les traitements terminés avec une durée numérique. Les graphiques ventilent les traitements par origine, collaborateur et titre. La tendance journalière couvre les quatorze derniers jours. Sources : Manager web/app.js, fonctions mean, filtered et renderDashboard.</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DMT est le temps écoulé entre début et fin, sans mécanisme de déduction des pauses décrit dans le projet. La présence correspond aux signaux du serveur Agent, même lorsque l’onglet est réduit. Elle ne mesure pas la disponibilité métier. Sources : LIRE-MOI et presence.ps1.</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L’application trace les modifications et les validations avec leur auteur et leur date. Une modification annule une validation précédente. Le Manager dispose d’un journal Outlook distinct, filtrable par profil, collaborateur et action. Les événements concernent les actions exécutées via cet outil. Sources : scripts serveurs et interface Manager.</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Communauté échange des messages et publie des notifications de prise en charge et de libération Outlook. Les messages s’actualisent automatiquement. Le Manager visualise les états de présence. Sources : community.ps1, web/community.js, presence.ps1 et web/app.js.</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locale sous Windows avec PowerShell 5.1, navigateur et Windows Script Host. Le projet ne nécessite pas d’élévation administrateur, mais les politiques de l’entreprise peuvent interdire les scripts. Les données doivent être accessibles en lecture et écriture sur le partage. Outlook classique doit être configuré dans la session. L’accès à une boîte commune dépend des droits Outlook existants. Le nouvel Outlook n’est pas pris en charge.</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proposée : l’outil apporte un cadre commun de saisie et une vue partagée de l’activité. Ces bénéfices sont attendus et ne constituent pas des gains mesurés. Démonstration suggérée sur données de test : lancement d’un traitement, clôture, consultation côté Manager, puis lecture du journal. Le support reste entièrement modifiable pour adapter le discours au public.</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e362642ecd44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e1e92fa2da40ca" /><Relationship Type="http://schemas.openxmlformats.org/officeDocument/2006/relationships/slideLayout" Target="/ppt/slideLayouts/slideLayout1.xml" Id="R1d19e1ebaa3648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19e1ebaa3648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2b2b7701af477a" /><Relationship Type="http://schemas.openxmlformats.org/officeDocument/2006/relationships/image" Target="/ppt/media/image.png" Id="R433c5d291d7a44ad" /><Relationship Type="http://schemas.openxmlformats.org/officeDocument/2006/relationships/notesSlide" Target="/ppt/notesSlides/notesSlide1.xml" Id="R73a1001fc46143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c4489bd5c945e9" /><Relationship Type="http://schemas.openxmlformats.org/officeDocument/2006/relationships/notesSlide" Target="/ppt/notesSlides/notesSlide2.xml" Id="R88be1dd4638343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b3fac120134125" /><Relationship Type="http://schemas.openxmlformats.org/officeDocument/2006/relationships/notesSlide" Target="/ppt/notesSlides/notesSlide3.xml" Id="R3ab6e3b359b141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1ac2e924864067" /><Relationship Type="http://schemas.openxmlformats.org/officeDocument/2006/relationships/notesSlide" Target="/ppt/notesSlides/notesSlide4.xml" Id="R6ec7bbcecaaf4f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10269e6c9447cf" /><Relationship Type="http://schemas.openxmlformats.org/officeDocument/2006/relationships/notesSlide" Target="/ppt/notesSlides/notesSlide5.xml" Id="Rea2a228df15740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9cf4274ffb415d" /><Relationship Type="http://schemas.openxmlformats.org/officeDocument/2006/relationships/notesSlide" Target="/ppt/notesSlides/notesSlide6.xml" Id="R821a6943cea94f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692aded2a94b18" /><Relationship Type="http://schemas.openxmlformats.org/officeDocument/2006/relationships/notesSlide" Target="/ppt/notesSlides/notesSlide7.xml" Id="R73dc10541dd942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8e32d205c14c97" /><Relationship Type="http://schemas.openxmlformats.org/officeDocument/2006/relationships/notesSlide" Target="/ppt/notesSlides/notesSlide8.xml" Id="Rde2f060ae4a24b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3ae85a7f1a4369" /><Relationship Type="http://schemas.openxmlformats.org/officeDocument/2006/relationships/notesSlide" Target="/ppt/notesSlides/notesSlide9.xml" Id="R1be599e1a5f648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ac8fcf5a6244310" /><Relationship Type="http://schemas.openxmlformats.org/officeDocument/2006/relationships/notesSlide" Target="/ppt/notesSlides/notesSlide10.xml" Id="R6cc5ef8e17f54d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ead009226e24257" /><Relationship Type="http://schemas.openxmlformats.org/officeDocument/2006/relationships/notesSlide" Target="/ppt/notesSlides/notesSlide11.xml" Id="R776702c9e38b4c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9bda6107ec401c" /><Relationship Type="http://schemas.openxmlformats.org/officeDocument/2006/relationships/image" Target="/ppt/media/image2.png" Id="R50265fcbd2934ff7" /><Relationship Type="http://schemas.openxmlformats.org/officeDocument/2006/relationships/notesSlide" Target="/ppt/notesSlides/notesSlide12.xml" Id="Rf9f7eb0ea52241c1" /></Relationships>
</file>

<file path=ppt/slides/slide1.xml><?xml version="1.0" encoding="utf-8"?>
<p:sld xmlns:p="http://schemas.openxmlformats.org/presentationml/2006/main">
  <p:cSld>
    <p:bg>
      <p:bgPr>
        <a:solidFill xmlns:a="http://schemas.openxmlformats.org/drawingml/2006/main">
          <a:srgbClr val="101C4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33c5d291d7a44a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0223B8D-690F-4584-95B5-FA5F772E9A16}"/>
              </a:ext>
            </a:extLst>
          </p:cNvPr>
          <p:cNvSpPr>
            <a:spLocks xmlns:a="http://schemas.openxmlformats.org/drawingml/2006/main" noGrp="1"/>
          </p:cNvSpPr>
          <p:nvPr/>
        </p:nvSpPr>
        <p:spPr>
          <a:xfrm xmlns:a="http://schemas.openxmlformats.org/drawingml/2006/main">
            <a:off x="609600" y="733425"/>
            <a:ext cx="5524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EBRA</a:t>
            </a:r>
          </a:p>
        </p:txBody>
      </p:sp>
      <p:sp>
        <p:nvSpPr>
          <p:cNvPr id="3" name="">
            <a:extLst xmlns:a="http://schemas.openxmlformats.org/drawingml/2006/main">
              <a:ext uri="{FF2B5EF4-FFF2-40B4-BE49-F238E27FC236}">
                <a16:creationId xmlns:a16="http://schemas.microsoft.com/office/drawing/2014/main" id="{5F068E2B-6B92-4F8B-B082-2BF6C4F995D4}"/>
              </a:ext>
            </a:extLst>
          </p:cNvPr>
          <p:cNvSpPr>
            <a:spLocks xmlns:a="http://schemas.openxmlformats.org/drawingml/2006/main" noGrp="1"/>
          </p:cNvSpPr>
          <p:nvPr/>
        </p:nvSpPr>
        <p:spPr>
          <a:xfrm xmlns:a="http://schemas.openxmlformats.org/drawingml/2006/main">
            <a:off x="647700" y="165735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DejaVu Sans"/>
                <a:ea typeface="DejaVu Sans"/>
                <a:cs typeface="DejaVu Sans"/>
              </a:defRPr>
            </a:pPr>
            <a:r>
              <a:rPr sz="2625" b="1">
                <a:solidFill>
                  <a:srgbClr val="FFFFFF"/>
                </a:solidFill>
                <a:latin typeface="DejaVu Sans"/>
                <a:ea typeface="DejaVu Sans"/>
                <a:cs typeface="DejaVu Sans"/>
              </a:rPr>
              <a:t>PRESS SERVICE</a:t>
            </a:r>
          </a:p>
        </p:txBody>
      </p:sp>
      <p:sp>
        <p:nvSpPr>
          <p:cNvPr id="4" name="">
            <a:extLst xmlns:a="http://schemas.openxmlformats.org/drawingml/2006/main">
              <a:ext uri="{FF2B5EF4-FFF2-40B4-BE49-F238E27FC236}">
                <a16:creationId xmlns:a16="http://schemas.microsoft.com/office/drawing/2014/main" id="{349AECFD-D071-458B-BDC4-AD3EFBC2C183}"/>
              </a:ext>
            </a:extLst>
          </p:cNvPr>
          <p:cNvSpPr>
            <a:spLocks xmlns:a="http://schemas.openxmlformats.org/drawingml/2006/main" noGrp="1"/>
          </p:cNvSpPr>
          <p:nvPr/>
        </p:nvSpPr>
        <p:spPr>
          <a:xfrm xmlns:a="http://schemas.openxmlformats.org/drawingml/2006/main">
            <a:off x="647700" y="3028950"/>
            <a:ext cx="6286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FFFFF"/>
                </a:solidFill>
                <a:latin typeface="DejaVu Sans"/>
                <a:ea typeface="DejaVu Sans"/>
                <a:cs typeface="DejaVu Sans"/>
              </a:defRPr>
            </a:pPr>
            <a:r>
              <a:rPr sz="2775" b="0">
                <a:solidFill>
                  <a:srgbClr val="FFFFFF"/>
                </a:solidFill>
                <a:latin typeface="DejaVu Sans"/>
                <a:ea typeface="DejaVu Sans"/>
                <a:cs typeface="DejaVu Sans"/>
              </a:rPr>
              <a:t>Suivi des traitements</a:t>
            </a:r>
          </a:p>
          <a:p xmlns:a="http://schemas.openxmlformats.org/drawingml/2006/main">
            <a:pPr>
              <a:defRPr sz="2775" b="0">
                <a:solidFill>
                  <a:srgbClr val="FFFFFF"/>
                </a:solidFill>
                <a:latin typeface="DejaVu Sans"/>
                <a:ea typeface="DejaVu Sans"/>
                <a:cs typeface="DejaVu Sans"/>
              </a:defRPr>
            </a:pPr>
            <a:r>
              <a:rPr sz="2775" b="0">
                <a:solidFill>
                  <a:srgbClr val="FFFFFF"/>
                </a:solidFill>
                <a:latin typeface="DejaVu Sans"/>
                <a:ea typeface="DejaVu Sans"/>
                <a:cs typeface="DejaVu Sans"/>
              </a:rPr>
              <a:t>et pilotage de l’activité</a:t>
            </a:r>
          </a:p>
        </p:txBody>
      </p:sp>
      <p:sp>
        <p:nvSpPr>
          <p:cNvPr id="5" name="">
            <a:extLst xmlns:a="http://schemas.openxmlformats.org/drawingml/2006/main">
              <a:ext uri="{FF2B5EF4-FFF2-40B4-BE49-F238E27FC236}">
                <a16:creationId xmlns:a16="http://schemas.microsoft.com/office/drawing/2014/main" id="{11FEF250-0112-4FEE-A16F-F859A7AF2315}"/>
              </a:ext>
            </a:extLst>
          </p:cNvPr>
          <p:cNvSpPr>
            <a:spLocks xmlns:a="http://schemas.openxmlformats.org/drawingml/2006/main" noGrp="1"/>
          </p:cNvSpPr>
          <p:nvPr/>
        </p:nvSpPr>
        <p:spPr>
          <a:xfrm xmlns:a="http://schemas.openxmlformats.org/drawingml/2006/main">
            <a:off x="647700" y="5105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7EE"/>
                </a:solidFill>
                <a:latin typeface="DejaVu Sans"/>
                <a:ea typeface="DejaVu Sans"/>
                <a:cs typeface="DejaVu Sans"/>
              </a:defRPr>
            </a:pPr>
            <a:r>
              <a:rPr sz="1800" b="0">
                <a:solidFill>
                  <a:srgbClr val="BBC7EE"/>
                </a:solidFill>
                <a:latin typeface="DejaVu Sans"/>
                <a:ea typeface="DejaVu Sans"/>
                <a:cs typeface="DejaVu Sans"/>
              </a:rPr>
              <a:t>Présentation de l’outil</a:t>
            </a:r>
          </a:p>
        </p:txBody>
      </p:sp>
      <p:sp>
        <p:nvSpPr>
          <p:cNvPr id="6" name="">
            <a:extLst xmlns:a="http://schemas.openxmlformats.org/drawingml/2006/main">
              <a:ext uri="{FF2B5EF4-FFF2-40B4-BE49-F238E27FC236}">
                <a16:creationId xmlns:a16="http://schemas.microsoft.com/office/drawing/2014/main" id="{36BD3F10-4DC2-40A2-98D6-EE8BC243BE78}"/>
              </a:ext>
            </a:extLst>
          </p:cNvPr>
          <p:cNvSpPr>
            <a:spLocks xmlns:a="http://schemas.openxmlformats.org/drawingml/2006/main" noGrp="1"/>
          </p:cNvSpPr>
          <p:nvPr/>
        </p:nvSpPr>
        <p:spPr>
          <a:xfrm xmlns:a="http://schemas.openxmlformats.org/drawingml/2006/main">
            <a:off x="647700" y="5686425"/>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BC7EE"/>
                </a:solidFill>
                <a:latin typeface="DejaVu Sans"/>
                <a:ea typeface="DejaVu Sans"/>
                <a:cs typeface="DejaVu Sans"/>
              </a:defRPr>
            </a:pPr>
            <a:r>
              <a:rPr sz="1350" b="0">
                <a:solidFill>
                  <a:srgbClr val="BBC7EE"/>
                </a:solidFill>
                <a:latin typeface="DejaVu Sans"/>
                <a:ea typeface="DejaVu Sans"/>
                <a:cs typeface="DejaVu Sans"/>
              </a:rPr>
              <a:t>Version 3.6.4   /   Septembre 2026</a:t>
            </a:r>
          </a:p>
        </p:txBody>
      </p:sp>
    </p:spTree>
    <p:extLst>
      <p:ext uri="{BB962C8B-B14F-4D97-AF65-F5344CB8AC3E}">
        <p14:creationId xmlns:p14="http://schemas.microsoft.com/office/powerpoint/2010/main" val="1111228685"/>
      </p:ext>
    </p:extLst>
  </p:cSld>
</p:sld>
</file>

<file path=ppt/slides/slide2.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FF5888-EC88-424E-9C38-0F2A89F9D405}"/>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OBJECTIF</a:t>
            </a:r>
          </a:p>
        </p:txBody>
      </p:sp>
      <p:sp>
        <p:nvSpPr>
          <p:cNvPr id="2" name="">
            <a:extLst xmlns:a="http://schemas.openxmlformats.org/drawingml/2006/main">
              <a:ext uri="{FF2B5EF4-FFF2-40B4-BE49-F238E27FC236}">
                <a16:creationId xmlns:a16="http://schemas.microsoft.com/office/drawing/2014/main" id="{71D980CA-F3B0-4938-BF81-D95873867057}"/>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Un suivi commun de l’activité</a:t>
            </a:r>
          </a:p>
        </p:txBody>
      </p:sp>
      <p:sp>
        <p:nvSpPr>
          <p:cNvPr id="3" name="">
            <a:extLst xmlns:a="http://schemas.openxmlformats.org/drawingml/2006/main">
              <a:ext uri="{FF2B5EF4-FFF2-40B4-BE49-F238E27FC236}">
                <a16:creationId xmlns:a16="http://schemas.microsoft.com/office/drawing/2014/main" id="{CE1B1027-BA39-4FA2-8807-B98912C89EDE}"/>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41452E2A-8DDC-4D6C-B796-E6604A773E05}"/>
              </a:ext>
            </a:extLst>
          </p:cNvPr>
          <p:cNvSpPr>
            <a:spLocks xmlns:a="http://schemas.openxmlformats.org/drawingml/2006/main" noGrp="1"/>
          </p:cNvSpPr>
          <p:nvPr/>
        </p:nvSpPr>
        <p:spPr>
          <a:xfrm xmlns:a="http://schemas.openxmlformats.org/drawingml/2006/main">
            <a:off x="609600" y="2276475"/>
            <a:ext cx="5191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1C42"/>
                </a:solidFill>
                <a:latin typeface="DejaVu Sans"/>
                <a:ea typeface="DejaVu Sans"/>
                <a:cs typeface="DejaVu Sans"/>
              </a:defRPr>
            </a:pPr>
            <a:r>
              <a:rPr sz="3675" b="1">
                <a:solidFill>
                  <a:srgbClr val="101C42"/>
                </a:solidFill>
                <a:latin typeface="DejaVu Sans"/>
                <a:ea typeface="DejaVu Sans"/>
                <a:cs typeface="DejaVu Sans"/>
              </a:rPr>
              <a:t>Une demande.</a:t>
            </a:r>
          </a:p>
          <a:p xmlns:a="http://schemas.openxmlformats.org/drawingml/2006/main">
            <a:pPr>
              <a:defRPr sz="3675" b="1">
                <a:solidFill>
                  <a:srgbClr val="101C42"/>
                </a:solidFill>
                <a:latin typeface="DejaVu Sans"/>
                <a:ea typeface="DejaVu Sans"/>
                <a:cs typeface="DejaVu Sans"/>
              </a:defRPr>
            </a:pPr>
            <a:r>
              <a:rPr sz="3675" b="1">
                <a:solidFill>
                  <a:srgbClr val="101C42"/>
                </a:solidFill>
                <a:latin typeface="DejaVu Sans"/>
                <a:ea typeface="DejaVu Sans"/>
                <a:cs typeface="DejaVu Sans"/>
              </a:rPr>
              <a:t>Un responsable.</a:t>
            </a:r>
          </a:p>
          <a:p xmlns:a="http://schemas.openxmlformats.org/drawingml/2006/main">
            <a:pPr>
              <a:defRPr sz="3675" b="1">
                <a:solidFill>
                  <a:srgbClr val="101C42"/>
                </a:solidFill>
                <a:latin typeface="DejaVu Sans"/>
                <a:ea typeface="DejaVu Sans"/>
                <a:cs typeface="DejaVu Sans"/>
              </a:defRPr>
            </a:pPr>
            <a:r>
              <a:rPr sz="3675" b="1">
                <a:solidFill>
                  <a:srgbClr val="101C42"/>
                </a:solidFill>
                <a:latin typeface="DejaVu Sans"/>
                <a:ea typeface="DejaVu Sans"/>
                <a:cs typeface="DejaVu Sans"/>
              </a:rPr>
              <a:t>Un historique.</a:t>
            </a:r>
          </a:p>
        </p:txBody>
      </p:sp>
      <p:sp>
        <p:nvSpPr>
          <p:cNvPr id="5" name="">
            <a:extLst xmlns:a="http://schemas.openxmlformats.org/drawingml/2006/main">
              <a:ext uri="{FF2B5EF4-FFF2-40B4-BE49-F238E27FC236}">
                <a16:creationId xmlns:a16="http://schemas.microsoft.com/office/drawing/2014/main" id="{0D48AD6D-8A51-4C74-B115-AA636BE5B03B}"/>
              </a:ext>
            </a:extLst>
          </p:cNvPr>
          <p:cNvSpPr>
            <a:spLocks xmlns:a="http://schemas.openxmlformats.org/drawingml/2006/main" noGrp="1"/>
          </p:cNvSpPr>
          <p:nvPr/>
        </p:nvSpPr>
        <p:spPr>
          <a:xfrm xmlns:a="http://schemas.openxmlformats.org/drawingml/2006/main">
            <a:off x="6705600" y="2228850"/>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47A1"/>
                </a:solidFill>
                <a:latin typeface="DejaVu Sans"/>
                <a:ea typeface="DejaVu Sans"/>
                <a:cs typeface="DejaVu Sans"/>
              </a:defRPr>
            </a:pPr>
            <a:r>
              <a:rPr sz="2175" b="1">
                <a:solidFill>
                  <a:srgbClr val="3447A1"/>
                </a:solidFill>
                <a:latin typeface="DejaVu Sans"/>
                <a:ea typeface="DejaVu Sans"/>
                <a:cs typeface="DejaVu Sans"/>
              </a:rPr>
              <a:t>Identifier la prise en charge</a:t>
            </a:r>
          </a:p>
        </p:txBody>
      </p:sp>
      <p:sp>
        <p:nvSpPr>
          <p:cNvPr id="6" name="">
            <a:extLst xmlns:a="http://schemas.openxmlformats.org/drawingml/2006/main">
              <a:ext uri="{FF2B5EF4-FFF2-40B4-BE49-F238E27FC236}">
                <a16:creationId xmlns:a16="http://schemas.microsoft.com/office/drawing/2014/main" id="{709E2FE5-F2E7-4D63-8A77-5BDF736D141E}"/>
              </a:ext>
            </a:extLst>
          </p:cNvPr>
          <p:cNvSpPr>
            <a:spLocks xmlns:a="http://schemas.openxmlformats.org/drawingml/2006/main" noGrp="1"/>
          </p:cNvSpPr>
          <p:nvPr/>
        </p:nvSpPr>
        <p:spPr>
          <a:xfrm xmlns:a="http://schemas.openxmlformats.org/drawingml/2006/main">
            <a:off x="6705600" y="2819400"/>
            <a:ext cx="4810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64C"/>
                </a:solidFill>
                <a:latin typeface="DejaVu Sans"/>
                <a:ea typeface="DejaVu Sans"/>
                <a:cs typeface="DejaVu Sans"/>
              </a:defRPr>
            </a:pPr>
            <a:r>
              <a:rPr sz="1875" b="0">
                <a:solidFill>
                  <a:srgbClr val="17264C"/>
                </a:solidFill>
                <a:latin typeface="DejaVu Sans"/>
                <a:ea typeface="DejaVu Sans"/>
                <a:cs typeface="DejaVu Sans"/>
              </a:rPr>
              <a:t>Retrouver le collaborateur associé à chaque intervention.</a:t>
            </a:r>
          </a:p>
        </p:txBody>
      </p:sp>
      <p:sp>
        <p:nvSpPr>
          <p:cNvPr id="7" name="">
            <a:extLst xmlns:a="http://schemas.openxmlformats.org/drawingml/2006/main">
              <a:ext uri="{FF2B5EF4-FFF2-40B4-BE49-F238E27FC236}">
                <a16:creationId xmlns:a16="http://schemas.microsoft.com/office/drawing/2014/main" id="{66B4450F-44C2-4215-8570-CCC4080E4E8A}"/>
              </a:ext>
            </a:extLst>
          </p:cNvPr>
          <p:cNvSpPr>
            <a:spLocks xmlns:a="http://schemas.openxmlformats.org/drawingml/2006/main" noGrp="1"/>
          </p:cNvSpPr>
          <p:nvPr/>
        </p:nvSpPr>
        <p:spPr>
          <a:xfrm xmlns:a="http://schemas.openxmlformats.org/drawingml/2006/main">
            <a:off x="6705600" y="3971925"/>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47A1"/>
                </a:solidFill>
                <a:latin typeface="DejaVu Sans"/>
                <a:ea typeface="DejaVu Sans"/>
                <a:cs typeface="DejaVu Sans"/>
              </a:defRPr>
            </a:pPr>
            <a:r>
              <a:rPr sz="2175" b="1">
                <a:solidFill>
                  <a:srgbClr val="3447A1"/>
                </a:solidFill>
                <a:latin typeface="DejaVu Sans"/>
                <a:ea typeface="DejaVu Sans"/>
                <a:cs typeface="DejaVu Sans"/>
              </a:rPr>
              <a:t>Suivre l’avancement</a:t>
            </a:r>
          </a:p>
        </p:txBody>
      </p:sp>
      <p:sp>
        <p:nvSpPr>
          <p:cNvPr id="8" name="">
            <a:extLst xmlns:a="http://schemas.openxmlformats.org/drawingml/2006/main">
              <a:ext uri="{FF2B5EF4-FFF2-40B4-BE49-F238E27FC236}">
                <a16:creationId xmlns:a16="http://schemas.microsoft.com/office/drawing/2014/main" id="{47677626-7EEC-4CFF-B47D-238EB1A793C6}"/>
              </a:ext>
            </a:extLst>
          </p:cNvPr>
          <p:cNvSpPr>
            <a:spLocks xmlns:a="http://schemas.openxmlformats.org/drawingml/2006/main" noGrp="1"/>
          </p:cNvSpPr>
          <p:nvPr/>
        </p:nvSpPr>
        <p:spPr>
          <a:xfrm xmlns:a="http://schemas.openxmlformats.org/drawingml/2006/main">
            <a:off x="6705600" y="4562475"/>
            <a:ext cx="4810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64C"/>
                </a:solidFill>
                <a:latin typeface="DejaVu Sans"/>
                <a:ea typeface="DejaVu Sans"/>
                <a:cs typeface="DejaVu Sans"/>
              </a:defRPr>
            </a:pPr>
            <a:r>
              <a:rPr sz="1875" b="0">
                <a:solidFill>
                  <a:srgbClr val="17264C"/>
                </a:solidFill>
                <a:latin typeface="DejaVu Sans"/>
                <a:ea typeface="DejaVu Sans"/>
                <a:cs typeface="DejaVu Sans"/>
              </a:rPr>
              <a:t>Distinguer les traitements ouverts et terminés.</a:t>
            </a:r>
          </a:p>
        </p:txBody>
      </p:sp>
      <p:sp>
        <p:nvSpPr>
          <p:cNvPr id="9" name="">
            <a:extLst xmlns:a="http://schemas.openxmlformats.org/drawingml/2006/main">
              <a:ext uri="{FF2B5EF4-FFF2-40B4-BE49-F238E27FC236}">
                <a16:creationId xmlns:a16="http://schemas.microsoft.com/office/drawing/2014/main" id="{C71F5D55-0E78-4DDA-977C-3415E062A6C0}"/>
              </a:ext>
            </a:extLst>
          </p:cNvPr>
          <p:cNvSpPr>
            <a:spLocks xmlns:a="http://schemas.openxmlformats.org/drawingml/2006/main" noGrp="1"/>
          </p:cNvSpPr>
          <p:nvPr/>
        </p:nvSpPr>
        <p:spPr>
          <a:xfrm xmlns:a="http://schemas.openxmlformats.org/drawingml/2006/main">
            <a:off x="647700" y="57435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3377B"/>
                </a:solidFill>
                <a:latin typeface="DejaVu Sans"/>
                <a:ea typeface="DejaVu Sans"/>
                <a:cs typeface="DejaVu Sans"/>
              </a:defRPr>
            </a:pPr>
            <a:r>
              <a:rPr sz="1875" b="1">
                <a:solidFill>
                  <a:srgbClr val="C3377B"/>
                </a:solidFill>
                <a:latin typeface="DejaVu Sans"/>
                <a:ea typeface="DejaVu Sans"/>
                <a:cs typeface="DejaVu Sans"/>
              </a:rPr>
              <a:t>Un même outil pour l’exécution quotidienne et la supervision.</a:t>
            </a:r>
          </a:p>
        </p:txBody>
      </p:sp>
    </p:spTree>
    <p:extLst>
      <p:ext uri="{BB962C8B-B14F-4D97-AF65-F5344CB8AC3E}">
        <p14:creationId xmlns:p14="http://schemas.microsoft.com/office/powerpoint/2010/main" val="1560416455"/>
      </p:ext>
    </p:extLst>
  </p:cSld>
</p:sld>
</file>

<file path=ppt/slides/slide3.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2B9CF0-81A8-4B0D-AD62-D8D32F8492C6}"/>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ORGANISATION</a:t>
            </a:r>
          </a:p>
        </p:txBody>
      </p:sp>
      <p:sp>
        <p:nvSpPr>
          <p:cNvPr id="2" name="">
            <a:extLst xmlns:a="http://schemas.openxmlformats.org/drawingml/2006/main">
              <a:ext uri="{FF2B5EF4-FFF2-40B4-BE49-F238E27FC236}">
                <a16:creationId xmlns:a16="http://schemas.microsoft.com/office/drawing/2014/main" id="{E51711D7-24E0-4AF2-856D-0AFD51F203A9}"/>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Deux espaces, des rôles distincts</a:t>
            </a:r>
          </a:p>
        </p:txBody>
      </p:sp>
      <p:sp>
        <p:nvSpPr>
          <p:cNvPr id="3" name="">
            <a:extLst xmlns:a="http://schemas.openxmlformats.org/drawingml/2006/main">
              <a:ext uri="{FF2B5EF4-FFF2-40B4-BE49-F238E27FC236}">
                <a16:creationId xmlns:a16="http://schemas.microsoft.com/office/drawing/2014/main" id="{C199DE31-07A8-471D-B2E4-41F57A2346A8}"/>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03</a:t>
            </a:r>
          </a:p>
        </p:txBody>
      </p:sp>
      <p:graphicFrame>
        <p:nvGraphicFramePr>
          <p:cNvPr id="9" name=""/>
          <p:cNvGraphicFramePr/>
          <p:nvPr/>
        </p:nvGraphicFramePr>
        <p:xfrm>
          <a:off xmlns:a="http://schemas.openxmlformats.org/drawingml/2006/main" x="609600" y="2209800"/>
          <a:ext xmlns:a="http://schemas.openxmlformats.org/drawingml/2006/main" cx="10972800" cy="3238500"/>
        </p:xfrm>
        <a:graphic xmlns:a="http://schemas.openxmlformats.org/drawingml/2006/main">
          <a:graphicData uri="http://schemas.openxmlformats.org/drawingml/2006/table">
            <a:tbl>
              <a:tblPr/>
              <a:tblGrid>
                <a:gridCol w="5486400"/>
                <a:gridCol w="5486400"/>
              </a:tblGrid>
              <a:tr h="647700">
                <a:tc>
                  <a:txBody>
                    <a:bodyPr/>
                    <a:lstStyle/>
                    <a:p>
                      <a:r>
                        <a:rPr sz="1800" b="1">
                          <a:solidFill>
                            <a:srgbClr val="FFFFFF"/>
                          </a:solidFill>
                          <a:latin typeface="DejaVu Sans"/>
                          <a:ea typeface="DejaVu Sans"/>
                          <a:cs typeface="DejaVu Sans"/>
                        </a:rPr>
                        <a:t>Collaborateur</a:t>
                      </a:r>
                    </a:p>
                  </a:txBody>
                  <a:tcPr marL="91440" marR="91440" marT="45720" marB="45720">
                    <a:solidFill>
                      <a:srgbClr val="101C42"/>
                    </a:solidFill>
                  </a:tcPr>
                </a:tc>
                <a:tc>
                  <a:txBody>
                    <a:bodyPr/>
                    <a:lstStyle/>
                    <a:p>
                      <a:r>
                        <a:rPr sz="1800" b="1">
                          <a:solidFill>
                            <a:srgbClr val="FFFFFF"/>
                          </a:solidFill>
                          <a:latin typeface="DejaVu Sans"/>
                          <a:ea typeface="DejaVu Sans"/>
                          <a:cs typeface="DejaVu Sans"/>
                        </a:rPr>
                        <a:t>Manager</a:t>
                      </a:r>
                    </a:p>
                  </a:txBody>
                  <a:tcPr marL="91440" marR="91440" marT="45720" marB="45720">
                    <a:solidFill>
                      <a:srgbClr val="101C42"/>
                    </a:solidFill>
                  </a:tcPr>
                </a:tc>
              </a:tr>
              <a:tr h="647700">
                <a:tc>
                  <a:txBody>
                    <a:bodyPr/>
                    <a:lstStyle/>
                    <a:p>
                      <a:r>
                        <a:rPr sz="1800" b="0">
                          <a:solidFill>
                            <a:srgbClr val="17264C"/>
                          </a:solidFill>
                          <a:latin typeface="DejaVu Sans"/>
                          <a:ea typeface="DejaVu Sans"/>
                          <a:cs typeface="DejaVu Sans"/>
                        </a:rPr>
                        <a:t>Saisir et clôturer ses interventions</a:t>
                      </a:r>
                    </a:p>
                  </a:txBody>
                  <a:tcPr marL="91440" marR="91440" marT="45720" marB="45720">
                    <a:solidFill>
                      <a:srgbClr val="FFFFFF"/>
                    </a:solidFill>
                  </a:tcPr>
                </a:tc>
                <a:tc>
                  <a:txBody>
                    <a:bodyPr/>
                    <a:lstStyle/>
                    <a:p>
                      <a:r>
                        <a:rPr sz="1800" b="0">
                          <a:solidFill>
                            <a:srgbClr val="17264C"/>
                          </a:solidFill>
                          <a:latin typeface="DejaVu Sans"/>
                          <a:ea typeface="DejaVu Sans"/>
                          <a:cs typeface="DejaVu Sans"/>
                        </a:rPr>
                        <a:t>Consolider et filtrer les traitements</a:t>
                      </a:r>
                    </a:p>
                  </a:txBody>
                  <a:tcPr marL="91440" marR="91440" marT="45720" marB="45720">
                    <a:solidFill>
                      <a:srgbClr val="FFFFFF"/>
                    </a:solidFill>
                  </a:tcPr>
                </a:tc>
              </a:tr>
              <a:tr h="647700">
                <a:tc>
                  <a:txBody>
                    <a:bodyPr/>
                    <a:lstStyle/>
                    <a:p>
                      <a:r>
                        <a:rPr sz="1800" b="0">
                          <a:solidFill>
                            <a:srgbClr val="17264C"/>
                          </a:solidFill>
                          <a:latin typeface="DejaVu Sans"/>
                          <a:ea typeface="DejaVu Sans"/>
                          <a:cs typeface="DejaVu Sans"/>
                        </a:rPr>
                        <a:t>Consulter et corriger ses propres lignes</a:t>
                      </a:r>
                    </a:p>
                  </a:txBody>
                  <a:tcPr marL="91440" marR="91440" marT="45720" marB="45720">
                    <a:solidFill>
                      <a:srgbClr val="EEF1F8"/>
                    </a:solidFill>
                  </a:tcPr>
                </a:tc>
                <a:tc>
                  <a:txBody>
                    <a:bodyPr/>
                    <a:lstStyle/>
                    <a:p>
                      <a:r>
                        <a:rPr sz="1800" b="0">
                          <a:solidFill>
                            <a:srgbClr val="17264C"/>
                          </a:solidFill>
                          <a:latin typeface="DejaVu Sans"/>
                          <a:ea typeface="DejaVu Sans"/>
                          <a:cs typeface="DejaVu Sans"/>
                        </a:rPr>
                        <a:t>Examiner, modifier et valider les lignes</a:t>
                      </a:r>
                    </a:p>
                  </a:txBody>
                  <a:tcPr marL="91440" marR="91440" marT="45720" marB="45720">
                    <a:solidFill>
                      <a:srgbClr val="EEF1F8"/>
                    </a:solidFill>
                  </a:tcPr>
                </a:tc>
              </a:tr>
              <a:tr h="647700">
                <a:tc>
                  <a:txBody>
                    <a:bodyPr/>
                    <a:lstStyle/>
                    <a:p>
                      <a:r>
                        <a:rPr sz="1800" b="0">
                          <a:solidFill>
                            <a:srgbClr val="17264C"/>
                          </a:solidFill>
                          <a:latin typeface="DejaVu Sans"/>
                          <a:ea typeface="DejaVu Sans"/>
                          <a:cs typeface="DejaVu Sans"/>
                        </a:rPr>
                        <a:t>Prendre en charge les demandes Outlook</a:t>
                      </a:r>
                    </a:p>
                  </a:txBody>
                  <a:tcPr marL="91440" marR="91440" marT="45720" marB="45720">
                    <a:solidFill>
                      <a:srgbClr val="FFFFFF"/>
                    </a:solidFill>
                  </a:tcPr>
                </a:tc>
                <a:tc>
                  <a:txBody>
                    <a:bodyPr/>
                    <a:lstStyle/>
                    <a:p>
                      <a:r>
                        <a:rPr sz="1800" b="0">
                          <a:solidFill>
                            <a:srgbClr val="17264C"/>
                          </a:solidFill>
                          <a:latin typeface="DejaVu Sans"/>
                          <a:ea typeface="DejaVu Sans"/>
                          <a:cs typeface="DejaVu Sans"/>
                        </a:rPr>
                        <a:t>Consulter le journal des actions Outlook</a:t>
                      </a:r>
                    </a:p>
                  </a:txBody>
                  <a:tcPr marL="91440" marR="91440" marT="45720" marB="45720">
                    <a:solidFill>
                      <a:srgbClr val="FFFFFF"/>
                    </a:solidFill>
                  </a:tcPr>
                </a:tc>
              </a:tr>
              <a:tr h="647700">
                <a:tc>
                  <a:txBody>
                    <a:bodyPr/>
                    <a:lstStyle/>
                    <a:p>
                      <a:r>
                        <a:rPr sz="1800" b="0">
                          <a:solidFill>
                            <a:srgbClr val="17264C"/>
                          </a:solidFill>
                          <a:latin typeface="DejaVu Sans"/>
                          <a:ea typeface="DejaVu Sans"/>
                          <a:cs typeface="DejaVu Sans"/>
                        </a:rPr>
                        <a:t>Échanger dans la Communauté</a:t>
                      </a:r>
                    </a:p>
                  </a:txBody>
                  <a:tcPr marL="91440" marR="91440" marT="45720" marB="45720">
                    <a:solidFill>
                      <a:srgbClr val="EEF1F8"/>
                    </a:solidFill>
                  </a:tcPr>
                </a:tc>
                <a:tc>
                  <a:txBody>
                    <a:bodyPr/>
                    <a:lstStyle/>
                    <a:p>
                      <a:r>
                        <a:rPr sz="1800" b="0">
                          <a:solidFill>
                            <a:srgbClr val="17264C"/>
                          </a:solidFill>
                          <a:latin typeface="DejaVu Sans"/>
                          <a:ea typeface="DejaVu Sans"/>
                          <a:cs typeface="DejaVu Sans"/>
                        </a:rPr>
                        <a:t>Suivre la présence et l’activité de l’équipe</a:t>
                      </a:r>
                    </a:p>
                  </a:txBody>
                  <a:tcPr marL="91440" marR="91440" marT="45720" marB="45720">
                    <a:solidFill>
                      <a:srgbClr val="EEF1F8"/>
                    </a:solidFill>
                  </a:tcPr>
                </a:tc>
              </a:tr>
            </a:tbl>
          </a:graphicData>
        </a:graphic>
      </p:graphicFrame>
      <p:sp>
        <p:nvSpPr>
          <p:cNvPr id="5" name="">
            <a:extLst xmlns:a="http://schemas.openxmlformats.org/drawingml/2006/main">
              <a:ext uri="{FF2B5EF4-FFF2-40B4-BE49-F238E27FC236}">
                <a16:creationId xmlns:a16="http://schemas.microsoft.com/office/drawing/2014/main" id="{1635352C-498A-4145-AEC6-1EA63360E26F}"/>
              </a:ext>
            </a:extLst>
          </p:cNvPr>
          <p:cNvSpPr>
            <a:spLocks xmlns:a="http://schemas.openxmlformats.org/drawingml/2006/main" noGrp="1"/>
          </p:cNvSpPr>
          <p:nvPr/>
        </p:nvSpPr>
        <p:spPr>
          <a:xfrm xmlns:a="http://schemas.openxmlformats.org/drawingml/2006/main">
            <a:off x="628650" y="58483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3708A"/>
                </a:solidFill>
                <a:latin typeface="DejaVu Sans"/>
                <a:ea typeface="DejaVu Sans"/>
                <a:cs typeface="DejaVu Sans"/>
              </a:defRPr>
            </a:pPr>
            <a:r>
              <a:rPr sz="1725" b="0">
                <a:solidFill>
                  <a:srgbClr val="63708A"/>
                </a:solidFill>
                <a:latin typeface="DejaVu Sans"/>
                <a:ea typeface="DejaVu Sans"/>
                <a:cs typeface="DejaVu Sans"/>
              </a:rPr>
              <a:t>L’identité du collaborateur provient de sa session Windows.</a:t>
            </a:r>
          </a:p>
        </p:txBody>
      </p:sp>
    </p:spTree>
    <p:extLst>
      <p:ext uri="{BB962C8B-B14F-4D97-AF65-F5344CB8AC3E}">
        <p14:creationId xmlns:p14="http://schemas.microsoft.com/office/powerpoint/2010/main" val="2102151875"/>
      </p:ext>
    </p:extLst>
  </p:cSld>
</p:sld>
</file>

<file path=ppt/slides/slide4.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369EAE-8B7A-4A93-96BA-CEA964C9A0E6}"/>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PÉRIMÈTRE MÉTIER</a:t>
            </a:r>
          </a:p>
        </p:txBody>
      </p:sp>
      <p:sp>
        <p:nvSpPr>
          <p:cNvPr id="2" name="">
            <a:extLst xmlns:a="http://schemas.openxmlformats.org/drawingml/2006/main">
              <a:ext uri="{FF2B5EF4-FFF2-40B4-BE49-F238E27FC236}">
                <a16:creationId xmlns:a16="http://schemas.microsoft.com/office/drawing/2014/main" id="{71B624F3-45CE-417A-83D5-0AB82B6474B2}"/>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Un cadre de saisie homogène</a:t>
            </a:r>
          </a:p>
        </p:txBody>
      </p:sp>
      <p:sp>
        <p:nvSpPr>
          <p:cNvPr id="3" name="">
            <a:extLst xmlns:a="http://schemas.openxmlformats.org/drawingml/2006/main">
              <a:ext uri="{FF2B5EF4-FFF2-40B4-BE49-F238E27FC236}">
                <a16:creationId xmlns:a16="http://schemas.microsoft.com/office/drawing/2014/main" id="{FD63F40D-907D-472C-87FB-794AA54134CD}"/>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04</a:t>
            </a:r>
          </a:p>
        </p:txBody>
      </p:sp>
      <p:sp>
        <p:nvSpPr>
          <p:cNvPr id="4" name="">
            <a:extLst xmlns:a="http://schemas.openxmlformats.org/drawingml/2006/main">
              <a:ext uri="{FF2B5EF4-FFF2-40B4-BE49-F238E27FC236}">
                <a16:creationId xmlns:a16="http://schemas.microsoft.com/office/drawing/2014/main" id="{F8CFEE6C-D130-4C4C-9F5B-93680C8EEBB3}"/>
              </a:ext>
            </a:extLst>
          </p:cNvPr>
          <p:cNvSpPr>
            <a:spLocks xmlns:a="http://schemas.openxmlformats.org/drawingml/2006/main" noGrp="1"/>
          </p:cNvSpPr>
          <p:nvPr/>
        </p:nvSpPr>
        <p:spPr>
          <a:xfrm xmlns:a="http://schemas.openxmlformats.org/drawingml/2006/main">
            <a:off x="609600" y="206692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3447A1"/>
                </a:solidFill>
                <a:latin typeface="DejaVu Sans"/>
                <a:ea typeface="DejaVu Sans"/>
                <a:cs typeface="DejaVu Sans"/>
              </a:defRPr>
            </a:pPr>
            <a:r>
              <a:rPr sz="6600" b="1">
                <a:solidFill>
                  <a:srgbClr val="3447A1"/>
                </a:solidFill>
                <a:latin typeface="DejaVu Sans"/>
                <a:ea typeface="DejaVu Sans"/>
                <a:cs typeface="DejaVu Sans"/>
              </a:rPr>
              <a:t>3</a:t>
            </a:r>
          </a:p>
        </p:txBody>
      </p:sp>
      <p:sp>
        <p:nvSpPr>
          <p:cNvPr id="5" name="">
            <a:extLst xmlns:a="http://schemas.openxmlformats.org/drawingml/2006/main">
              <a:ext uri="{FF2B5EF4-FFF2-40B4-BE49-F238E27FC236}">
                <a16:creationId xmlns:a16="http://schemas.microsoft.com/office/drawing/2014/main" id="{CBE9B51A-DD29-4E2D-BD95-70F1C3856B4D}"/>
              </a:ext>
            </a:extLst>
          </p:cNvPr>
          <p:cNvSpPr>
            <a:spLocks xmlns:a="http://schemas.openxmlformats.org/drawingml/2006/main" noGrp="1"/>
          </p:cNvSpPr>
          <p:nvPr/>
        </p:nvSpPr>
        <p:spPr>
          <a:xfrm xmlns:a="http://schemas.openxmlformats.org/drawingml/2006/main">
            <a:off x="609600" y="336232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1C42"/>
                </a:solidFill>
                <a:latin typeface="DejaVu Sans"/>
                <a:ea typeface="DejaVu Sans"/>
                <a:cs typeface="DejaVu Sans"/>
              </a:defRPr>
            </a:pPr>
            <a:r>
              <a:rPr sz="2025" b="1">
                <a:solidFill>
                  <a:srgbClr val="101C42"/>
                </a:solidFill>
                <a:latin typeface="DejaVu Sans"/>
                <a:ea typeface="DejaVu Sans"/>
                <a:cs typeface="DejaVu Sans"/>
              </a:rPr>
              <a:t>origines</a:t>
            </a:r>
          </a:p>
        </p:txBody>
      </p:sp>
      <p:sp>
        <p:nvSpPr>
          <p:cNvPr id="6" name="">
            <a:extLst xmlns:a="http://schemas.openxmlformats.org/drawingml/2006/main">
              <a:ext uri="{FF2B5EF4-FFF2-40B4-BE49-F238E27FC236}">
                <a16:creationId xmlns:a16="http://schemas.microsoft.com/office/drawing/2014/main" id="{2B8CD595-0062-485F-B756-71E2CC42F970}"/>
              </a:ext>
            </a:extLst>
          </p:cNvPr>
          <p:cNvSpPr>
            <a:spLocks xmlns:a="http://schemas.openxmlformats.org/drawingml/2006/main" noGrp="1"/>
          </p:cNvSpPr>
          <p:nvPr/>
        </p:nvSpPr>
        <p:spPr>
          <a:xfrm xmlns:a="http://schemas.openxmlformats.org/drawingml/2006/main">
            <a:off x="609600" y="4029075"/>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Front</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Back</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Web</a:t>
            </a:r>
          </a:p>
        </p:txBody>
      </p:sp>
      <p:sp>
        <p:nvSpPr>
          <p:cNvPr id="7" name="">
            <a:extLst xmlns:a="http://schemas.openxmlformats.org/drawingml/2006/main">
              <a:ext uri="{FF2B5EF4-FFF2-40B4-BE49-F238E27FC236}">
                <a16:creationId xmlns:a16="http://schemas.microsoft.com/office/drawing/2014/main" id="{98E77CF8-199A-4171-B4B6-1DE5C9BDC262}"/>
              </a:ext>
            </a:extLst>
          </p:cNvPr>
          <p:cNvSpPr>
            <a:spLocks xmlns:a="http://schemas.openxmlformats.org/drawingml/2006/main" noGrp="1"/>
          </p:cNvSpPr>
          <p:nvPr/>
        </p:nvSpPr>
        <p:spPr>
          <a:xfrm xmlns:a="http://schemas.openxmlformats.org/drawingml/2006/main">
            <a:off x="4410075" y="206692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3447A1"/>
                </a:solidFill>
                <a:latin typeface="DejaVu Sans"/>
                <a:ea typeface="DejaVu Sans"/>
                <a:cs typeface="DejaVu Sans"/>
              </a:defRPr>
            </a:pPr>
            <a:r>
              <a:rPr sz="6600" b="1">
                <a:solidFill>
                  <a:srgbClr val="3447A1"/>
                </a:solidFill>
                <a:latin typeface="DejaVu Sans"/>
                <a:ea typeface="DejaVu Sans"/>
                <a:cs typeface="DejaVu Sans"/>
              </a:rPr>
              <a:t>11</a:t>
            </a:r>
          </a:p>
        </p:txBody>
      </p:sp>
      <p:sp>
        <p:nvSpPr>
          <p:cNvPr id="8" name="">
            <a:extLst xmlns:a="http://schemas.openxmlformats.org/drawingml/2006/main">
              <a:ext uri="{FF2B5EF4-FFF2-40B4-BE49-F238E27FC236}">
                <a16:creationId xmlns:a16="http://schemas.microsoft.com/office/drawing/2014/main" id="{DE1BF7CD-FC39-4F19-91B5-182C9C2DB4A5}"/>
              </a:ext>
            </a:extLst>
          </p:cNvPr>
          <p:cNvSpPr>
            <a:spLocks xmlns:a="http://schemas.openxmlformats.org/drawingml/2006/main" noGrp="1"/>
          </p:cNvSpPr>
          <p:nvPr/>
        </p:nvSpPr>
        <p:spPr>
          <a:xfrm xmlns:a="http://schemas.openxmlformats.org/drawingml/2006/main">
            <a:off x="4410075" y="336232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1C42"/>
                </a:solidFill>
                <a:latin typeface="DejaVu Sans"/>
                <a:ea typeface="DejaVu Sans"/>
                <a:cs typeface="DejaVu Sans"/>
              </a:defRPr>
            </a:pPr>
            <a:r>
              <a:rPr sz="2025" b="1">
                <a:solidFill>
                  <a:srgbClr val="101C42"/>
                </a:solidFill>
                <a:latin typeface="DejaVu Sans"/>
                <a:ea typeface="DejaVu Sans"/>
                <a:cs typeface="DejaVu Sans"/>
              </a:rPr>
              <a:t>types de demande</a:t>
            </a:r>
          </a:p>
        </p:txBody>
      </p:sp>
      <p:sp>
        <p:nvSpPr>
          <p:cNvPr id="9" name="">
            <a:extLst xmlns:a="http://schemas.openxmlformats.org/drawingml/2006/main">
              <a:ext uri="{FF2B5EF4-FFF2-40B4-BE49-F238E27FC236}">
                <a16:creationId xmlns:a16="http://schemas.microsoft.com/office/drawing/2014/main" id="{8959DFF8-AC42-4D94-BF4D-596CF2DA1547}"/>
              </a:ext>
            </a:extLst>
          </p:cNvPr>
          <p:cNvSpPr>
            <a:spLocks xmlns:a="http://schemas.openxmlformats.org/drawingml/2006/main" noGrp="1"/>
          </p:cNvSpPr>
          <p:nvPr/>
        </p:nvSpPr>
        <p:spPr>
          <a:xfrm xmlns:a="http://schemas.openxmlformats.org/drawingml/2006/main">
            <a:off x="4410075" y="4029075"/>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Avis de décès</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Remerciements</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Hommage…</a:t>
            </a:r>
          </a:p>
        </p:txBody>
      </p:sp>
      <p:sp>
        <p:nvSpPr>
          <p:cNvPr id="10" name="">
            <a:extLst xmlns:a="http://schemas.openxmlformats.org/drawingml/2006/main">
              <a:ext uri="{FF2B5EF4-FFF2-40B4-BE49-F238E27FC236}">
                <a16:creationId xmlns:a16="http://schemas.microsoft.com/office/drawing/2014/main" id="{3191A575-F030-4B7B-B062-E324F27FEFD4}"/>
              </a:ext>
            </a:extLst>
          </p:cNvPr>
          <p:cNvSpPr>
            <a:spLocks xmlns:a="http://schemas.openxmlformats.org/drawingml/2006/main" noGrp="1"/>
          </p:cNvSpPr>
          <p:nvPr/>
        </p:nvSpPr>
        <p:spPr>
          <a:xfrm xmlns:a="http://schemas.openxmlformats.org/drawingml/2006/main">
            <a:off x="8210550" y="206692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3447A1"/>
                </a:solidFill>
                <a:latin typeface="DejaVu Sans"/>
                <a:ea typeface="DejaVu Sans"/>
                <a:cs typeface="DejaVu Sans"/>
              </a:defRPr>
            </a:pPr>
            <a:r>
              <a:rPr sz="6600" b="1">
                <a:solidFill>
                  <a:srgbClr val="3447A1"/>
                </a:solidFill>
                <a:latin typeface="DejaVu Sans"/>
                <a:ea typeface="DejaVu Sans"/>
                <a:cs typeface="DejaVu Sans"/>
              </a:rPr>
              <a:t>9</a:t>
            </a:r>
          </a:p>
        </p:txBody>
      </p:sp>
      <p:sp>
        <p:nvSpPr>
          <p:cNvPr id="11" name="">
            <a:extLst xmlns:a="http://schemas.openxmlformats.org/drawingml/2006/main">
              <a:ext uri="{FF2B5EF4-FFF2-40B4-BE49-F238E27FC236}">
                <a16:creationId xmlns:a16="http://schemas.microsoft.com/office/drawing/2014/main" id="{7CB2AA2E-3BA2-4684-8A84-B47FCDB72B54}"/>
              </a:ext>
            </a:extLst>
          </p:cNvPr>
          <p:cNvSpPr>
            <a:spLocks xmlns:a="http://schemas.openxmlformats.org/drawingml/2006/main" noGrp="1"/>
          </p:cNvSpPr>
          <p:nvPr/>
        </p:nvSpPr>
        <p:spPr>
          <a:xfrm xmlns:a="http://schemas.openxmlformats.org/drawingml/2006/main">
            <a:off x="8210550" y="336232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1C42"/>
                </a:solidFill>
                <a:latin typeface="DejaVu Sans"/>
                <a:ea typeface="DejaVu Sans"/>
                <a:cs typeface="DejaVu Sans"/>
              </a:defRPr>
            </a:pPr>
            <a:r>
              <a:rPr sz="2025" b="1">
                <a:solidFill>
                  <a:srgbClr val="101C42"/>
                </a:solidFill>
                <a:latin typeface="DejaVu Sans"/>
                <a:ea typeface="DejaVu Sans"/>
                <a:cs typeface="DejaVu Sans"/>
              </a:rPr>
              <a:t>titres de presse</a:t>
            </a:r>
          </a:p>
        </p:txBody>
      </p:sp>
      <p:sp>
        <p:nvSpPr>
          <p:cNvPr id="12" name="">
            <a:extLst xmlns:a="http://schemas.openxmlformats.org/drawingml/2006/main">
              <a:ext uri="{FF2B5EF4-FFF2-40B4-BE49-F238E27FC236}">
                <a16:creationId xmlns:a16="http://schemas.microsoft.com/office/drawing/2014/main" id="{836BF582-D6F9-4184-B393-E842F31C91E1}"/>
              </a:ext>
            </a:extLst>
          </p:cNvPr>
          <p:cNvSpPr>
            <a:spLocks xmlns:a="http://schemas.openxmlformats.org/drawingml/2006/main" noGrp="1"/>
          </p:cNvSpPr>
          <p:nvPr/>
        </p:nvSpPr>
        <p:spPr>
          <a:xfrm xmlns:a="http://schemas.openxmlformats.org/drawingml/2006/main">
            <a:off x="8210550" y="4029075"/>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DNA, ALS, LDL</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LER, LRL, VOM</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LPR, JSL, LBP</a:t>
            </a:r>
          </a:p>
        </p:txBody>
      </p:sp>
      <p:sp>
        <p:nvSpPr>
          <p:cNvPr id="13" name="">
            <a:extLst xmlns:a="http://schemas.openxmlformats.org/drawingml/2006/main">
              <a:ext uri="{FF2B5EF4-FFF2-40B4-BE49-F238E27FC236}">
                <a16:creationId xmlns:a16="http://schemas.microsoft.com/office/drawing/2014/main" id="{CE296939-52E7-4C58-B4CD-A00295EFE79E}"/>
              </a:ext>
            </a:extLst>
          </p:cNvPr>
          <p:cNvSpPr>
            <a:spLocks xmlns:a="http://schemas.openxmlformats.org/drawingml/2006/main" noGrp="1"/>
          </p:cNvSpPr>
          <p:nvPr/>
        </p:nvSpPr>
        <p:spPr>
          <a:xfrm xmlns:a="http://schemas.openxmlformats.org/drawingml/2006/main">
            <a:off x="628650" y="58197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3708A"/>
                </a:solidFill>
                <a:latin typeface="DejaVu Sans"/>
                <a:ea typeface="DejaVu Sans"/>
                <a:cs typeface="DejaVu Sans"/>
              </a:defRPr>
            </a:pPr>
            <a:r>
              <a:rPr sz="1650" b="0">
                <a:solidFill>
                  <a:srgbClr val="63708A"/>
                </a:solidFill>
                <a:latin typeface="DejaVu Sans"/>
                <a:ea typeface="DejaVu Sans"/>
                <a:cs typeface="DejaVu Sans"/>
              </a:rPr>
              <a:t>Références complémentaires : n° d’ordre, client, n° client et commentaire.</a:t>
            </a:r>
          </a:p>
        </p:txBody>
      </p:sp>
    </p:spTree>
    <p:extLst>
      <p:ext uri="{BB962C8B-B14F-4D97-AF65-F5344CB8AC3E}">
        <p14:creationId xmlns:p14="http://schemas.microsoft.com/office/powerpoint/2010/main" val="1412215016"/>
      </p:ext>
    </p:extLst>
  </p:cSld>
</p:sld>
</file>

<file path=ppt/slides/slide5.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3CD6BC8-796B-41BC-A56B-9F8584CB53C1}"/>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UTILISATION</a:t>
            </a:r>
          </a:p>
        </p:txBody>
      </p:sp>
      <p:sp>
        <p:nvSpPr>
          <p:cNvPr id="2" name="">
            <a:extLst xmlns:a="http://schemas.openxmlformats.org/drawingml/2006/main">
              <a:ext uri="{FF2B5EF4-FFF2-40B4-BE49-F238E27FC236}">
                <a16:creationId xmlns:a16="http://schemas.microsoft.com/office/drawing/2014/main" id="{B99ACF91-CE0F-49C6-81F3-146426AACD29}"/>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Le parcours collaborateur</a:t>
            </a:r>
          </a:p>
        </p:txBody>
      </p:sp>
      <p:sp>
        <p:nvSpPr>
          <p:cNvPr id="3" name="">
            <a:extLst xmlns:a="http://schemas.openxmlformats.org/drawingml/2006/main">
              <a:ext uri="{FF2B5EF4-FFF2-40B4-BE49-F238E27FC236}">
                <a16:creationId xmlns:a16="http://schemas.microsoft.com/office/drawing/2014/main" id="{71DD1CD1-63E8-4C2C-A3DF-4E5D8F00B51A}"/>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FD79373C-A688-4654-9908-16506DD4FF0A}"/>
              </a:ext>
            </a:extLst>
          </p:cNvPr>
          <p:cNvSpPr>
            <a:spLocks xmlns:a="http://schemas.openxmlformats.org/drawingml/2006/main" noGrp="1"/>
          </p:cNvSpPr>
          <p:nvPr/>
        </p:nvSpPr>
        <p:spPr>
          <a:xfrm xmlns:a="http://schemas.openxmlformats.org/drawingml/2006/main">
            <a:off x="609600" y="233362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3447A1"/>
                </a:solidFill>
                <a:latin typeface="DejaVu Sans"/>
                <a:ea typeface="DejaVu Sans"/>
                <a:cs typeface="DejaVu Sans"/>
              </a:defRPr>
            </a:pPr>
            <a:r>
              <a:rPr sz="5325" b="1">
                <a:solidFill>
                  <a:srgbClr val="3447A1"/>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B78E2687-70BB-4F59-B4CE-75398A466E88}"/>
              </a:ext>
            </a:extLst>
          </p:cNvPr>
          <p:cNvSpPr>
            <a:spLocks xmlns:a="http://schemas.openxmlformats.org/drawingml/2006/main" noGrp="1"/>
          </p:cNvSpPr>
          <p:nvPr/>
        </p:nvSpPr>
        <p:spPr>
          <a:xfrm xmlns:a="http://schemas.openxmlformats.org/drawingml/2006/main">
            <a:off x="609600" y="35718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C42"/>
                </a:solidFill>
                <a:latin typeface="DejaVu Sans"/>
                <a:ea typeface="DejaVu Sans"/>
                <a:cs typeface="DejaVu Sans"/>
              </a:defRPr>
            </a:pPr>
            <a:r>
              <a:rPr sz="2250" b="1">
                <a:solidFill>
                  <a:srgbClr val="101C42"/>
                </a:solidFill>
                <a:latin typeface="DejaVu Sans"/>
                <a:ea typeface="DejaVu Sans"/>
                <a:cs typeface="DejaVu Sans"/>
              </a:rPr>
              <a:t>Qualifier</a:t>
            </a:r>
          </a:p>
        </p:txBody>
      </p:sp>
      <p:sp>
        <p:nvSpPr>
          <p:cNvPr id="6" name="">
            <a:extLst xmlns:a="http://schemas.openxmlformats.org/drawingml/2006/main">
              <a:ext uri="{FF2B5EF4-FFF2-40B4-BE49-F238E27FC236}">
                <a16:creationId xmlns:a16="http://schemas.microsoft.com/office/drawing/2014/main" id="{D30AB704-0B6B-441D-9EDD-E6636A782042}"/>
              </a:ext>
            </a:extLst>
          </p:cNvPr>
          <p:cNvSpPr>
            <a:spLocks xmlns:a="http://schemas.openxmlformats.org/drawingml/2006/main" noGrp="1"/>
          </p:cNvSpPr>
          <p:nvPr/>
        </p:nvSpPr>
        <p:spPr>
          <a:xfrm xmlns:a="http://schemas.openxmlformats.org/drawingml/2006/main">
            <a:off x="609600" y="43243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Type, origine, titre</a:t>
            </a:r>
          </a:p>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et références client</a:t>
            </a:r>
          </a:p>
        </p:txBody>
      </p:sp>
      <p:sp>
        <p:nvSpPr>
          <p:cNvPr id="7" name="">
            <a:extLst xmlns:a="http://schemas.openxmlformats.org/drawingml/2006/main">
              <a:ext uri="{FF2B5EF4-FFF2-40B4-BE49-F238E27FC236}">
                <a16:creationId xmlns:a16="http://schemas.microsoft.com/office/drawing/2014/main" id="{9AA63773-31A2-4B3E-8402-F91B709E7DD6}"/>
              </a:ext>
            </a:extLst>
          </p:cNvPr>
          <p:cNvSpPr>
            <a:spLocks xmlns:a="http://schemas.openxmlformats.org/drawingml/2006/main" noGrp="1"/>
          </p:cNvSpPr>
          <p:nvPr/>
        </p:nvSpPr>
        <p:spPr>
          <a:xfrm xmlns:a="http://schemas.openxmlformats.org/drawingml/2006/main">
            <a:off x="3409950" y="233362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3447A1"/>
                </a:solidFill>
                <a:latin typeface="DejaVu Sans"/>
                <a:ea typeface="DejaVu Sans"/>
                <a:cs typeface="DejaVu Sans"/>
              </a:defRPr>
            </a:pPr>
            <a:r>
              <a:rPr sz="5325" b="1">
                <a:solidFill>
                  <a:srgbClr val="3447A1"/>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89E6F1DC-06EC-4FA5-B028-41D968CEDDDE}"/>
              </a:ext>
            </a:extLst>
          </p:cNvPr>
          <p:cNvSpPr>
            <a:spLocks xmlns:a="http://schemas.openxmlformats.org/drawingml/2006/main" noGrp="1"/>
          </p:cNvSpPr>
          <p:nvPr/>
        </p:nvSpPr>
        <p:spPr>
          <a:xfrm xmlns:a="http://schemas.openxmlformats.org/drawingml/2006/main">
            <a:off x="3409950" y="35718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C42"/>
                </a:solidFill>
                <a:latin typeface="DejaVu Sans"/>
                <a:ea typeface="DejaVu Sans"/>
                <a:cs typeface="DejaVu Sans"/>
              </a:defRPr>
            </a:pPr>
            <a:r>
              <a:rPr sz="2250" b="1">
                <a:solidFill>
                  <a:srgbClr val="101C42"/>
                </a:solidFill>
                <a:latin typeface="DejaVu Sans"/>
                <a:ea typeface="DejaVu Sans"/>
                <a:cs typeface="DejaVu Sans"/>
              </a:rPr>
              <a:t>Lancer</a:t>
            </a:r>
          </a:p>
        </p:txBody>
      </p:sp>
      <p:sp>
        <p:nvSpPr>
          <p:cNvPr id="9" name="">
            <a:extLst xmlns:a="http://schemas.openxmlformats.org/drawingml/2006/main">
              <a:ext uri="{FF2B5EF4-FFF2-40B4-BE49-F238E27FC236}">
                <a16:creationId xmlns:a16="http://schemas.microsoft.com/office/drawing/2014/main" id="{ACCDEA37-01CE-4490-84F3-12D7740A3D0C}"/>
              </a:ext>
            </a:extLst>
          </p:cNvPr>
          <p:cNvSpPr>
            <a:spLocks xmlns:a="http://schemas.openxmlformats.org/drawingml/2006/main" noGrp="1"/>
          </p:cNvSpPr>
          <p:nvPr/>
        </p:nvSpPr>
        <p:spPr>
          <a:xfrm xmlns:a="http://schemas.openxmlformats.org/drawingml/2006/main">
            <a:off x="3409950" y="43243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Début horodaté</a:t>
            </a:r>
          </a:p>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Agent identifié</a:t>
            </a:r>
          </a:p>
        </p:txBody>
      </p:sp>
      <p:sp>
        <p:nvSpPr>
          <p:cNvPr id="10" name="">
            <a:extLst xmlns:a="http://schemas.openxmlformats.org/drawingml/2006/main">
              <a:ext uri="{FF2B5EF4-FFF2-40B4-BE49-F238E27FC236}">
                <a16:creationId xmlns:a16="http://schemas.microsoft.com/office/drawing/2014/main" id="{AD14C87C-150D-4C7E-AAAC-F1709355CDAB}"/>
              </a:ext>
            </a:extLst>
          </p:cNvPr>
          <p:cNvSpPr>
            <a:spLocks xmlns:a="http://schemas.openxmlformats.org/drawingml/2006/main" noGrp="1"/>
          </p:cNvSpPr>
          <p:nvPr/>
        </p:nvSpPr>
        <p:spPr>
          <a:xfrm xmlns:a="http://schemas.openxmlformats.org/drawingml/2006/main">
            <a:off x="6210300" y="233362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3447A1"/>
                </a:solidFill>
                <a:latin typeface="DejaVu Sans"/>
                <a:ea typeface="DejaVu Sans"/>
                <a:cs typeface="DejaVu Sans"/>
              </a:defRPr>
            </a:pPr>
            <a:r>
              <a:rPr sz="5325" b="1">
                <a:solidFill>
                  <a:srgbClr val="3447A1"/>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C6A85958-10E8-4F81-A439-E6EEB6DB3F26}"/>
              </a:ext>
            </a:extLst>
          </p:cNvPr>
          <p:cNvSpPr>
            <a:spLocks xmlns:a="http://schemas.openxmlformats.org/drawingml/2006/main" noGrp="1"/>
          </p:cNvSpPr>
          <p:nvPr/>
        </p:nvSpPr>
        <p:spPr>
          <a:xfrm xmlns:a="http://schemas.openxmlformats.org/drawingml/2006/main">
            <a:off x="6210300" y="35718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C42"/>
                </a:solidFill>
                <a:latin typeface="DejaVu Sans"/>
                <a:ea typeface="DejaVu Sans"/>
                <a:cs typeface="DejaVu Sans"/>
              </a:defRPr>
            </a:pPr>
            <a:r>
              <a:rPr sz="2250" b="1">
                <a:solidFill>
                  <a:srgbClr val="101C42"/>
                </a:solidFill>
                <a:latin typeface="DejaVu Sans"/>
                <a:ea typeface="DejaVu Sans"/>
                <a:cs typeface="DejaVu Sans"/>
              </a:rPr>
              <a:t>Traiter</a:t>
            </a:r>
          </a:p>
        </p:txBody>
      </p:sp>
      <p:sp>
        <p:nvSpPr>
          <p:cNvPr id="12" name="">
            <a:extLst xmlns:a="http://schemas.openxmlformats.org/drawingml/2006/main">
              <a:ext uri="{FF2B5EF4-FFF2-40B4-BE49-F238E27FC236}">
                <a16:creationId xmlns:a16="http://schemas.microsoft.com/office/drawing/2014/main" id="{467C3C5B-7174-48C9-9396-4B2EE85EB14A}"/>
              </a:ext>
            </a:extLst>
          </p:cNvPr>
          <p:cNvSpPr>
            <a:spLocks xmlns:a="http://schemas.openxmlformats.org/drawingml/2006/main" noGrp="1"/>
          </p:cNvSpPr>
          <p:nvPr/>
        </p:nvSpPr>
        <p:spPr>
          <a:xfrm xmlns:a="http://schemas.openxmlformats.org/drawingml/2006/main">
            <a:off x="6210300" y="43243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Intervention métier</a:t>
            </a:r>
          </a:p>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et suivi de la durée</a:t>
            </a:r>
          </a:p>
        </p:txBody>
      </p:sp>
      <p:sp>
        <p:nvSpPr>
          <p:cNvPr id="13" name="">
            <a:extLst xmlns:a="http://schemas.openxmlformats.org/drawingml/2006/main">
              <a:ext uri="{FF2B5EF4-FFF2-40B4-BE49-F238E27FC236}">
                <a16:creationId xmlns:a16="http://schemas.microsoft.com/office/drawing/2014/main" id="{A4E547BB-C227-4FCF-865C-B35D0756654E}"/>
              </a:ext>
            </a:extLst>
          </p:cNvPr>
          <p:cNvSpPr>
            <a:spLocks xmlns:a="http://schemas.openxmlformats.org/drawingml/2006/main" noGrp="1"/>
          </p:cNvSpPr>
          <p:nvPr/>
        </p:nvSpPr>
        <p:spPr>
          <a:xfrm xmlns:a="http://schemas.openxmlformats.org/drawingml/2006/main">
            <a:off x="9010650" y="233362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C3377B"/>
                </a:solidFill>
                <a:latin typeface="DejaVu Sans"/>
                <a:ea typeface="DejaVu Sans"/>
                <a:cs typeface="DejaVu Sans"/>
              </a:defRPr>
            </a:pPr>
            <a:r>
              <a:rPr sz="5325" b="1">
                <a:solidFill>
                  <a:srgbClr val="C3377B"/>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34BDF652-F92C-4F29-8CD9-68B97DD8B681}"/>
              </a:ext>
            </a:extLst>
          </p:cNvPr>
          <p:cNvSpPr>
            <a:spLocks xmlns:a="http://schemas.openxmlformats.org/drawingml/2006/main" noGrp="1"/>
          </p:cNvSpPr>
          <p:nvPr/>
        </p:nvSpPr>
        <p:spPr>
          <a:xfrm xmlns:a="http://schemas.openxmlformats.org/drawingml/2006/main">
            <a:off x="9010650" y="35718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C42"/>
                </a:solidFill>
                <a:latin typeface="DejaVu Sans"/>
                <a:ea typeface="DejaVu Sans"/>
                <a:cs typeface="DejaVu Sans"/>
              </a:defRPr>
            </a:pPr>
            <a:r>
              <a:rPr sz="2250" b="1">
                <a:solidFill>
                  <a:srgbClr val="101C42"/>
                </a:solidFill>
                <a:latin typeface="DejaVu Sans"/>
                <a:ea typeface="DejaVu Sans"/>
                <a:cs typeface="DejaVu Sans"/>
              </a:rPr>
              <a:t>Clôturer</a:t>
            </a:r>
          </a:p>
        </p:txBody>
      </p:sp>
      <p:sp>
        <p:nvSpPr>
          <p:cNvPr id="15" name="">
            <a:extLst xmlns:a="http://schemas.openxmlformats.org/drawingml/2006/main">
              <a:ext uri="{FF2B5EF4-FFF2-40B4-BE49-F238E27FC236}">
                <a16:creationId xmlns:a16="http://schemas.microsoft.com/office/drawing/2014/main" id="{DA5F5D3D-BA43-4D54-9A52-9179E32F4ABE}"/>
              </a:ext>
            </a:extLst>
          </p:cNvPr>
          <p:cNvSpPr>
            <a:spLocks xmlns:a="http://schemas.openxmlformats.org/drawingml/2006/main" noGrp="1"/>
          </p:cNvSpPr>
          <p:nvPr/>
        </p:nvSpPr>
        <p:spPr>
          <a:xfrm xmlns:a="http://schemas.openxmlformats.org/drawingml/2006/main">
            <a:off x="9010650" y="43243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Commentaire final</a:t>
            </a:r>
          </a:p>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Fin horodatée</a:t>
            </a:r>
          </a:p>
        </p:txBody>
      </p:sp>
      <p:sp>
        <p:nvSpPr>
          <p:cNvPr id="16" name="">
            <a:extLst xmlns:a="http://schemas.openxmlformats.org/drawingml/2006/main">
              <a:ext uri="{FF2B5EF4-FFF2-40B4-BE49-F238E27FC236}">
                <a16:creationId xmlns:a16="http://schemas.microsoft.com/office/drawing/2014/main" id="{14E603E4-6424-46C9-A832-9534163780EC}"/>
              </a:ext>
            </a:extLst>
          </p:cNvPr>
          <p:cNvSpPr>
            <a:spLocks xmlns:a="http://schemas.openxmlformats.org/drawingml/2006/main" noGrp="1"/>
          </p:cNvSpPr>
          <p:nvPr/>
        </p:nvSpPr>
        <p:spPr>
          <a:xfrm xmlns:a="http://schemas.openxmlformats.org/drawingml/2006/main">
            <a:off x="628650" y="59150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3708A"/>
                </a:solidFill>
                <a:latin typeface="DejaVu Sans"/>
                <a:ea typeface="DejaVu Sans"/>
                <a:cs typeface="DejaVu Sans"/>
              </a:defRPr>
            </a:pPr>
            <a:r>
              <a:rPr sz="1650" b="0">
                <a:solidFill>
                  <a:srgbClr val="63708A"/>
                </a:solidFill>
                <a:latin typeface="DejaVu Sans"/>
                <a:ea typeface="DejaVu Sans"/>
                <a:cs typeface="DejaVu Sans"/>
              </a:rPr>
              <a:t>Le traitement en cours reste enregistré si le navigateur se ferme.</a:t>
            </a:r>
          </a:p>
        </p:txBody>
      </p:sp>
    </p:spTree>
    <p:extLst>
      <p:ext uri="{BB962C8B-B14F-4D97-AF65-F5344CB8AC3E}">
        <p14:creationId xmlns:p14="http://schemas.microsoft.com/office/powerpoint/2010/main" val="1671869588"/>
      </p:ext>
    </p:extLst>
  </p:cSld>
</p:sld>
</file>

<file path=ppt/slides/slide6.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68A088-9C13-4C28-BC5C-E0279BAB3FFF}"/>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MESSAGERIE</a:t>
            </a:r>
          </a:p>
        </p:txBody>
      </p:sp>
      <p:sp>
        <p:nvSpPr>
          <p:cNvPr id="2" name="">
            <a:extLst xmlns:a="http://schemas.openxmlformats.org/drawingml/2006/main">
              <a:ext uri="{FF2B5EF4-FFF2-40B4-BE49-F238E27FC236}">
                <a16:creationId xmlns:a16="http://schemas.microsoft.com/office/drawing/2014/main" id="{F2D94D11-0052-4FA3-B3C1-912A78563A4E}"/>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Outlook dans le parcours de traitement</a:t>
            </a:r>
          </a:p>
        </p:txBody>
      </p:sp>
      <p:sp>
        <p:nvSpPr>
          <p:cNvPr id="3" name="">
            <a:extLst xmlns:a="http://schemas.openxmlformats.org/drawingml/2006/main">
              <a:ext uri="{FF2B5EF4-FFF2-40B4-BE49-F238E27FC236}">
                <a16:creationId xmlns:a16="http://schemas.microsoft.com/office/drawing/2014/main" id="{68E30C3D-582E-4333-83A3-E7F8CFF15100}"/>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BFD969D4-51EC-4D86-AE40-40F3A2968CC5}"/>
              </a:ext>
            </a:extLst>
          </p:cNvPr>
          <p:cNvSpPr>
            <a:spLocks xmlns:a="http://schemas.openxmlformats.org/drawingml/2006/main" noGrp="1"/>
          </p:cNvSpPr>
          <p:nvPr/>
        </p:nvSpPr>
        <p:spPr>
          <a:xfrm xmlns:a="http://schemas.openxmlformats.org/drawingml/2006/main">
            <a:off x="609600" y="220980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1C42"/>
                </a:solidFill>
                <a:latin typeface="DejaVu Sans"/>
                <a:ea typeface="DejaVu Sans"/>
                <a:cs typeface="DejaVu Sans"/>
              </a:defRPr>
            </a:pPr>
            <a:r>
              <a:rPr sz="3300" b="1">
                <a:solidFill>
                  <a:srgbClr val="101C42"/>
                </a:solidFill>
                <a:latin typeface="DejaVu Sans"/>
                <a:ea typeface="DejaVu Sans"/>
                <a:cs typeface="DejaVu Sans"/>
              </a:rPr>
              <a:t>Une demande</a:t>
            </a:r>
          </a:p>
          <a:p xmlns:a="http://schemas.openxmlformats.org/drawingml/2006/main">
            <a:pPr>
              <a:defRPr sz="3300" b="1">
                <a:solidFill>
                  <a:srgbClr val="101C42"/>
                </a:solidFill>
                <a:latin typeface="DejaVu Sans"/>
                <a:ea typeface="DejaVu Sans"/>
                <a:cs typeface="DejaVu Sans"/>
              </a:defRPr>
            </a:pPr>
            <a:r>
              <a:rPr sz="3300" b="1">
                <a:solidFill>
                  <a:srgbClr val="101C42"/>
                </a:solidFill>
                <a:latin typeface="DejaVu Sans"/>
                <a:ea typeface="DejaVu Sans"/>
                <a:cs typeface="DejaVu Sans"/>
              </a:rPr>
              <a:t>réservée à un agent</a:t>
            </a:r>
          </a:p>
        </p:txBody>
      </p:sp>
      <p:sp>
        <p:nvSpPr>
          <p:cNvPr id="5" name="">
            <a:extLst xmlns:a="http://schemas.openxmlformats.org/drawingml/2006/main">
              <a:ext uri="{FF2B5EF4-FFF2-40B4-BE49-F238E27FC236}">
                <a16:creationId xmlns:a16="http://schemas.microsoft.com/office/drawing/2014/main" id="{7A2AA3A3-F26F-4AFC-A4E5-208080681212}"/>
              </a:ext>
            </a:extLst>
          </p:cNvPr>
          <p:cNvSpPr>
            <a:spLocks xmlns:a="http://schemas.openxmlformats.org/drawingml/2006/main" noGrp="1"/>
          </p:cNvSpPr>
          <p:nvPr/>
        </p:nvSpPr>
        <p:spPr>
          <a:xfrm xmlns:a="http://schemas.openxmlformats.org/drawingml/2006/main">
            <a:off x="647700" y="42005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64C"/>
                </a:solidFill>
                <a:latin typeface="DejaVu Sans"/>
                <a:ea typeface="DejaVu Sans"/>
                <a:cs typeface="DejaVu Sans"/>
              </a:defRPr>
            </a:pPr>
            <a:r>
              <a:rPr sz="2100" b="0">
                <a:solidFill>
                  <a:srgbClr val="17264C"/>
                </a:solidFill>
                <a:latin typeface="DejaVu Sans"/>
                <a:ea typeface="DejaVu Sans"/>
                <a:cs typeface="DejaVu Sans"/>
              </a:rPr>
              <a:t>« Prendre en charge » crée le traitement et empêche une seconde réservation simultanée.</a:t>
            </a:r>
          </a:p>
        </p:txBody>
      </p:sp>
      <p:sp>
        <p:nvSpPr>
          <p:cNvPr id="6" name="">
            <a:extLst xmlns:a="http://schemas.openxmlformats.org/drawingml/2006/main">
              <a:ext uri="{FF2B5EF4-FFF2-40B4-BE49-F238E27FC236}">
                <a16:creationId xmlns:a16="http://schemas.microsoft.com/office/drawing/2014/main" id="{F46BCAF7-B886-44C3-80ED-1E7D25F68A08}"/>
              </a:ext>
            </a:extLst>
          </p:cNvPr>
          <p:cNvSpPr>
            <a:spLocks xmlns:a="http://schemas.openxmlformats.org/drawingml/2006/main" noGrp="1"/>
          </p:cNvSpPr>
          <p:nvPr/>
        </p:nvSpPr>
        <p:spPr>
          <a:xfrm xmlns:a="http://schemas.openxmlformats.org/drawingml/2006/main">
            <a:off x="6743700" y="21431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47A1"/>
                </a:solidFill>
                <a:latin typeface="DejaVu Sans"/>
                <a:ea typeface="DejaVu Sans"/>
                <a:cs typeface="DejaVu Sans"/>
              </a:defRPr>
            </a:pPr>
            <a:r>
              <a:rPr sz="2175" b="1">
                <a:solidFill>
                  <a:srgbClr val="3447A1"/>
                </a:solidFill>
                <a:latin typeface="DejaVu Sans"/>
                <a:ea typeface="DejaVu Sans"/>
                <a:cs typeface="DejaVu Sans"/>
              </a:rPr>
              <a:t>Consulter et répondre</a:t>
            </a:r>
          </a:p>
        </p:txBody>
      </p:sp>
      <p:sp>
        <p:nvSpPr>
          <p:cNvPr id="7" name="">
            <a:extLst xmlns:a="http://schemas.openxmlformats.org/drawingml/2006/main">
              <a:ext uri="{FF2B5EF4-FFF2-40B4-BE49-F238E27FC236}">
                <a16:creationId xmlns:a16="http://schemas.microsoft.com/office/drawing/2014/main" id="{93FD7C3E-C792-4D7E-88E2-5AC8FFE3B36B}"/>
              </a:ext>
            </a:extLst>
          </p:cNvPr>
          <p:cNvSpPr>
            <a:spLocks xmlns:a="http://schemas.openxmlformats.org/drawingml/2006/main" noGrp="1"/>
          </p:cNvSpPr>
          <p:nvPr/>
        </p:nvSpPr>
        <p:spPr>
          <a:xfrm xmlns:a="http://schemas.openxmlformats.org/drawingml/2006/main">
            <a:off x="6743700" y="27336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64C"/>
                </a:solidFill>
                <a:latin typeface="DejaVu Sans"/>
                <a:ea typeface="DejaVu Sans"/>
                <a:cs typeface="DejaVu Sans"/>
              </a:defRPr>
            </a:pPr>
            <a:r>
              <a:rPr sz="1875" b="0">
                <a:solidFill>
                  <a:srgbClr val="17264C"/>
                </a:solidFill>
                <a:latin typeface="DejaVu Sans"/>
                <a:ea typeface="DejaVu Sans"/>
                <a:cs typeface="DejaVu Sans"/>
              </a:rPr>
              <a:t>Ouvrir l’e-mail, les pièces jointes et les fenêtres de réponse ou de transfert.</a:t>
            </a:r>
          </a:p>
        </p:txBody>
      </p:sp>
      <p:sp>
        <p:nvSpPr>
          <p:cNvPr id="8" name="">
            <a:extLst xmlns:a="http://schemas.openxmlformats.org/drawingml/2006/main">
              <a:ext uri="{FF2B5EF4-FFF2-40B4-BE49-F238E27FC236}">
                <a16:creationId xmlns:a16="http://schemas.microsoft.com/office/drawing/2014/main" id="{3C1528B4-15A4-4F21-813D-968C96DB5E7D}"/>
              </a:ext>
            </a:extLst>
          </p:cNvPr>
          <p:cNvSpPr>
            <a:spLocks xmlns:a="http://schemas.openxmlformats.org/drawingml/2006/main" noGrp="1"/>
          </p:cNvSpPr>
          <p:nvPr/>
        </p:nvSpPr>
        <p:spPr>
          <a:xfrm xmlns:a="http://schemas.openxmlformats.org/drawingml/2006/main">
            <a:off x="6743700" y="41338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47A1"/>
                </a:solidFill>
                <a:latin typeface="DejaVu Sans"/>
                <a:ea typeface="DejaVu Sans"/>
                <a:cs typeface="DejaVu Sans"/>
              </a:defRPr>
            </a:pPr>
            <a:r>
              <a:rPr sz="2175" b="1">
                <a:solidFill>
                  <a:srgbClr val="3447A1"/>
                </a:solidFill>
                <a:latin typeface="DejaVu Sans"/>
                <a:ea typeface="DejaVu Sans"/>
                <a:cs typeface="DejaVu Sans"/>
              </a:rPr>
              <a:t>Terminer ou libérer</a:t>
            </a:r>
          </a:p>
        </p:txBody>
      </p:sp>
      <p:sp>
        <p:nvSpPr>
          <p:cNvPr id="9" name="">
            <a:extLst xmlns:a="http://schemas.openxmlformats.org/drawingml/2006/main">
              <a:ext uri="{FF2B5EF4-FFF2-40B4-BE49-F238E27FC236}">
                <a16:creationId xmlns:a16="http://schemas.microsoft.com/office/drawing/2014/main" id="{B8D6A463-5547-4A4F-BD7D-CD6D27A748D9}"/>
              </a:ext>
            </a:extLst>
          </p:cNvPr>
          <p:cNvSpPr>
            <a:spLocks xmlns:a="http://schemas.openxmlformats.org/drawingml/2006/main" noGrp="1"/>
          </p:cNvSpPr>
          <p:nvPr/>
        </p:nvSpPr>
        <p:spPr>
          <a:xfrm xmlns:a="http://schemas.openxmlformats.org/drawingml/2006/main">
            <a:off x="6743700" y="47244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64C"/>
                </a:solidFill>
                <a:latin typeface="DejaVu Sans"/>
                <a:ea typeface="DejaVu Sans"/>
                <a:cs typeface="DejaVu Sans"/>
              </a:defRPr>
            </a:pPr>
            <a:r>
              <a:rPr sz="1875" b="0">
                <a:solidFill>
                  <a:srgbClr val="17264C"/>
                </a:solidFill>
                <a:latin typeface="DejaVu Sans"/>
                <a:ea typeface="DejaVu Sans"/>
                <a:cs typeface="DejaVu Sans"/>
              </a:rPr>
              <a:t>La clôture range le mail dans le dossier prévu. La libération le rend disponible.</a:t>
            </a:r>
          </a:p>
        </p:txBody>
      </p:sp>
    </p:spTree>
    <p:extLst>
      <p:ext uri="{BB962C8B-B14F-4D97-AF65-F5344CB8AC3E}">
        <p14:creationId xmlns:p14="http://schemas.microsoft.com/office/powerpoint/2010/main" val="1528267224"/>
      </p:ext>
    </p:extLst>
  </p:cSld>
</p:sld>
</file>

<file path=ppt/slides/slide7.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660F7C-5A28-420E-AA53-0D5259B9E41D}"/>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PILOTAGE</a:t>
            </a:r>
          </a:p>
        </p:txBody>
      </p:sp>
      <p:sp>
        <p:nvSpPr>
          <p:cNvPr id="2" name="">
            <a:extLst xmlns:a="http://schemas.openxmlformats.org/drawingml/2006/main">
              <a:ext uri="{FF2B5EF4-FFF2-40B4-BE49-F238E27FC236}">
                <a16:creationId xmlns:a16="http://schemas.microsoft.com/office/drawing/2014/main" id="{034071D1-0239-41D4-A7B5-BB8DC08BE763}"/>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Les repères de pilotage du Manager</a:t>
            </a:r>
          </a:p>
        </p:txBody>
      </p:sp>
      <p:sp>
        <p:nvSpPr>
          <p:cNvPr id="3" name="">
            <a:extLst xmlns:a="http://schemas.openxmlformats.org/drawingml/2006/main">
              <a:ext uri="{FF2B5EF4-FFF2-40B4-BE49-F238E27FC236}">
                <a16:creationId xmlns:a16="http://schemas.microsoft.com/office/drawing/2014/main" id="{D151C41D-D565-4163-BBBA-7A3916D3D1A4}"/>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07</a:t>
            </a:r>
          </a:p>
        </p:txBody>
      </p:sp>
      <p:graphicFrame>
        <p:nvGraphicFramePr>
          <p:cNvPr id="9" name=""/>
          <p:cNvGraphicFramePr/>
          <p:nvPr/>
        </p:nvGraphicFramePr>
        <p:xfrm>
          <a:off xmlns:a="http://schemas.openxmlformats.org/drawingml/2006/main" x="609600" y="2209800"/>
          <a:ext xmlns:a="http://schemas.openxmlformats.org/drawingml/2006/main" cx="10972800" cy="3048000"/>
        </p:xfrm>
        <a:graphic xmlns:a="http://schemas.openxmlformats.org/drawingml/2006/main">
          <a:graphicData uri="http://schemas.openxmlformats.org/drawingml/2006/table">
            <a:tbl>
              <a:tblPr/>
              <a:tblGrid>
                <a:gridCol w="3429000"/>
                <a:gridCol w="7543800"/>
              </a:tblGrid>
              <a:tr h="609600">
                <a:tc>
                  <a:txBody>
                    <a:bodyPr/>
                    <a:lstStyle/>
                    <a:p>
                      <a:r>
                        <a:rPr sz="1725" b="1">
                          <a:solidFill>
                            <a:srgbClr val="FFFFFF"/>
                          </a:solidFill>
                          <a:latin typeface="DejaVu Sans"/>
                          <a:ea typeface="DejaVu Sans"/>
                          <a:cs typeface="DejaVu Sans"/>
                        </a:rPr>
                        <a:t>Repère</a:t>
                      </a:r>
                    </a:p>
                  </a:txBody>
                  <a:tcPr marL="91440" marR="91440" marT="45720" marB="45720">
                    <a:solidFill>
                      <a:srgbClr val="101C42"/>
                    </a:solidFill>
                  </a:tcPr>
                </a:tc>
                <a:tc>
                  <a:txBody>
                    <a:bodyPr/>
                    <a:lstStyle/>
                    <a:p>
                      <a:r>
                        <a:rPr sz="1725" b="1">
                          <a:solidFill>
                            <a:srgbClr val="FFFFFF"/>
                          </a:solidFill>
                          <a:latin typeface="DejaVu Sans"/>
                          <a:ea typeface="DejaVu Sans"/>
                          <a:cs typeface="DejaVu Sans"/>
                        </a:rPr>
                        <a:t>Lecture opérationnelle</a:t>
                      </a:r>
                    </a:p>
                  </a:txBody>
                  <a:tcPr marL="91440" marR="91440" marT="45720" marB="45720">
                    <a:solidFill>
                      <a:srgbClr val="101C42"/>
                    </a:solidFill>
                  </a:tcPr>
                </a:tc>
              </a:tr>
              <a:tr h="609600">
                <a:tc>
                  <a:txBody>
                    <a:bodyPr/>
                    <a:lstStyle/>
                    <a:p>
                      <a:r>
                        <a:rPr sz="1725" b="0">
                          <a:solidFill>
                            <a:srgbClr val="17264C"/>
                          </a:solidFill>
                          <a:latin typeface="DejaVu Sans"/>
                          <a:ea typeface="DejaVu Sans"/>
                          <a:cs typeface="DejaVu Sans"/>
                        </a:rPr>
                        <a:t>Volume de traitements</a:t>
                      </a:r>
                    </a:p>
                  </a:txBody>
                  <a:tcPr marL="91440" marR="91440" marT="45720" marB="45720">
                    <a:solidFill>
                      <a:srgbClr val="FFFFFF"/>
                    </a:solidFill>
                  </a:tcPr>
                </a:tc>
                <a:tc>
                  <a:txBody>
                    <a:bodyPr/>
                    <a:lstStyle/>
                    <a:p>
                      <a:r>
                        <a:rPr sz="1725" b="0">
                          <a:solidFill>
                            <a:srgbClr val="17264C"/>
                          </a:solidFill>
                          <a:latin typeface="DejaVu Sans"/>
                          <a:ea typeface="DejaVu Sans"/>
                          <a:cs typeface="DejaVu Sans"/>
                        </a:rPr>
                        <a:t>Évaluer l’activité enregistrée sur la sélection</a:t>
                      </a:r>
                    </a:p>
                  </a:txBody>
                  <a:tcPr marL="91440" marR="91440" marT="45720" marB="45720">
                    <a:solidFill>
                      <a:srgbClr val="FFFFFF"/>
                    </a:solidFill>
                  </a:tcPr>
                </a:tc>
              </a:tr>
              <a:tr h="609600">
                <a:tc>
                  <a:txBody>
                    <a:bodyPr/>
                    <a:lstStyle/>
                    <a:p>
                      <a:r>
                        <a:rPr sz="1725" b="0">
                          <a:solidFill>
                            <a:srgbClr val="17264C"/>
                          </a:solidFill>
                          <a:latin typeface="DejaVu Sans"/>
                          <a:ea typeface="DejaVu Sans"/>
                          <a:cs typeface="DejaVu Sans"/>
                        </a:rPr>
                        <a:t>En cours et terminés</a:t>
                      </a:r>
                    </a:p>
                  </a:txBody>
                  <a:tcPr marL="91440" marR="91440" marT="45720" marB="45720">
                    <a:solidFill>
                      <a:srgbClr val="EEF1F8"/>
                    </a:solidFill>
                  </a:tcPr>
                </a:tc>
                <a:tc>
                  <a:txBody>
                    <a:bodyPr/>
                    <a:lstStyle/>
                    <a:p>
                      <a:r>
                        <a:rPr sz="1725" b="0">
                          <a:solidFill>
                            <a:srgbClr val="17264C"/>
                          </a:solidFill>
                          <a:latin typeface="DejaVu Sans"/>
                          <a:ea typeface="DejaVu Sans"/>
                          <a:cs typeface="DejaVu Sans"/>
                        </a:rPr>
                        <a:t>Repérer les interventions encore ouvertes</a:t>
                      </a:r>
                    </a:p>
                  </a:txBody>
                  <a:tcPr marL="91440" marR="91440" marT="45720" marB="45720">
                    <a:solidFill>
                      <a:srgbClr val="EEF1F8"/>
                    </a:solidFill>
                  </a:tcPr>
                </a:tc>
              </a:tr>
              <a:tr h="609600">
                <a:tc>
                  <a:txBody>
                    <a:bodyPr/>
                    <a:lstStyle/>
                    <a:p>
                      <a:r>
                        <a:rPr sz="1725" b="0">
                          <a:solidFill>
                            <a:srgbClr val="17264C"/>
                          </a:solidFill>
                          <a:latin typeface="DejaVu Sans"/>
                          <a:ea typeface="DejaVu Sans"/>
                          <a:cs typeface="DejaVu Sans"/>
                        </a:rPr>
                        <a:t>DMT moyenne</a:t>
                      </a:r>
                    </a:p>
                  </a:txBody>
                  <a:tcPr marL="91440" marR="91440" marT="45720" marB="45720">
                    <a:solidFill>
                      <a:srgbClr val="FFFFFF"/>
                    </a:solidFill>
                  </a:tcPr>
                </a:tc>
                <a:tc>
                  <a:txBody>
                    <a:bodyPr/>
                    <a:lstStyle/>
                    <a:p>
                      <a:r>
                        <a:rPr sz="1725" b="0">
                          <a:solidFill>
                            <a:srgbClr val="17264C"/>
                          </a:solidFill>
                          <a:latin typeface="DejaVu Sans"/>
                          <a:ea typeface="DejaVu Sans"/>
                          <a:cs typeface="DejaVu Sans"/>
                        </a:rPr>
                        <a:t>Examiner les durées des traitements terminés</a:t>
                      </a:r>
                    </a:p>
                  </a:txBody>
                  <a:tcPr marL="91440" marR="91440" marT="45720" marB="45720">
                    <a:solidFill>
                      <a:srgbClr val="FFFFFF"/>
                    </a:solidFill>
                  </a:tcPr>
                </a:tc>
              </a:tr>
              <a:tr h="609600">
                <a:tc>
                  <a:txBody>
                    <a:bodyPr/>
                    <a:lstStyle/>
                    <a:p>
                      <a:r>
                        <a:rPr sz="1725" b="0">
                          <a:solidFill>
                            <a:srgbClr val="17264C"/>
                          </a:solidFill>
                          <a:latin typeface="DejaVu Sans"/>
                          <a:ea typeface="DejaVu Sans"/>
                          <a:cs typeface="DejaVu Sans"/>
                        </a:rPr>
                        <a:t>Répartition de l’activité</a:t>
                      </a:r>
                    </a:p>
                  </a:txBody>
                  <a:tcPr marL="91440" marR="91440" marT="45720" marB="45720">
                    <a:solidFill>
                      <a:srgbClr val="EEF1F8"/>
                    </a:solidFill>
                  </a:tcPr>
                </a:tc>
                <a:tc>
                  <a:txBody>
                    <a:bodyPr/>
                    <a:lstStyle/>
                    <a:p>
                      <a:r>
                        <a:rPr sz="1725" b="0">
                          <a:solidFill>
                            <a:srgbClr val="17264C"/>
                          </a:solidFill>
                          <a:latin typeface="DejaVu Sans"/>
                          <a:ea typeface="DejaVu Sans"/>
                          <a:cs typeface="DejaVu Sans"/>
                        </a:rPr>
                        <a:t>Comparer les origines, les agents et les titres</a:t>
                      </a:r>
                    </a:p>
                  </a:txBody>
                  <a:tcPr marL="91440" marR="91440" marT="45720" marB="45720">
                    <a:solidFill>
                      <a:srgbClr val="EEF1F8"/>
                    </a:solidFill>
                  </a:tcPr>
                </a:tc>
              </a:tr>
            </a:tbl>
          </a:graphicData>
        </a:graphic>
      </p:graphicFrame>
      <p:sp>
        <p:nvSpPr>
          <p:cNvPr id="5" name="">
            <a:extLst xmlns:a="http://schemas.openxmlformats.org/drawingml/2006/main">
              <a:ext uri="{FF2B5EF4-FFF2-40B4-BE49-F238E27FC236}">
                <a16:creationId xmlns:a16="http://schemas.microsoft.com/office/drawing/2014/main" id="{A437481B-EAB6-49CE-B7A1-CCE77090EEAC}"/>
              </a:ext>
            </a:extLst>
          </p:cNvPr>
          <p:cNvSpPr>
            <a:spLocks xmlns:a="http://schemas.openxmlformats.org/drawingml/2006/main" noGrp="1"/>
          </p:cNvSpPr>
          <p:nvPr/>
        </p:nvSpPr>
        <p:spPr>
          <a:xfrm xmlns:a="http://schemas.openxmlformats.org/drawingml/2006/main">
            <a:off x="638175" y="576262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3708A"/>
                </a:solidFill>
                <a:latin typeface="DejaVu Sans"/>
                <a:ea typeface="DejaVu Sans"/>
                <a:cs typeface="DejaVu Sans"/>
              </a:defRPr>
            </a:pPr>
            <a:r>
              <a:rPr sz="1725" b="0">
                <a:solidFill>
                  <a:srgbClr val="63708A"/>
                </a:solidFill>
                <a:latin typeface="DejaVu Sans"/>
                <a:ea typeface="DejaVu Sans"/>
                <a:cs typeface="DejaVu Sans"/>
              </a:rPr>
              <a:t>Filtres : collaborateur, type, statut et dates. Export de la sélection en JSON.</a:t>
            </a:r>
          </a:p>
        </p:txBody>
      </p:sp>
    </p:spTree>
    <p:extLst>
      <p:ext uri="{BB962C8B-B14F-4D97-AF65-F5344CB8AC3E}">
        <p14:creationId xmlns:p14="http://schemas.microsoft.com/office/powerpoint/2010/main" val="1244536292"/>
      </p:ext>
    </p:extLst>
  </p:cSld>
</p:sld>
</file>

<file path=ppt/slides/slide8.xml><?xml version="1.0" encoding="utf-8"?>
<p:sld xmlns:p="http://schemas.openxmlformats.org/presentationml/2006/main">
  <p:cSld>
    <p:bg>
      <p:bgPr>
        <a:solidFill xmlns:a="http://schemas.openxmlformats.org/drawingml/2006/main">
          <a:srgbClr val="101C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1B38CB3-E5D4-4535-82DE-D11261DD5FC5}"/>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BBC7EE"/>
                </a:solidFill>
                <a:latin typeface="DejaVu Sans"/>
                <a:ea typeface="DejaVu Sans"/>
                <a:cs typeface="DejaVu Sans"/>
              </a:defRPr>
            </a:pPr>
            <a:r>
              <a:rPr sz="1200" b="1">
                <a:solidFill>
                  <a:srgbClr val="BBC7EE"/>
                </a:solidFill>
                <a:latin typeface="DejaVu Sans"/>
                <a:ea typeface="DejaVu Sans"/>
                <a:cs typeface="DejaVu Sans"/>
              </a:rPr>
              <a:t>LECTURE DES DONNÉES</a:t>
            </a:r>
          </a:p>
        </p:txBody>
      </p:sp>
      <p:sp>
        <p:nvSpPr>
          <p:cNvPr id="2" name="">
            <a:extLst xmlns:a="http://schemas.openxmlformats.org/drawingml/2006/main">
              <a:ext uri="{FF2B5EF4-FFF2-40B4-BE49-F238E27FC236}">
                <a16:creationId xmlns:a16="http://schemas.microsoft.com/office/drawing/2014/main" id="{87309BBB-25F1-4019-A46F-7F2CC6BC627E}"/>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Des indicateurs à interpréter</a:t>
            </a:r>
          </a:p>
        </p:txBody>
      </p:sp>
      <p:sp>
        <p:nvSpPr>
          <p:cNvPr id="3" name="">
            <a:extLst xmlns:a="http://schemas.openxmlformats.org/drawingml/2006/main">
              <a:ext uri="{FF2B5EF4-FFF2-40B4-BE49-F238E27FC236}">
                <a16:creationId xmlns:a16="http://schemas.microsoft.com/office/drawing/2014/main" id="{362A3669-20FF-429A-AEA4-FA416D6C306A}"/>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BC7EE"/>
                </a:solidFill>
                <a:latin typeface="DejaVu Sans"/>
                <a:ea typeface="DejaVu Sans"/>
                <a:cs typeface="DejaVu Sans"/>
              </a:defRPr>
            </a:pPr>
            <a:r>
              <a:rPr sz="1125" b="0">
                <a:solidFill>
                  <a:srgbClr val="BBC7EE"/>
                </a:solidFill>
                <a:latin typeface="DejaVu Sans"/>
                <a:ea typeface="DejaVu Sans"/>
                <a:cs typeface="DejaVu Sans"/>
              </a:rPr>
              <a:t>08</a:t>
            </a:r>
          </a:p>
        </p:txBody>
      </p:sp>
      <p:sp>
        <p:nvSpPr>
          <p:cNvPr id="4" name="">
            <a:extLst xmlns:a="http://schemas.openxmlformats.org/drawingml/2006/main">
              <a:ext uri="{FF2B5EF4-FFF2-40B4-BE49-F238E27FC236}">
                <a16:creationId xmlns:a16="http://schemas.microsoft.com/office/drawing/2014/main" id="{906B0E0E-D687-4DE6-801E-24D3404B68D0}"/>
              </a:ext>
            </a:extLst>
          </p:cNvPr>
          <p:cNvSpPr>
            <a:spLocks xmlns:a="http://schemas.openxmlformats.org/drawingml/2006/main" noGrp="1"/>
          </p:cNvSpPr>
          <p:nvPr/>
        </p:nvSpPr>
        <p:spPr>
          <a:xfrm xmlns:a="http://schemas.openxmlformats.org/drawingml/2006/main">
            <a:off x="609600" y="2219325"/>
            <a:ext cx="4857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FFFFFF"/>
                </a:solidFill>
                <a:latin typeface="DejaVu Sans"/>
                <a:ea typeface="DejaVu Sans"/>
                <a:cs typeface="DejaVu Sans"/>
              </a:defRPr>
            </a:pPr>
            <a:r>
              <a:rPr sz="5175" b="1">
                <a:solidFill>
                  <a:srgbClr val="FFFFFF"/>
                </a:solidFill>
                <a:latin typeface="DejaVu Sans"/>
                <a:ea typeface="DejaVu Sans"/>
                <a:cs typeface="DejaVu Sans"/>
              </a:rPr>
              <a:t>DMT</a:t>
            </a:r>
          </a:p>
        </p:txBody>
      </p:sp>
      <p:sp>
        <p:nvSpPr>
          <p:cNvPr id="5" name="">
            <a:extLst xmlns:a="http://schemas.openxmlformats.org/drawingml/2006/main">
              <a:ext uri="{FF2B5EF4-FFF2-40B4-BE49-F238E27FC236}">
                <a16:creationId xmlns:a16="http://schemas.microsoft.com/office/drawing/2014/main" id="{EC4D633F-CA23-48E3-B814-1CAC781A33F9}"/>
              </a:ext>
            </a:extLst>
          </p:cNvPr>
          <p:cNvSpPr>
            <a:spLocks xmlns:a="http://schemas.openxmlformats.org/drawingml/2006/main" noGrp="1"/>
          </p:cNvSpPr>
          <p:nvPr/>
        </p:nvSpPr>
        <p:spPr>
          <a:xfrm xmlns:a="http://schemas.openxmlformats.org/drawingml/2006/main">
            <a:off x="647700" y="3419475"/>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DejaVu Sans"/>
                <a:ea typeface="DejaVu Sans"/>
                <a:cs typeface="DejaVu Sans"/>
              </a:defRPr>
            </a:pPr>
            <a:r>
              <a:rPr sz="2475" b="1">
                <a:solidFill>
                  <a:srgbClr val="FFFFFF"/>
                </a:solidFill>
                <a:latin typeface="DejaVu Sans"/>
                <a:ea typeface="DejaVu Sans"/>
                <a:cs typeface="DejaVu Sans"/>
              </a:rPr>
              <a:t>Durée écoulée</a:t>
            </a:r>
          </a:p>
        </p:txBody>
      </p:sp>
      <p:sp>
        <p:nvSpPr>
          <p:cNvPr id="6" name="">
            <a:extLst xmlns:a="http://schemas.openxmlformats.org/drawingml/2006/main">
              <a:ext uri="{FF2B5EF4-FFF2-40B4-BE49-F238E27FC236}">
                <a16:creationId xmlns:a16="http://schemas.microsoft.com/office/drawing/2014/main" id="{FB62E88F-0FF9-4D2A-879A-9913392638C3}"/>
              </a:ext>
            </a:extLst>
          </p:cNvPr>
          <p:cNvSpPr>
            <a:spLocks xmlns:a="http://schemas.openxmlformats.org/drawingml/2006/main" noGrp="1"/>
          </p:cNvSpPr>
          <p:nvPr/>
        </p:nvSpPr>
        <p:spPr>
          <a:xfrm xmlns:a="http://schemas.openxmlformats.org/drawingml/2006/main">
            <a:off x="647700" y="433387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BC7EE"/>
                </a:solidFill>
                <a:latin typeface="DejaVu Sans"/>
                <a:ea typeface="DejaVu Sans"/>
                <a:cs typeface="DejaVu Sans"/>
              </a:defRPr>
            </a:pPr>
            <a:r>
              <a:rPr sz="2100" b="0">
                <a:solidFill>
                  <a:srgbClr val="BBC7EE"/>
                </a:solidFill>
                <a:latin typeface="DejaVu Sans"/>
                <a:ea typeface="DejaVu Sans"/>
                <a:cs typeface="DejaVu Sans"/>
              </a:rPr>
              <a:t>Entre la prise en charge</a:t>
            </a:r>
          </a:p>
          <a:p xmlns:a="http://schemas.openxmlformats.org/drawingml/2006/main">
            <a:pPr>
              <a:defRPr sz="2100" b="0">
                <a:solidFill>
                  <a:srgbClr val="BBC7EE"/>
                </a:solidFill>
                <a:latin typeface="DejaVu Sans"/>
                <a:ea typeface="DejaVu Sans"/>
                <a:cs typeface="DejaVu Sans"/>
              </a:defRPr>
            </a:pPr>
            <a:r>
              <a:rPr sz="2100" b="0">
                <a:solidFill>
                  <a:srgbClr val="BBC7EE"/>
                </a:solidFill>
                <a:latin typeface="DejaVu Sans"/>
                <a:ea typeface="DejaVu Sans"/>
                <a:cs typeface="DejaVu Sans"/>
              </a:rPr>
              <a:t>et la clôture du traitement.</a:t>
            </a:r>
          </a:p>
        </p:txBody>
      </p:sp>
      <p:sp>
        <p:nvSpPr>
          <p:cNvPr id="7" name="">
            <a:extLst xmlns:a="http://schemas.openxmlformats.org/drawingml/2006/main">
              <a:ext uri="{FF2B5EF4-FFF2-40B4-BE49-F238E27FC236}">
                <a16:creationId xmlns:a16="http://schemas.microsoft.com/office/drawing/2014/main" id="{F363A67C-7D11-40B4-9783-738785E2BF3C}"/>
              </a:ext>
            </a:extLst>
          </p:cNvPr>
          <p:cNvSpPr>
            <a:spLocks xmlns:a="http://schemas.openxmlformats.org/drawingml/2006/main" noGrp="1"/>
          </p:cNvSpPr>
          <p:nvPr/>
        </p:nvSpPr>
        <p:spPr>
          <a:xfrm xmlns:a="http://schemas.openxmlformats.org/drawingml/2006/main">
            <a:off x="6724650" y="2219325"/>
            <a:ext cx="4810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Présence</a:t>
            </a:r>
          </a:p>
        </p:txBody>
      </p:sp>
      <p:sp>
        <p:nvSpPr>
          <p:cNvPr id="8" name="">
            <a:extLst xmlns:a="http://schemas.openxmlformats.org/drawingml/2006/main">
              <a:ext uri="{FF2B5EF4-FFF2-40B4-BE49-F238E27FC236}">
                <a16:creationId xmlns:a16="http://schemas.microsoft.com/office/drawing/2014/main" id="{932BAAA2-F199-40E5-9D89-8BEB1A8C299B}"/>
              </a:ext>
            </a:extLst>
          </p:cNvPr>
          <p:cNvSpPr>
            <a:spLocks xmlns:a="http://schemas.openxmlformats.org/drawingml/2006/main" noGrp="1"/>
          </p:cNvSpPr>
          <p:nvPr/>
        </p:nvSpPr>
        <p:spPr>
          <a:xfrm xmlns:a="http://schemas.openxmlformats.org/drawingml/2006/main">
            <a:off x="6762750" y="341947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Application en ligne</a:t>
            </a:r>
          </a:p>
        </p:txBody>
      </p:sp>
      <p:sp>
        <p:nvSpPr>
          <p:cNvPr id="9" name="">
            <a:extLst xmlns:a="http://schemas.openxmlformats.org/drawingml/2006/main">
              <a:ext uri="{FF2B5EF4-FFF2-40B4-BE49-F238E27FC236}">
                <a16:creationId xmlns:a16="http://schemas.microsoft.com/office/drawing/2014/main" id="{80341E82-8589-4F5F-B654-2FD44EC88371}"/>
              </a:ext>
            </a:extLst>
          </p:cNvPr>
          <p:cNvSpPr>
            <a:spLocks xmlns:a="http://schemas.openxmlformats.org/drawingml/2006/main" noGrp="1"/>
          </p:cNvSpPr>
          <p:nvPr/>
        </p:nvSpPr>
        <p:spPr>
          <a:xfrm xmlns:a="http://schemas.openxmlformats.org/drawingml/2006/main">
            <a:off x="6762750" y="4333875"/>
            <a:ext cx="4810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BC7EE"/>
                </a:solidFill>
                <a:latin typeface="DejaVu Sans"/>
                <a:ea typeface="DejaVu Sans"/>
                <a:cs typeface="DejaVu Sans"/>
              </a:defRPr>
            </a:pPr>
            <a:r>
              <a:rPr sz="2025" b="0">
                <a:solidFill>
                  <a:srgbClr val="BBC7EE"/>
                </a:solidFill>
                <a:latin typeface="DejaVu Sans"/>
                <a:ea typeface="DejaVu Sans"/>
                <a:cs typeface="DejaVu Sans"/>
              </a:rPr>
              <a:t>Un état technique, à distinguer</a:t>
            </a:r>
          </a:p>
          <a:p xmlns:a="http://schemas.openxmlformats.org/drawingml/2006/main">
            <a:pPr>
              <a:defRPr sz="2025" b="0">
                <a:solidFill>
                  <a:srgbClr val="BBC7EE"/>
                </a:solidFill>
                <a:latin typeface="DejaVu Sans"/>
                <a:ea typeface="DejaVu Sans"/>
                <a:cs typeface="DejaVu Sans"/>
              </a:defRPr>
            </a:pPr>
            <a:r>
              <a:rPr sz="2025" b="0">
                <a:solidFill>
                  <a:srgbClr val="BBC7EE"/>
                </a:solidFill>
                <a:latin typeface="DejaVu Sans"/>
                <a:ea typeface="DejaVu Sans"/>
                <a:cs typeface="DejaVu Sans"/>
              </a:rPr>
              <a:t>du temps productif de l’agent.</a:t>
            </a:r>
          </a:p>
        </p:txBody>
      </p:sp>
    </p:spTree>
    <p:extLst>
      <p:ext uri="{BB962C8B-B14F-4D97-AF65-F5344CB8AC3E}">
        <p14:creationId xmlns:p14="http://schemas.microsoft.com/office/powerpoint/2010/main" val="301928705"/>
      </p:ext>
    </p:extLst>
  </p:cSld>
</p:sld>
</file>

<file path=ppt/slides/slide9.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8A761D-9D48-4491-B6C0-D66EF3095477}"/>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TRAÇABILITÉ</a:t>
            </a:r>
          </a:p>
        </p:txBody>
      </p:sp>
      <p:sp>
        <p:nvSpPr>
          <p:cNvPr id="2" name="">
            <a:extLst xmlns:a="http://schemas.openxmlformats.org/drawingml/2006/main">
              <a:ext uri="{FF2B5EF4-FFF2-40B4-BE49-F238E27FC236}">
                <a16:creationId xmlns:a16="http://schemas.microsoft.com/office/drawing/2014/main" id="{C0107389-A0F4-4E36-AE64-873136DF93A0}"/>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Un historique pour comprendre les actions</a:t>
            </a:r>
          </a:p>
        </p:txBody>
      </p:sp>
      <p:sp>
        <p:nvSpPr>
          <p:cNvPr id="3" name="">
            <a:extLst xmlns:a="http://schemas.openxmlformats.org/drawingml/2006/main">
              <a:ext uri="{FF2B5EF4-FFF2-40B4-BE49-F238E27FC236}">
                <a16:creationId xmlns:a16="http://schemas.microsoft.com/office/drawing/2014/main" id="{82B3E2AA-FD1C-4424-89E6-11AACCC0090E}"/>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09</a:t>
            </a:r>
          </a:p>
        </p:txBody>
      </p:sp>
      <p:sp>
        <p:nvSpPr>
          <p:cNvPr id="4" name="">
            <a:extLst xmlns:a="http://schemas.openxmlformats.org/drawingml/2006/main">
              <a:ext uri="{FF2B5EF4-FFF2-40B4-BE49-F238E27FC236}">
                <a16:creationId xmlns:a16="http://schemas.microsoft.com/office/drawing/2014/main" id="{97215590-0A98-45C5-8ABB-9E722CA90006}"/>
              </a:ext>
            </a:extLst>
          </p:cNvPr>
          <p:cNvSpPr>
            <a:spLocks xmlns:a="http://schemas.openxmlformats.org/drawingml/2006/main" noGrp="1"/>
          </p:cNvSpPr>
          <p:nvPr/>
        </p:nvSpPr>
        <p:spPr>
          <a:xfrm xmlns:a="http://schemas.openxmlformats.org/drawingml/2006/main">
            <a:off x="609600" y="223837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3447A1"/>
                </a:solidFill>
                <a:latin typeface="DejaVu Sans"/>
                <a:ea typeface="DejaVu Sans"/>
                <a:cs typeface="DejaVu Sans"/>
              </a:defRPr>
            </a:pPr>
            <a:r>
              <a:rPr sz="4125" b="1">
                <a:solidFill>
                  <a:srgbClr val="3447A1"/>
                </a:solidFill>
                <a:latin typeface="DejaVu Sans"/>
                <a:ea typeface="DejaVu Sans"/>
                <a:cs typeface="DejaVu Sans"/>
              </a:rPr>
              <a:t>Auteur</a:t>
            </a:r>
          </a:p>
        </p:txBody>
      </p:sp>
      <p:sp>
        <p:nvSpPr>
          <p:cNvPr id="5" name="">
            <a:extLst xmlns:a="http://schemas.openxmlformats.org/drawingml/2006/main">
              <a:ext uri="{FF2B5EF4-FFF2-40B4-BE49-F238E27FC236}">
                <a16:creationId xmlns:a16="http://schemas.microsoft.com/office/drawing/2014/main" id="{62CDCCFB-5028-415F-A42C-45315D095B6A}"/>
              </a:ext>
            </a:extLst>
          </p:cNvPr>
          <p:cNvSpPr>
            <a:spLocks xmlns:a="http://schemas.openxmlformats.org/drawingml/2006/main" noGrp="1"/>
          </p:cNvSpPr>
          <p:nvPr/>
        </p:nvSpPr>
        <p:spPr>
          <a:xfrm xmlns:a="http://schemas.openxmlformats.org/drawingml/2006/main">
            <a:off x="4333875" y="22383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3447A1"/>
                </a:solidFill>
                <a:latin typeface="DejaVu Sans"/>
                <a:ea typeface="DejaVu Sans"/>
                <a:cs typeface="DejaVu Sans"/>
              </a:defRPr>
            </a:pPr>
            <a:r>
              <a:rPr sz="4125" b="1">
                <a:solidFill>
                  <a:srgbClr val="3447A1"/>
                </a:solidFill>
                <a:latin typeface="DejaVu Sans"/>
                <a:ea typeface="DejaVu Sans"/>
                <a:cs typeface="DejaVu Sans"/>
              </a:rPr>
              <a:t>Date</a:t>
            </a:r>
          </a:p>
        </p:txBody>
      </p:sp>
      <p:sp>
        <p:nvSpPr>
          <p:cNvPr id="6" name="">
            <a:extLst xmlns:a="http://schemas.openxmlformats.org/drawingml/2006/main">
              <a:ext uri="{FF2B5EF4-FFF2-40B4-BE49-F238E27FC236}">
                <a16:creationId xmlns:a16="http://schemas.microsoft.com/office/drawing/2014/main" id="{7BF0653C-8444-4449-8BF6-17326A6B4931}"/>
              </a:ext>
            </a:extLst>
          </p:cNvPr>
          <p:cNvSpPr>
            <a:spLocks xmlns:a="http://schemas.openxmlformats.org/drawingml/2006/main" noGrp="1"/>
          </p:cNvSpPr>
          <p:nvPr/>
        </p:nvSpPr>
        <p:spPr>
          <a:xfrm xmlns:a="http://schemas.openxmlformats.org/drawingml/2006/main">
            <a:off x="8067675" y="2238375"/>
            <a:ext cx="3476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C3377B"/>
                </a:solidFill>
                <a:latin typeface="DejaVu Sans"/>
                <a:ea typeface="DejaVu Sans"/>
                <a:cs typeface="DejaVu Sans"/>
              </a:defRPr>
            </a:pPr>
            <a:r>
              <a:rPr sz="4125" b="1">
                <a:solidFill>
                  <a:srgbClr val="C3377B"/>
                </a:solidFill>
                <a:latin typeface="DejaVu Sans"/>
                <a:ea typeface="DejaVu Sans"/>
                <a:cs typeface="DejaVu Sans"/>
              </a:rPr>
              <a:t>Action</a:t>
            </a:r>
          </a:p>
        </p:txBody>
      </p:sp>
      <p:sp>
        <p:nvSpPr>
          <p:cNvPr id="7" name="">
            <a:extLst xmlns:a="http://schemas.openxmlformats.org/drawingml/2006/main">
              <a:ext uri="{FF2B5EF4-FFF2-40B4-BE49-F238E27FC236}">
                <a16:creationId xmlns:a16="http://schemas.microsoft.com/office/drawing/2014/main" id="{E5493968-736E-4730-A09B-D52B0D9575C9}"/>
              </a:ext>
            </a:extLst>
          </p:cNvPr>
          <p:cNvSpPr>
            <a:spLocks xmlns:a="http://schemas.openxmlformats.org/drawingml/2006/main" noGrp="1"/>
          </p:cNvSpPr>
          <p:nvPr/>
        </p:nvSpPr>
        <p:spPr>
          <a:xfrm xmlns:a="http://schemas.openxmlformats.org/drawingml/2006/main">
            <a:off x="647700" y="35147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64C"/>
                </a:solidFill>
                <a:latin typeface="DejaVu Sans"/>
                <a:ea typeface="DejaVu Sans"/>
                <a:cs typeface="DejaVu Sans"/>
              </a:defRPr>
            </a:pPr>
            <a:r>
              <a:rPr sz="2025" b="0">
                <a:solidFill>
                  <a:srgbClr val="17264C"/>
                </a:solidFill>
                <a:latin typeface="DejaVu Sans"/>
                <a:ea typeface="DejaVu Sans"/>
                <a:cs typeface="DejaVu Sans"/>
              </a:rPr>
              <a:t>Session Windows</a:t>
            </a:r>
          </a:p>
          <a:p xmlns:a="http://schemas.openxmlformats.org/drawingml/2006/main">
            <a:pPr>
              <a:defRPr sz="2025" b="0">
                <a:solidFill>
                  <a:srgbClr val="17264C"/>
                </a:solidFill>
                <a:latin typeface="DejaVu Sans"/>
                <a:ea typeface="DejaVu Sans"/>
                <a:cs typeface="DejaVu Sans"/>
              </a:defRPr>
            </a:pPr>
            <a:r>
              <a:rPr sz="2025" b="0">
                <a:solidFill>
                  <a:srgbClr val="17264C"/>
                </a:solidFill>
                <a:latin typeface="DejaVu Sans"/>
                <a:ea typeface="DejaVu Sans"/>
                <a:cs typeface="DejaVu Sans"/>
              </a:rPr>
              <a:t>et profil utilisateur</a:t>
            </a:r>
          </a:p>
        </p:txBody>
      </p:sp>
      <p:sp>
        <p:nvSpPr>
          <p:cNvPr id="8" name="">
            <a:extLst xmlns:a="http://schemas.openxmlformats.org/drawingml/2006/main">
              <a:ext uri="{FF2B5EF4-FFF2-40B4-BE49-F238E27FC236}">
                <a16:creationId xmlns:a16="http://schemas.microsoft.com/office/drawing/2014/main" id="{6AB63897-F19A-4335-9687-3C4E58650EFF}"/>
              </a:ext>
            </a:extLst>
          </p:cNvPr>
          <p:cNvSpPr>
            <a:spLocks xmlns:a="http://schemas.openxmlformats.org/drawingml/2006/main" noGrp="1"/>
          </p:cNvSpPr>
          <p:nvPr/>
        </p:nvSpPr>
        <p:spPr>
          <a:xfrm xmlns:a="http://schemas.openxmlformats.org/drawingml/2006/main">
            <a:off x="4371975" y="351472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64C"/>
                </a:solidFill>
                <a:latin typeface="DejaVu Sans"/>
                <a:ea typeface="DejaVu Sans"/>
                <a:cs typeface="DejaVu Sans"/>
              </a:defRPr>
            </a:pPr>
            <a:r>
              <a:rPr sz="2025" b="0">
                <a:solidFill>
                  <a:srgbClr val="17264C"/>
                </a:solidFill>
                <a:latin typeface="DejaVu Sans"/>
                <a:ea typeface="DejaVu Sans"/>
                <a:cs typeface="DejaVu Sans"/>
              </a:rPr>
              <a:t>Date et heure</a:t>
            </a:r>
          </a:p>
          <a:p xmlns:a="http://schemas.openxmlformats.org/drawingml/2006/main">
            <a:pPr>
              <a:defRPr sz="2025" b="0">
                <a:solidFill>
                  <a:srgbClr val="17264C"/>
                </a:solidFill>
                <a:latin typeface="DejaVu Sans"/>
                <a:ea typeface="DejaVu Sans"/>
                <a:cs typeface="DejaVu Sans"/>
              </a:defRPr>
            </a:pPr>
            <a:r>
              <a:rPr sz="2025" b="0">
                <a:solidFill>
                  <a:srgbClr val="17264C"/>
                </a:solidFill>
                <a:latin typeface="DejaVu Sans"/>
                <a:ea typeface="DejaVu Sans"/>
                <a:cs typeface="DejaVu Sans"/>
              </a:rPr>
              <a:t>de l’événement</a:t>
            </a:r>
          </a:p>
        </p:txBody>
      </p:sp>
      <p:sp>
        <p:nvSpPr>
          <p:cNvPr id="9" name="">
            <a:extLst xmlns:a="http://schemas.openxmlformats.org/drawingml/2006/main">
              <a:ext uri="{FF2B5EF4-FFF2-40B4-BE49-F238E27FC236}">
                <a16:creationId xmlns:a16="http://schemas.microsoft.com/office/drawing/2014/main" id="{3CDBB80B-71C9-4D7C-B5D2-944263E81FB6}"/>
              </a:ext>
            </a:extLst>
          </p:cNvPr>
          <p:cNvSpPr>
            <a:spLocks xmlns:a="http://schemas.openxmlformats.org/drawingml/2006/main" noGrp="1"/>
          </p:cNvSpPr>
          <p:nvPr/>
        </p:nvSpPr>
        <p:spPr>
          <a:xfrm xmlns:a="http://schemas.openxmlformats.org/drawingml/2006/main">
            <a:off x="8105775" y="3514725"/>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Modification, validation</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ou action Outlook</a:t>
            </a:r>
          </a:p>
        </p:txBody>
      </p:sp>
      <p:sp>
        <p:nvSpPr>
          <p:cNvPr id="10" name="">
            <a:extLst xmlns:a="http://schemas.openxmlformats.org/drawingml/2006/main">
              <a:ext uri="{FF2B5EF4-FFF2-40B4-BE49-F238E27FC236}">
                <a16:creationId xmlns:a16="http://schemas.microsoft.com/office/drawing/2014/main" id="{188FF727-1D2B-4591-8A30-AB1E807F0B88}"/>
              </a:ext>
            </a:extLst>
          </p:cNvPr>
          <p:cNvSpPr>
            <a:spLocks xmlns:a="http://schemas.openxmlformats.org/drawingml/2006/main" noGrp="1"/>
          </p:cNvSpPr>
          <p:nvPr/>
        </p:nvSpPr>
        <p:spPr>
          <a:xfrm xmlns:a="http://schemas.openxmlformats.org/drawingml/2006/main">
            <a:off x="647700" y="53721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1C42"/>
                </a:solidFill>
                <a:latin typeface="DejaVu Sans"/>
                <a:ea typeface="DejaVu Sans"/>
                <a:cs typeface="DejaVu Sans"/>
              </a:defRPr>
            </a:pPr>
            <a:r>
              <a:rPr sz="2175" b="1">
                <a:solidFill>
                  <a:srgbClr val="101C42"/>
                </a:solidFill>
                <a:latin typeface="DejaVu Sans"/>
                <a:ea typeface="DejaVu Sans"/>
                <a:cs typeface="DejaVu Sans"/>
              </a:rPr>
              <a:t>Une correction annule la validation précédente pour permettre un nouveau contrôle.</a:t>
            </a:r>
          </a:p>
        </p:txBody>
      </p:sp>
    </p:spTree>
    <p:extLst>
      <p:ext uri="{BB962C8B-B14F-4D97-AF65-F5344CB8AC3E}">
        <p14:creationId xmlns:p14="http://schemas.microsoft.com/office/powerpoint/2010/main" val="1852518506"/>
      </p:ext>
    </p:extLst>
  </p:cSld>
</p:sld>
</file>

<file path=ppt/slides/slide10.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F76AC6-407C-4793-846D-B8AB220FED01}"/>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ÉQUIPE</a:t>
            </a:r>
          </a:p>
        </p:txBody>
      </p:sp>
      <p:sp>
        <p:nvSpPr>
          <p:cNvPr id="2" name="">
            <a:extLst xmlns:a="http://schemas.openxmlformats.org/drawingml/2006/main">
              <a:ext uri="{FF2B5EF4-FFF2-40B4-BE49-F238E27FC236}">
                <a16:creationId xmlns:a16="http://schemas.microsoft.com/office/drawing/2014/main" id="{B1FAEDD9-E372-462F-9787-93A0E791B51E}"/>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La coordination au quotidien</a:t>
            </a:r>
          </a:p>
        </p:txBody>
      </p:sp>
      <p:sp>
        <p:nvSpPr>
          <p:cNvPr id="3" name="">
            <a:extLst xmlns:a="http://schemas.openxmlformats.org/drawingml/2006/main">
              <a:ext uri="{FF2B5EF4-FFF2-40B4-BE49-F238E27FC236}">
                <a16:creationId xmlns:a16="http://schemas.microsoft.com/office/drawing/2014/main" id="{1923EBC4-369D-4EFB-A2D4-5E7B2D294E22}"/>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10</a:t>
            </a:r>
          </a:p>
        </p:txBody>
      </p:sp>
      <p:sp>
        <p:nvSpPr>
          <p:cNvPr id="4" name="">
            <a:extLst xmlns:a="http://schemas.openxmlformats.org/drawingml/2006/main">
              <a:ext uri="{FF2B5EF4-FFF2-40B4-BE49-F238E27FC236}">
                <a16:creationId xmlns:a16="http://schemas.microsoft.com/office/drawing/2014/main" id="{6A8ECEA9-B2FD-41BE-A31F-DF79BCBDDF91}"/>
              </a:ext>
            </a:extLst>
          </p:cNvPr>
          <p:cNvSpPr>
            <a:spLocks xmlns:a="http://schemas.openxmlformats.org/drawingml/2006/main" noGrp="1"/>
          </p:cNvSpPr>
          <p:nvPr/>
        </p:nvSpPr>
        <p:spPr>
          <a:xfrm xmlns:a="http://schemas.openxmlformats.org/drawingml/2006/main">
            <a:off x="609600" y="22288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47A1"/>
                </a:solidFill>
                <a:latin typeface="DejaVu Sans"/>
                <a:ea typeface="DejaVu Sans"/>
                <a:cs typeface="DejaVu Sans"/>
              </a:defRPr>
            </a:pPr>
            <a:r>
              <a:rPr sz="2175" b="1">
                <a:solidFill>
                  <a:srgbClr val="3447A1"/>
                </a:solidFill>
                <a:latin typeface="DejaVu Sans"/>
                <a:ea typeface="DejaVu Sans"/>
                <a:cs typeface="DejaVu Sans"/>
              </a:rPr>
              <a:t>Communauté EBRA</a:t>
            </a:r>
          </a:p>
        </p:txBody>
      </p:sp>
      <p:sp>
        <p:nvSpPr>
          <p:cNvPr id="5" name="">
            <a:extLst xmlns:a="http://schemas.openxmlformats.org/drawingml/2006/main">
              <a:ext uri="{FF2B5EF4-FFF2-40B4-BE49-F238E27FC236}">
                <a16:creationId xmlns:a16="http://schemas.microsoft.com/office/drawing/2014/main" id="{F76436DA-19D5-4F95-8AEA-245E24BFC762}"/>
              </a:ext>
            </a:extLst>
          </p:cNvPr>
          <p:cNvSpPr>
            <a:spLocks xmlns:a="http://schemas.openxmlformats.org/drawingml/2006/main" noGrp="1"/>
          </p:cNvSpPr>
          <p:nvPr/>
        </p:nvSpPr>
        <p:spPr>
          <a:xfrm xmlns:a="http://schemas.openxmlformats.org/drawingml/2006/main">
            <a:off x="609600" y="28194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64C"/>
                </a:solidFill>
                <a:latin typeface="DejaVu Sans"/>
                <a:ea typeface="DejaVu Sans"/>
                <a:cs typeface="DejaVu Sans"/>
              </a:defRPr>
            </a:pPr>
            <a:r>
              <a:rPr sz="1875" b="0">
                <a:solidFill>
                  <a:srgbClr val="17264C"/>
                </a:solidFill>
                <a:latin typeface="DejaVu Sans"/>
                <a:ea typeface="DejaVu Sans"/>
                <a:cs typeface="DejaVu Sans"/>
              </a:rPr>
              <a:t>Un espace de conversation commun aux agents et au Manager.</a:t>
            </a:r>
          </a:p>
        </p:txBody>
      </p:sp>
      <p:sp>
        <p:nvSpPr>
          <p:cNvPr id="6" name="">
            <a:extLst xmlns:a="http://schemas.openxmlformats.org/drawingml/2006/main">
              <a:ext uri="{FF2B5EF4-FFF2-40B4-BE49-F238E27FC236}">
                <a16:creationId xmlns:a16="http://schemas.microsoft.com/office/drawing/2014/main" id="{28853A6D-7080-463D-B225-F718785D8B00}"/>
              </a:ext>
            </a:extLst>
          </p:cNvPr>
          <p:cNvSpPr>
            <a:spLocks xmlns:a="http://schemas.openxmlformats.org/drawingml/2006/main" noGrp="1"/>
          </p:cNvSpPr>
          <p:nvPr/>
        </p:nvSpPr>
        <p:spPr>
          <a:xfrm xmlns:a="http://schemas.openxmlformats.org/drawingml/2006/main">
            <a:off x="6743700" y="2228850"/>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47A1"/>
                </a:solidFill>
                <a:latin typeface="DejaVu Sans"/>
                <a:ea typeface="DejaVu Sans"/>
                <a:cs typeface="DejaVu Sans"/>
              </a:defRPr>
            </a:pPr>
            <a:r>
              <a:rPr sz="2175" b="1">
                <a:solidFill>
                  <a:srgbClr val="3447A1"/>
                </a:solidFill>
                <a:latin typeface="DejaVu Sans"/>
                <a:ea typeface="DejaVu Sans"/>
                <a:cs typeface="DejaVu Sans"/>
              </a:rPr>
              <a:t>Notifications partagées</a:t>
            </a:r>
          </a:p>
        </p:txBody>
      </p:sp>
      <p:sp>
        <p:nvSpPr>
          <p:cNvPr id="7" name="">
            <a:extLst xmlns:a="http://schemas.openxmlformats.org/drawingml/2006/main">
              <a:ext uri="{FF2B5EF4-FFF2-40B4-BE49-F238E27FC236}">
                <a16:creationId xmlns:a16="http://schemas.microsoft.com/office/drawing/2014/main" id="{D43E7FBE-E62E-40C5-BB3B-D75A08E59E03}"/>
              </a:ext>
            </a:extLst>
          </p:cNvPr>
          <p:cNvSpPr>
            <a:spLocks xmlns:a="http://schemas.openxmlformats.org/drawingml/2006/main" noGrp="1"/>
          </p:cNvSpPr>
          <p:nvPr/>
        </p:nvSpPr>
        <p:spPr>
          <a:xfrm xmlns:a="http://schemas.openxmlformats.org/drawingml/2006/main">
            <a:off x="6743700" y="2819400"/>
            <a:ext cx="4810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64C"/>
                </a:solidFill>
                <a:latin typeface="DejaVu Sans"/>
                <a:ea typeface="DejaVu Sans"/>
                <a:cs typeface="DejaVu Sans"/>
              </a:defRPr>
            </a:pPr>
            <a:r>
              <a:rPr sz="1875" b="0">
                <a:solidFill>
                  <a:srgbClr val="17264C"/>
                </a:solidFill>
                <a:latin typeface="DejaVu Sans"/>
                <a:ea typeface="DejaVu Sans"/>
                <a:cs typeface="DejaVu Sans"/>
              </a:rPr>
              <a:t>Des messages partagés signalent les réservations et les libérations.</a:t>
            </a:r>
          </a:p>
        </p:txBody>
      </p:sp>
      <p:sp>
        <p:nvSpPr>
          <p:cNvPr id="8" name="">
            <a:extLst xmlns:a="http://schemas.openxmlformats.org/drawingml/2006/main">
              <a:ext uri="{FF2B5EF4-FFF2-40B4-BE49-F238E27FC236}">
                <a16:creationId xmlns:a16="http://schemas.microsoft.com/office/drawing/2014/main" id="{E9E4E404-46A1-47E6-A073-C674B17268DB}"/>
              </a:ext>
            </a:extLst>
          </p:cNvPr>
          <p:cNvSpPr>
            <a:spLocks xmlns:a="http://schemas.openxmlformats.org/drawingml/2006/main" noGrp="1"/>
          </p:cNvSpPr>
          <p:nvPr/>
        </p:nvSpPr>
        <p:spPr>
          <a:xfrm xmlns:a="http://schemas.openxmlformats.org/drawingml/2006/main">
            <a:off x="609600" y="4524375"/>
            <a:ext cx="685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01C42"/>
                </a:solidFill>
                <a:latin typeface="DejaVu Sans"/>
                <a:ea typeface="DejaVu Sans"/>
                <a:cs typeface="DejaVu Sans"/>
              </a:defRPr>
            </a:pPr>
            <a:r>
              <a:rPr sz="3375" b="1">
                <a:solidFill>
                  <a:srgbClr val="101C42"/>
                </a:solidFill>
                <a:latin typeface="DejaVu Sans"/>
                <a:ea typeface="DejaVu Sans"/>
                <a:cs typeface="DejaVu Sans"/>
              </a:rPr>
              <a:t>Une information</a:t>
            </a:r>
          </a:p>
          <a:p xmlns:a="http://schemas.openxmlformats.org/drawingml/2006/main">
            <a:pPr>
              <a:defRPr sz="3375" b="1">
                <a:solidFill>
                  <a:srgbClr val="101C42"/>
                </a:solidFill>
                <a:latin typeface="DejaVu Sans"/>
                <a:ea typeface="DejaVu Sans"/>
                <a:cs typeface="DejaVu Sans"/>
              </a:defRPr>
            </a:pPr>
            <a:r>
              <a:rPr sz="3375" b="1">
                <a:solidFill>
                  <a:srgbClr val="101C42"/>
                </a:solidFill>
                <a:latin typeface="DejaVu Sans"/>
                <a:ea typeface="DejaVu Sans"/>
                <a:cs typeface="DejaVu Sans"/>
              </a:rPr>
              <a:t>visible par l’équipe</a:t>
            </a:r>
          </a:p>
        </p:txBody>
      </p:sp>
      <p:sp>
        <p:nvSpPr>
          <p:cNvPr id="9" name="">
            <a:extLst xmlns:a="http://schemas.openxmlformats.org/drawingml/2006/main">
              <a:ext uri="{FF2B5EF4-FFF2-40B4-BE49-F238E27FC236}">
                <a16:creationId xmlns:a16="http://schemas.microsoft.com/office/drawing/2014/main" id="{513EFC49-FA4E-40D5-A0B2-43C9DE1AC7C3}"/>
              </a:ext>
            </a:extLst>
          </p:cNvPr>
          <p:cNvSpPr>
            <a:spLocks xmlns:a="http://schemas.openxmlformats.org/drawingml/2006/main" noGrp="1"/>
          </p:cNvSpPr>
          <p:nvPr/>
        </p:nvSpPr>
        <p:spPr>
          <a:xfrm xmlns:a="http://schemas.openxmlformats.org/drawingml/2006/main">
            <a:off x="8420100" y="4629150"/>
            <a:ext cx="3114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3377B"/>
                </a:solidFill>
                <a:latin typeface="DejaVu Sans"/>
                <a:ea typeface="DejaVu Sans"/>
                <a:cs typeface="DejaVu Sans"/>
              </a:defRPr>
            </a:pPr>
            <a:r>
              <a:rPr sz="2100" b="1">
                <a:solidFill>
                  <a:srgbClr val="C3377B"/>
                </a:solidFill>
                <a:latin typeface="DejaVu Sans"/>
                <a:ea typeface="DejaVu Sans"/>
                <a:cs typeface="DejaVu Sans"/>
              </a:rPr>
              <a:t>Présence actualisée</a:t>
            </a:r>
          </a:p>
          <a:p xmlns:a="http://schemas.openxmlformats.org/drawingml/2006/main">
            <a:pPr>
              <a:defRPr sz="2100" b="1">
                <a:solidFill>
                  <a:srgbClr val="C3377B"/>
                </a:solidFill>
                <a:latin typeface="DejaVu Sans"/>
                <a:ea typeface="DejaVu Sans"/>
                <a:cs typeface="DejaVu Sans"/>
              </a:defRPr>
            </a:pPr>
            <a:r>
              <a:rPr sz="2100" b="1">
                <a:solidFill>
                  <a:srgbClr val="C3377B"/>
                </a:solidFill>
                <a:latin typeface="DejaVu Sans"/>
                <a:ea typeface="DejaVu Sans"/>
                <a:cs typeface="DejaVu Sans"/>
              </a:rPr>
              <a:t>automatiquement</a:t>
            </a:r>
          </a:p>
        </p:txBody>
      </p:sp>
    </p:spTree>
    <p:extLst>
      <p:ext uri="{BB962C8B-B14F-4D97-AF65-F5344CB8AC3E}">
        <p14:creationId xmlns:p14="http://schemas.microsoft.com/office/powerpoint/2010/main" val="561169085"/>
      </p:ext>
    </p:extLst>
  </p:cSld>
</p:sld>
</file>

<file path=ppt/slides/slide11.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EF4BED-FF01-4024-8B0F-1330B97156CD}"/>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MISE EN SERVICE</a:t>
            </a:r>
          </a:p>
        </p:txBody>
      </p:sp>
      <p:sp>
        <p:nvSpPr>
          <p:cNvPr id="2" name="">
            <a:extLst xmlns:a="http://schemas.openxmlformats.org/drawingml/2006/main">
              <a:ext uri="{FF2B5EF4-FFF2-40B4-BE49-F238E27FC236}">
                <a16:creationId xmlns:a16="http://schemas.microsoft.com/office/drawing/2014/main" id="{85309251-E191-47BC-BB6E-27A9026E84AC}"/>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Les conditions d’utilisation</a:t>
            </a:r>
          </a:p>
        </p:txBody>
      </p:sp>
      <p:sp>
        <p:nvSpPr>
          <p:cNvPr id="3" name="">
            <a:extLst xmlns:a="http://schemas.openxmlformats.org/drawingml/2006/main">
              <a:ext uri="{FF2B5EF4-FFF2-40B4-BE49-F238E27FC236}">
                <a16:creationId xmlns:a16="http://schemas.microsoft.com/office/drawing/2014/main" id="{3C2A4DE0-8083-4B0A-BAD7-71EE66888594}"/>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11</a:t>
            </a:r>
          </a:p>
        </p:txBody>
      </p:sp>
      <p:graphicFrame>
        <p:nvGraphicFramePr>
          <p:cNvPr id="9" name=""/>
          <p:cNvGraphicFramePr/>
          <p:nvPr/>
        </p:nvGraphicFramePr>
        <p:xfrm>
          <a:off xmlns:a="http://schemas.openxmlformats.org/drawingml/2006/main" x="609600" y="2209800"/>
          <a:ext xmlns:a="http://schemas.openxmlformats.org/drawingml/2006/main" cx="10972800" cy="3048000"/>
        </p:xfrm>
        <a:graphic xmlns:a="http://schemas.openxmlformats.org/drawingml/2006/main">
          <a:graphicData uri="http://schemas.openxmlformats.org/drawingml/2006/table">
            <a:tbl>
              <a:tblPr/>
              <a:tblGrid>
                <a:gridCol w="5276850"/>
                <a:gridCol w="5695950"/>
              </a:tblGrid>
              <a:tr h="609600">
                <a:tc>
                  <a:txBody>
                    <a:bodyPr/>
                    <a:lstStyle/>
                    <a:p>
                      <a:r>
                        <a:rPr sz="1725" b="1">
                          <a:solidFill>
                            <a:srgbClr val="FFFFFF"/>
                          </a:solidFill>
                          <a:latin typeface="DejaVu Sans"/>
                          <a:ea typeface="DejaVu Sans"/>
                          <a:cs typeface="DejaVu Sans"/>
                        </a:rPr>
                        <a:t>Sur le poste</a:t>
                      </a:r>
                    </a:p>
                  </a:txBody>
                  <a:tcPr marL="91440" marR="91440" marT="45720" marB="45720">
                    <a:solidFill>
                      <a:srgbClr val="101C42"/>
                    </a:solidFill>
                  </a:tcPr>
                </a:tc>
                <a:tc>
                  <a:txBody>
                    <a:bodyPr/>
                    <a:lstStyle/>
                    <a:p>
                      <a:r>
                        <a:rPr sz="1725" b="1">
                          <a:solidFill>
                            <a:srgbClr val="FFFFFF"/>
                          </a:solidFill>
                          <a:latin typeface="DejaVu Sans"/>
                          <a:ea typeface="DejaVu Sans"/>
                          <a:cs typeface="DejaVu Sans"/>
                        </a:rPr>
                        <a:t>Pour l’utilisation</a:t>
                      </a:r>
                    </a:p>
                  </a:txBody>
                  <a:tcPr marL="91440" marR="91440" marT="45720" marB="45720">
                    <a:solidFill>
                      <a:srgbClr val="101C42"/>
                    </a:solidFill>
                  </a:tcPr>
                </a:tc>
              </a:tr>
              <a:tr h="609600">
                <a:tc>
                  <a:txBody>
                    <a:bodyPr/>
                    <a:lstStyle/>
                    <a:p>
                      <a:r>
                        <a:rPr sz="1725" b="0">
                          <a:solidFill>
                            <a:srgbClr val="17264C"/>
                          </a:solidFill>
                          <a:latin typeface="DejaVu Sans"/>
                          <a:ea typeface="DejaVu Sans"/>
                          <a:cs typeface="DejaVu Sans"/>
                        </a:rPr>
                        <a:t>Session Windows individuelle</a:t>
                      </a:r>
                    </a:p>
                  </a:txBody>
                  <a:tcPr marL="91440" marR="91440" marT="45720" marB="45720">
                    <a:solidFill>
                      <a:srgbClr val="FFFFFF"/>
                    </a:solidFill>
                  </a:tcPr>
                </a:tc>
                <a:tc>
                  <a:txBody>
                    <a:bodyPr/>
                    <a:lstStyle/>
                    <a:p>
                      <a:r>
                        <a:rPr sz="1725" b="0">
                          <a:solidFill>
                            <a:srgbClr val="17264C"/>
                          </a:solidFill>
                          <a:latin typeface="DejaVu Sans"/>
                          <a:ea typeface="DejaVu Sans"/>
                          <a:cs typeface="DejaVu Sans"/>
                        </a:rPr>
                        <a:t>Identifier chaque collaborateur</a:t>
                      </a:r>
                    </a:p>
                  </a:txBody>
                  <a:tcPr marL="91440" marR="91440" marT="45720" marB="45720">
                    <a:solidFill>
                      <a:srgbClr val="FFFFFF"/>
                    </a:solidFill>
                  </a:tcPr>
                </a:tc>
              </a:tr>
              <a:tr h="609600">
                <a:tc>
                  <a:txBody>
                    <a:bodyPr/>
                    <a:lstStyle/>
                    <a:p>
                      <a:r>
                        <a:rPr sz="1725" b="0">
                          <a:solidFill>
                            <a:srgbClr val="17264C"/>
                          </a:solidFill>
                          <a:latin typeface="DejaVu Sans"/>
                          <a:ea typeface="DejaVu Sans"/>
                          <a:cs typeface="DejaVu Sans"/>
                        </a:rPr>
                        <a:t>Dossier partagé accessible</a:t>
                      </a:r>
                    </a:p>
                  </a:txBody>
                  <a:tcPr marL="91440" marR="91440" marT="45720" marB="45720">
                    <a:solidFill>
                      <a:srgbClr val="EEF1F8"/>
                    </a:solidFill>
                  </a:tcPr>
                </a:tc>
                <a:tc>
                  <a:txBody>
                    <a:bodyPr/>
                    <a:lstStyle/>
                    <a:p>
                      <a:r>
                        <a:rPr sz="1725" b="0">
                          <a:solidFill>
                            <a:srgbClr val="17264C"/>
                          </a:solidFill>
                          <a:latin typeface="DejaVu Sans"/>
                          <a:ea typeface="DejaVu Sans"/>
                          <a:cs typeface="DejaVu Sans"/>
                        </a:rPr>
                        <a:t>Lire et enregistrer les traitements</a:t>
                      </a:r>
                    </a:p>
                  </a:txBody>
                  <a:tcPr marL="91440" marR="91440" marT="45720" marB="45720">
                    <a:solidFill>
                      <a:srgbClr val="EEF1F8"/>
                    </a:solidFill>
                  </a:tcPr>
                </a:tc>
              </a:tr>
              <a:tr h="609600">
                <a:tc>
                  <a:txBody>
                    <a:bodyPr/>
                    <a:lstStyle/>
                    <a:p>
                      <a:r>
                        <a:rPr sz="1725" b="0">
                          <a:solidFill>
                            <a:srgbClr val="17264C"/>
                          </a:solidFill>
                          <a:latin typeface="DejaVu Sans"/>
                          <a:ea typeface="DejaVu Sans"/>
                          <a:cs typeface="DejaVu Sans"/>
                        </a:rPr>
                        <a:t>Lancement local autorisé</a:t>
                      </a:r>
                    </a:p>
                  </a:txBody>
                  <a:tcPr marL="91440" marR="91440" marT="45720" marB="45720">
                    <a:solidFill>
                      <a:srgbClr val="FFFFFF"/>
                    </a:solidFill>
                  </a:tcPr>
                </a:tc>
                <a:tc>
                  <a:txBody>
                    <a:bodyPr/>
                    <a:lstStyle/>
                    <a:p>
                      <a:r>
                        <a:rPr sz="1725" b="0">
                          <a:solidFill>
                            <a:srgbClr val="17264C"/>
                          </a:solidFill>
                          <a:latin typeface="DejaVu Sans"/>
                          <a:ea typeface="DejaVu Sans"/>
                          <a:cs typeface="DejaVu Sans"/>
                        </a:rPr>
                        <a:t>Ouvrir l’interface avec les scripts fournis</a:t>
                      </a:r>
                    </a:p>
                  </a:txBody>
                  <a:tcPr marL="91440" marR="91440" marT="45720" marB="45720">
                    <a:solidFill>
                      <a:srgbClr val="FFFFFF"/>
                    </a:solidFill>
                  </a:tcPr>
                </a:tc>
              </a:tr>
              <a:tr h="609600">
                <a:tc>
                  <a:txBody>
                    <a:bodyPr/>
                    <a:lstStyle/>
                    <a:p>
                      <a:r>
                        <a:rPr sz="1725" b="0">
                          <a:solidFill>
                            <a:srgbClr val="17264C"/>
                          </a:solidFill>
                          <a:latin typeface="DejaVu Sans"/>
                          <a:ea typeface="DejaVu Sans"/>
                          <a:cs typeface="DejaVu Sans"/>
                        </a:rPr>
                        <a:t>Outlook classique configuré</a:t>
                      </a:r>
                    </a:p>
                  </a:txBody>
                  <a:tcPr marL="91440" marR="91440" marT="45720" marB="45720">
                    <a:solidFill>
                      <a:srgbClr val="EEF1F8"/>
                    </a:solidFill>
                  </a:tcPr>
                </a:tc>
                <a:tc>
                  <a:txBody>
                    <a:bodyPr/>
                    <a:lstStyle/>
                    <a:p>
                      <a:r>
                        <a:rPr sz="1725" b="0">
                          <a:solidFill>
                            <a:srgbClr val="17264C"/>
                          </a:solidFill>
                          <a:latin typeface="DejaVu Sans"/>
                          <a:ea typeface="DejaVu Sans"/>
                          <a:cs typeface="DejaVu Sans"/>
                        </a:rPr>
                        <a:t>Accéder à la boîte et aux dossiers autorisés</a:t>
                      </a:r>
                    </a:p>
                  </a:txBody>
                  <a:tcPr marL="91440" marR="91440" marT="45720" marB="45720">
                    <a:solidFill>
                      <a:srgbClr val="EEF1F8"/>
                    </a:solidFill>
                  </a:tcPr>
                </a:tc>
              </a:tr>
            </a:tbl>
          </a:graphicData>
        </a:graphic>
      </p:graphicFrame>
      <p:sp>
        <p:nvSpPr>
          <p:cNvPr id="5" name="">
            <a:extLst xmlns:a="http://schemas.openxmlformats.org/drawingml/2006/main">
              <a:ext uri="{FF2B5EF4-FFF2-40B4-BE49-F238E27FC236}">
                <a16:creationId xmlns:a16="http://schemas.microsoft.com/office/drawing/2014/main" id="{7F2C5B02-6425-49C4-9E5B-E5DF52A16A58}"/>
              </a:ext>
            </a:extLst>
          </p:cNvPr>
          <p:cNvSpPr>
            <a:spLocks xmlns:a="http://schemas.openxmlformats.org/drawingml/2006/main" noGrp="1"/>
          </p:cNvSpPr>
          <p:nvPr/>
        </p:nvSpPr>
        <p:spPr>
          <a:xfrm xmlns:a="http://schemas.openxmlformats.org/drawingml/2006/main">
            <a:off x="647700" y="57721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3708A"/>
                </a:solidFill>
                <a:latin typeface="DejaVu Sans"/>
                <a:ea typeface="DejaVu Sans"/>
                <a:cs typeface="DejaVu Sans"/>
              </a:defRPr>
            </a:pPr>
            <a:r>
              <a:rPr sz="1725" b="0">
                <a:solidFill>
                  <a:srgbClr val="63708A"/>
                </a:solidFill>
                <a:latin typeface="DejaVu Sans"/>
                <a:ea typeface="DejaVu Sans"/>
                <a:cs typeface="DejaVu Sans"/>
              </a:rPr>
              <a:t>La messagerie utilise les droits Outlook déjà accordés à chaque utilisateur.</a:t>
            </a:r>
          </a:p>
        </p:txBody>
      </p:sp>
    </p:spTree>
    <p:extLst>
      <p:ext uri="{BB962C8B-B14F-4D97-AF65-F5344CB8AC3E}">
        <p14:creationId xmlns:p14="http://schemas.microsoft.com/office/powerpoint/2010/main" val="1056322787"/>
      </p:ext>
    </p:extLst>
  </p:cSld>
</p:sld>
</file>

<file path=ppt/slides/slide12.xml><?xml version="1.0" encoding="utf-8"?>
<p:sld xmlns:p="http://schemas.openxmlformats.org/presentationml/2006/main">
  <p:cSld>
    <p:bg>
      <p:bgPr>
        <a:solidFill xmlns:a="http://schemas.openxmlformats.org/drawingml/2006/main">
          <a:srgbClr val="101C4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0265fcbd2934ff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D2A73CE-5785-4C1D-AFED-7903DB596CBE}"/>
              </a:ext>
            </a:extLst>
          </p:cNvPr>
          <p:cNvSpPr>
            <a:spLocks xmlns:a="http://schemas.openxmlformats.org/drawingml/2006/main" noGrp="1"/>
          </p:cNvSpPr>
          <p:nvPr/>
        </p:nvSpPr>
        <p:spPr>
          <a:xfrm xmlns:a="http://schemas.openxmlformats.org/drawingml/2006/main">
            <a:off x="609600" y="1266825"/>
            <a:ext cx="68103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Un cadre commun</a:t>
            </a:r>
          </a:p>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pour suivre l’activité</a:t>
            </a:r>
          </a:p>
        </p:txBody>
      </p:sp>
      <p:sp>
        <p:nvSpPr>
          <p:cNvPr id="3" name="">
            <a:extLst xmlns:a="http://schemas.openxmlformats.org/drawingml/2006/main">
              <a:ext uri="{FF2B5EF4-FFF2-40B4-BE49-F238E27FC236}">
                <a16:creationId xmlns:a16="http://schemas.microsoft.com/office/drawing/2014/main" id="{F4298EA6-CEC8-4C9E-BE19-E0FD6C5AAB51}"/>
              </a:ext>
            </a:extLst>
          </p:cNvPr>
          <p:cNvSpPr>
            <a:spLocks xmlns:a="http://schemas.openxmlformats.org/drawingml/2006/main" noGrp="1"/>
          </p:cNvSpPr>
          <p:nvPr/>
        </p:nvSpPr>
        <p:spPr>
          <a:xfrm xmlns:a="http://schemas.openxmlformats.org/drawingml/2006/main">
            <a:off x="647700" y="3295650"/>
            <a:ext cx="6067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Pour les collaborateurs</a:t>
            </a:r>
          </a:p>
        </p:txBody>
      </p:sp>
      <p:sp>
        <p:nvSpPr>
          <p:cNvPr id="4" name="">
            <a:extLst xmlns:a="http://schemas.openxmlformats.org/drawingml/2006/main">
              <a:ext uri="{FF2B5EF4-FFF2-40B4-BE49-F238E27FC236}">
                <a16:creationId xmlns:a16="http://schemas.microsoft.com/office/drawing/2014/main" id="{1F5B118C-933B-4ED3-96CD-233DC1280C23}"/>
              </a:ext>
            </a:extLst>
          </p:cNvPr>
          <p:cNvSpPr>
            <a:spLocks xmlns:a="http://schemas.openxmlformats.org/drawingml/2006/main" noGrp="1"/>
          </p:cNvSpPr>
          <p:nvPr/>
        </p:nvSpPr>
        <p:spPr>
          <a:xfrm xmlns:a="http://schemas.openxmlformats.org/drawingml/2006/main">
            <a:off x="647700" y="3838575"/>
            <a:ext cx="571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BC7EE"/>
                </a:solidFill>
                <a:latin typeface="DejaVu Sans"/>
                <a:ea typeface="DejaVu Sans"/>
                <a:cs typeface="DejaVu Sans"/>
              </a:defRPr>
            </a:pPr>
            <a:r>
              <a:rPr sz="1875" b="0">
                <a:solidFill>
                  <a:srgbClr val="BBC7EE"/>
                </a:solidFill>
                <a:latin typeface="DejaVu Sans"/>
                <a:ea typeface="DejaVu Sans"/>
                <a:cs typeface="DejaVu Sans"/>
              </a:rPr>
              <a:t>Un parcours clair et un historique accessible.</a:t>
            </a:r>
          </a:p>
        </p:txBody>
      </p:sp>
      <p:sp>
        <p:nvSpPr>
          <p:cNvPr id="5" name="">
            <a:extLst xmlns:a="http://schemas.openxmlformats.org/drawingml/2006/main">
              <a:ext uri="{FF2B5EF4-FFF2-40B4-BE49-F238E27FC236}">
                <a16:creationId xmlns:a16="http://schemas.microsoft.com/office/drawing/2014/main" id="{54028A2E-090B-4822-9881-196DB8F88F02}"/>
              </a:ext>
            </a:extLst>
          </p:cNvPr>
          <p:cNvSpPr>
            <a:spLocks xmlns:a="http://schemas.openxmlformats.org/drawingml/2006/main" noGrp="1"/>
          </p:cNvSpPr>
          <p:nvPr/>
        </p:nvSpPr>
        <p:spPr>
          <a:xfrm xmlns:a="http://schemas.openxmlformats.org/drawingml/2006/main">
            <a:off x="647700" y="4629150"/>
            <a:ext cx="600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Pour le management</a:t>
            </a:r>
          </a:p>
        </p:txBody>
      </p:sp>
      <p:sp>
        <p:nvSpPr>
          <p:cNvPr id="6" name="">
            <a:extLst xmlns:a="http://schemas.openxmlformats.org/drawingml/2006/main">
              <a:ext uri="{FF2B5EF4-FFF2-40B4-BE49-F238E27FC236}">
                <a16:creationId xmlns:a16="http://schemas.microsoft.com/office/drawing/2014/main" id="{F81AAB0C-3DC5-447D-81CB-1A7B85DFF926}"/>
              </a:ext>
            </a:extLst>
          </p:cNvPr>
          <p:cNvSpPr>
            <a:spLocks xmlns:a="http://schemas.openxmlformats.org/drawingml/2006/main" noGrp="1"/>
          </p:cNvSpPr>
          <p:nvPr/>
        </p:nvSpPr>
        <p:spPr>
          <a:xfrm xmlns:a="http://schemas.openxmlformats.org/drawingml/2006/main">
            <a:off x="647700" y="5153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BC7EE"/>
                </a:solidFill>
                <a:latin typeface="DejaVu Sans"/>
                <a:ea typeface="DejaVu Sans"/>
                <a:cs typeface="DejaVu Sans"/>
              </a:defRPr>
            </a:pPr>
            <a:r>
              <a:rPr sz="1875" b="0">
                <a:solidFill>
                  <a:srgbClr val="BBC7EE"/>
                </a:solidFill>
                <a:latin typeface="DejaVu Sans"/>
                <a:ea typeface="DejaVu Sans"/>
                <a:cs typeface="DejaVu Sans"/>
              </a:rPr>
              <a:t>Une vue consolidée</a:t>
            </a:r>
          </a:p>
          <a:p xmlns:a="http://schemas.openxmlformats.org/drawingml/2006/main">
            <a:pPr>
              <a:defRPr sz="1875" b="0">
                <a:solidFill>
                  <a:srgbClr val="BBC7EE"/>
                </a:solidFill>
                <a:latin typeface="DejaVu Sans"/>
                <a:ea typeface="DejaVu Sans"/>
                <a:cs typeface="DejaVu Sans"/>
              </a:defRPr>
            </a:pPr>
            <a:r>
              <a:rPr sz="1875" b="0">
                <a:solidFill>
                  <a:srgbClr val="BBC7EE"/>
                </a:solidFill>
                <a:latin typeface="DejaVu Sans"/>
                <a:ea typeface="DejaVu Sans"/>
                <a:cs typeface="DejaVu Sans"/>
              </a:rPr>
              <a:t>pour orienter le suivi.</a:t>
            </a:r>
          </a:p>
        </p:txBody>
      </p:sp>
    </p:spTree>
    <p:extLst>
      <p:ext uri="{BB962C8B-B14F-4D97-AF65-F5344CB8AC3E}">
        <p14:creationId xmlns:p14="http://schemas.microsoft.com/office/powerpoint/2010/main" val="9657237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2026-09-24T20:03:59.8000000Z</dcterms:created>
  <dcterms:modified xsi:type="dcterms:W3CDTF">2026-09-24T20:03:59.8000000Z</dcterms:modified>
</coreProperties>
</file>