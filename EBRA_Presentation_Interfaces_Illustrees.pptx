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a20466c02e54810" /><Relationship Type="http://schemas.openxmlformats.org/officeDocument/2006/relationships/extended-properties" Target="/docProps/app.xml" Id="R9607de89e0074278" /><Relationship Type="http://schemas.openxmlformats.org/officeDocument/2006/relationships/officeDocument" Target="/ppt/presentation.xml" Id="R397968c3ac64430a" /></Relationships>
</file>

<file path=ppt/presentation.xml><?xml version="1.0" encoding="utf-8"?>
<p:presentation xmlns:p="http://schemas.openxmlformats.org/presentationml/2006/main">
  <p:sldMasterIdLst>
    <p:sldMasterId xmlns:r="http://schemas.openxmlformats.org/officeDocument/2006/relationships" id="2147483648" r:id="R081b3f9115d046f3"/>
  </p:sldMasterIdLst>
  <p:notesMasterIdLst>
    <p:notesMasterId xmlns:r="http://schemas.openxmlformats.org/officeDocument/2006/relationships" r:id="R261748d0242e4008"/>
  </p:notesMasterIdLst>
  <p:sldIdLst>
    <p:sldId xmlns:r="http://schemas.openxmlformats.org/officeDocument/2006/relationships" id="256" r:id="R8b6454fc33fd42fc"/>
    <p:sldId xmlns:r="http://schemas.openxmlformats.org/officeDocument/2006/relationships" id="257" r:id="Rdc62e198c264457e"/>
    <p:sldId xmlns:r="http://schemas.openxmlformats.org/officeDocument/2006/relationships" id="258" r:id="Rb3e00777224948f8"/>
    <p:sldId xmlns:r="http://schemas.openxmlformats.org/officeDocument/2006/relationships" id="259" r:id="R8bd2951362874342"/>
    <p:sldId xmlns:r="http://schemas.openxmlformats.org/officeDocument/2006/relationships" id="260" r:id="Rb1f964155e274b2c"/>
    <p:sldId xmlns:r="http://schemas.openxmlformats.org/officeDocument/2006/relationships" id="261" r:id="Rc0dfd63b4e4a4900"/>
    <p:sldId xmlns:r="http://schemas.openxmlformats.org/officeDocument/2006/relationships" id="262" r:id="R8187c4f8ed204add"/>
    <p:sldId xmlns:r="http://schemas.openxmlformats.org/officeDocument/2006/relationships" id="263" r:id="R08b0b1990a424d23"/>
    <p:sldId xmlns:r="http://schemas.openxmlformats.org/officeDocument/2006/relationships" id="264" r:id="R5b844ed6b91e498f"/>
    <p:sldId xmlns:r="http://schemas.openxmlformats.org/officeDocument/2006/relationships" id="265" r:id="Reb78857978054cbb"/>
    <p:sldId xmlns:r="http://schemas.openxmlformats.org/officeDocument/2006/relationships" id="266" r:id="R156e43035e10462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4d1f023a9884ee4" /><Relationship Type="http://schemas.openxmlformats.org/officeDocument/2006/relationships/slideMaster" Target="/ppt/slideMasters/slideMaster1.xml" Id="R081b3f9115d046f3" /><Relationship Type="http://schemas.openxmlformats.org/officeDocument/2006/relationships/notesMaster" Target="/ppt/notesMasters/notesMaster1.xml" Id="R261748d0242e4008" /><Relationship Type="http://schemas.openxmlformats.org/officeDocument/2006/relationships/presProps" Target="/ppt/presProps.xml" Id="R326fc51117934bd8" /><Relationship Type="http://schemas.openxmlformats.org/officeDocument/2006/relationships/tableStyles" Target="/ppt/tableStyles.xml" Id="R564817bc68e847ba" /><Relationship Type="http://schemas.openxmlformats.org/officeDocument/2006/relationships/slide" Target="/ppt/slides/slide1.xml" Id="R8b6454fc33fd42fc" /><Relationship Type="http://schemas.openxmlformats.org/officeDocument/2006/relationships/slide" Target="/ppt/slides/slide2.xml" Id="Rdc62e198c264457e" /><Relationship Type="http://schemas.openxmlformats.org/officeDocument/2006/relationships/slide" Target="/ppt/slides/slide3.xml" Id="Rb3e00777224948f8" /><Relationship Type="http://schemas.openxmlformats.org/officeDocument/2006/relationships/slide" Target="/ppt/slides/slide4.xml" Id="R8bd2951362874342" /><Relationship Type="http://schemas.openxmlformats.org/officeDocument/2006/relationships/slide" Target="/ppt/slides/slide5.xml" Id="Rb1f964155e274b2c" /><Relationship Type="http://schemas.openxmlformats.org/officeDocument/2006/relationships/slide" Target="/ppt/slides/slide6.xml" Id="Rc0dfd63b4e4a4900" /><Relationship Type="http://schemas.openxmlformats.org/officeDocument/2006/relationships/slide" Target="/ppt/slides/slide7.xml" Id="R8187c4f8ed204add" /><Relationship Type="http://schemas.openxmlformats.org/officeDocument/2006/relationships/slide" Target="/ppt/slides/slide8.xml" Id="R08b0b1990a424d23" /><Relationship Type="http://schemas.openxmlformats.org/officeDocument/2006/relationships/slide" Target="/ppt/slides/slide9.xml" Id="R5b844ed6b91e498f" /><Relationship Type="http://schemas.openxmlformats.org/officeDocument/2006/relationships/slide" Target="/ppt/slides/slide10.xml" Id="Reb78857978054cbb" /><Relationship Type="http://schemas.openxmlformats.org/officeDocument/2006/relationships/slide" Target="/ppt/slides/slide11.xml" Id="R156e43035e1046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900a28683dc4b0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7ddcdbd83240c8" /><Relationship Type="http://schemas.openxmlformats.org/officeDocument/2006/relationships/notesMaster" Target="/ppt/notesMasters/notesMaster1.xml" Id="R39f4c4dc06e34b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4e18c44c7bfc40ff" /><Relationship Type="http://schemas.openxmlformats.org/officeDocument/2006/relationships/notesMaster" Target="/ppt/notesMasters/notesMaster1.xml" Id="R3e323c21895141cb" /></Relationships>
</file>

<file path=ppt/notesSlides/_rels/notesSlide3.xml.rels>&#65279;<?xml version="1.0" encoding="utf-8"?><Relationships xmlns="http://schemas.openxmlformats.org/package/2006/relationships"><Relationship Type="http://schemas.openxmlformats.org/officeDocument/2006/relationships/slide" Target="/ppt/slides/slide3.xml" Id="Rc33de478af9e4664" /><Relationship Type="http://schemas.openxmlformats.org/officeDocument/2006/relationships/notesMaster" Target="/ppt/notesMasters/notesMaster1.xml" Id="Raca36b068c5c4a88" /></Relationships>
</file>

<file path=ppt/notesSlides/_rels/notesSlide4.xml.rels>&#65279;<?xml version="1.0" encoding="utf-8"?><Relationships xmlns="http://schemas.openxmlformats.org/package/2006/relationships"><Relationship Type="http://schemas.openxmlformats.org/officeDocument/2006/relationships/slide" Target="/ppt/slides/slide4.xml" Id="Raebc3104a9174b12" /><Relationship Type="http://schemas.openxmlformats.org/officeDocument/2006/relationships/notesMaster" Target="/ppt/notesMasters/notesMaster1.xml" Id="Raeb5c1f548eb47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31789cbd8d4339" /><Relationship Type="http://schemas.openxmlformats.org/officeDocument/2006/relationships/notesMaster" Target="/ppt/notesMasters/notesMaster1.xml" Id="R945adfdf9fbf4179" /></Relationships>
</file>

<file path=ppt/notesSlides/_rels/notesSlide6.xml.rels>&#65279;<?xml version="1.0" encoding="utf-8"?><Relationships xmlns="http://schemas.openxmlformats.org/package/2006/relationships"><Relationship Type="http://schemas.openxmlformats.org/officeDocument/2006/relationships/slide" Target="/ppt/slides/slide6.xml" Id="Ra9ea65832e3b4e34" /><Relationship Type="http://schemas.openxmlformats.org/officeDocument/2006/relationships/notesMaster" Target="/ppt/notesMasters/notesMaster1.xml" Id="Re7890fa5fc2d48aa" /></Relationships>
</file>

<file path=ppt/notesSlides/_rels/notesSlide7.xml.rels>&#65279;<?xml version="1.0" encoding="utf-8"?><Relationships xmlns="http://schemas.openxmlformats.org/package/2006/relationships"><Relationship Type="http://schemas.openxmlformats.org/officeDocument/2006/relationships/slide" Target="/ppt/slides/slide7.xml" Id="R65f7d5b78b594083" /><Relationship Type="http://schemas.openxmlformats.org/officeDocument/2006/relationships/notesMaster" Target="/ppt/notesMasters/notesMaster1.xml" Id="R105410ee5a1548f9" /></Relationships>
</file>

<file path=ppt/notesSlides/_rels/notesSlide8.xml.rels>&#65279;<?xml version="1.0" encoding="utf-8"?><Relationships xmlns="http://schemas.openxmlformats.org/package/2006/relationships"><Relationship Type="http://schemas.openxmlformats.org/officeDocument/2006/relationships/slide" Target="/ppt/slides/slide8.xml" Id="Rb03d87a7c72b4d48" /><Relationship Type="http://schemas.openxmlformats.org/officeDocument/2006/relationships/notesMaster" Target="/ppt/notesMasters/notesMaster1.xml" Id="R371b0edec74e4e7c" /></Relationships>
</file>

<file path=ppt/notesSlides/_rels/notesSlide9.xml.rels>&#65279;<?xml version="1.0" encoding="utf-8"?><Relationships xmlns="http://schemas.openxmlformats.org/package/2006/relationships"><Relationship Type="http://schemas.openxmlformats.org/officeDocument/2006/relationships/slide" Target="/ppt/slides/slide9.xml" Id="R683425fa6aed4fba" /><Relationship Type="http://schemas.openxmlformats.org/officeDocument/2006/relationships/notesMaster" Target="/ppt/notesMasters/notesMaster1.xml" Id="R5b90125b850e4aa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09a70d8b5ae41a7" /><Relationship Type="http://schemas.openxmlformats.org/officeDocument/2006/relationships/notesMaster" Target="/ppt/notesMasters/notesMaster1.xml" Id="R55adb883446d488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81ee09158294b4a" /><Relationship Type="http://schemas.openxmlformats.org/officeDocument/2006/relationships/notesMaster" Target="/ppt/notesMasters/notesMaster1.xml" Id="R0bf852cb2fa54a3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Ouverture proposée : EBRA Press Service regroupe la saisie des interventions et leur suivi par le management. Cette présentation couvre le périmètre fonctionnel du projet fourni. Visuel de couverture abstrait créé pour cette présentation, sans représentation d’une interface réelle.</a:t>
            </a:r>
          </a:p>
          <a:p xmlns:a="http://schemas.openxmlformats.org/drawingml/2006/main">
            <a:r>
              <a:t/>
            </a:r>
          </a:p>
          <a:p xmlns:a="http://schemas.openxmlformats.org/drawingml/2006/main">
            <a:r>
              <a:t>Source : projet EBRA-Agent-et-Manager-v3.6.4-Presence-Stable.zip fourni par l’utilisateur.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Intention de l’outil : rendre les demandes et leurs étapes visibles dans un registre partagé. Les bénéfices présentés sont attendus, sans estimation de gains. Sources : formulaires Agent, vues Manager et fichiers LIRE-MOI.</a:t>
            </a:r>
          </a:p>
          <a:p xmlns:a="http://schemas.openxmlformats.org/drawingml/2006/main">
            <a:r>
              <a:t/>
            </a:r>
          </a:p>
          <a:p xmlns:a="http://schemas.openxmlformats.org/drawingml/2006/main">
            <a:r>
              <a:t>Source : projet EBRA-Agent-et-Manager-v3.6.4-Presence-Stable.zip fourni par l’utilisateur.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Collaborateur suit ses interventions. Le Manager consolide les données accessibles depuis ses sources. La version 3.6.4 autorise chaque agent à modifier et valider ses propres lignes. Sources : web/app.js et fonctions update/validate des deux serveurs.</a:t>
            </a:r>
          </a:p>
          <a:p xmlns:a="http://schemas.openxmlformats.org/drawingml/2006/main">
            <a:r>
              <a:t/>
            </a:r>
          </a:p>
          <a:p xmlns:a="http://schemas.openxmlformats.org/drawingml/2006/main">
            <a:r>
              <a:t>Source : projet EBRA-Agent-et-Manager-v3.6.4-Presence-Stable.zip fourni par l’utilisateur.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listes du projet proposent trois origines, onze types et neuf titres de presse. Type, origine et titre sont requis lors d’un lancement manuel. Les références client et le numéro d’ordre sont libres. Sources : web/index.html Agent et Manager.</a:t>
            </a:r>
          </a:p>
          <a:p xmlns:a="http://schemas.openxmlformats.org/drawingml/2006/main">
            <a:r>
              <a:t/>
            </a:r>
          </a:p>
          <a:p xmlns:a="http://schemas.openxmlformats.org/drawingml/2006/main">
            <a:r>
              <a:t>Source : projet EBRA-Agent-et-Manager-v3.6.4-Presence-Stable.zip fourni par l’utilisateur.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Déroulé à expliquer : qualifier la demande, lancer le traitement, réaliser l’intervention puis clôturer avec un commentaire. L’outil conserve la date de début et la date de fin et calcule la durée. Une seule intervention peut être active par collaborateur. Sources : Agent web/app.js et serverr.ps1.</a:t>
            </a:r>
          </a:p>
          <a:p xmlns:a="http://schemas.openxmlformats.org/drawingml/2006/main">
            <a:r>
              <a:t/>
            </a:r>
          </a:p>
          <a:p xmlns:a="http://schemas.openxmlformats.org/drawingml/2006/main">
            <a:r>
              <a:t>Source : projet EBRA-Agent-et-Manager-v3.6.4-Presence-Stable.zip fourni par l’utilisateur.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actions Ouvrir, Répondre et Transférer utilisent les fenêtres Outlook classiques. Le journal trace l’ouverture de la fenêtre de réponse, ce qui ne prouve pas l’envoi du mail. Une prise en charge crée un traitement Back. La clôture exige le déplacement du mail. Sources : outlook.ps1, mail.js et serverr.ps1.</a:t>
            </a:r>
          </a:p>
          <a:p xmlns:a="http://schemas.openxmlformats.org/drawingml/2006/main">
            <a:r>
              <a:t/>
            </a:r>
          </a:p>
          <a:p xmlns:a="http://schemas.openxmlformats.org/drawingml/2006/main">
            <a:r>
              <a:t>Source : projet EBRA-Agent-et-Manager-v3.6.4-Presence-Stable.zip fourni par l’utilisateur.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volumes dépendent de la sélection filtrée. La DMT moyenne du Manager utilise les traitements terminés avec une durée numérique. Les graphiques ventilent les traitements par origine, collaborateur et titre. La tendance journalière couvre les quatorze derniers jours. Sources : Manager web/app.js, fonctions mean, filtered et renderDashboard.</a:t>
            </a:r>
          </a:p>
          <a:p xmlns:a="http://schemas.openxmlformats.org/drawingml/2006/main">
            <a:r>
              <a:t/>
            </a:r>
          </a:p>
          <a:p xmlns:a="http://schemas.openxmlformats.org/drawingml/2006/main">
            <a:r>
              <a:t>Source : projet EBRA-Agent-et-Manager-v3.6.4-Presence-Stable.zip fourni par l’utilisateur.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Capture : Agent/Traitement.jpg. Dans Traitement, sélectionner Type, Origine et Titre, puis compléter les références utiles. Cliquer sur Lancer le traitement. Le chronomètre suit la durée écoulée. À la fin, saisir le commentaire et terminer. Dans Historique, rechercher une intervention, filtrer par origine et exporter en JSON. Les actions Modifier et Valider s’appliquent selon les droits de la ligne. La capture fournie montre un agent disponible, sans traitement actif.</a:t>
            </a:r>
          </a:p>
          <a:p xmlns:a="http://schemas.openxmlformats.org/drawingml/2006/main">
            <a:r>
              <a:t/>
            </a:r>
          </a:p>
          <a:p xmlns:a="http://schemas.openxmlformats.org/drawingml/2006/main">
            <a:r>
              <a:t>Source : projet EBRA-Agent-et-Manager-v3.6.4-Presence-Stable.zip fourni par l’utilisateur.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Capture : Agent/Messagerie.jpg. La boîte est vide sur la capture. Sélectionner une boîte autorisée du profil Outlook, un dossier source et un dossier destination, puis Enregistrer. Actualiser et rechercher par expéditeur ou objet. Lorsqu’un mail est visible, Prendre en charge réserve la demande et crée un traitement. Ouvrir, Répondre, Transférer et les pièces jointes s’appuient sur Outlook classique. La clôture déplace le mail. Libérer rend la demande disponible. La Communauté affiche les messages et notifications de l’équipe. Capture complémentaire : Manager/Communauté.jpg.</a:t>
            </a:r>
          </a:p>
          <a:p xmlns:a="http://schemas.openxmlformats.org/drawingml/2006/main">
            <a:r>
              <a:t/>
            </a:r>
          </a:p>
          <a:p xmlns:a="http://schemas.openxmlformats.org/drawingml/2006/main">
            <a:r>
              <a:t>Source : projet EBRA-Agent-et-Manager-v3.6.4-Presence-Stable.zip fourni par l’utilisateur.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Captures : Manager/Vue d’ensemble 1.jpg et Manager/Vue d’ensemble suite.jpg. Les captures ont été prises à des moments différents. Les valeurs illustrent l’interface et ne constituent pas un bilan de production. La vue principale présente les volumes, les états, la DMT et les agents connectés. Les graphiques montrent la tendance quotidienne et la répartition Front/Back/Web. Plus bas figurent les volumes par agent et titre. Dans Collaborateurs, chaque fiche donne les volumes individuels et le bouton Voir les traitements. La présence indique la communication de l’application, pas le temps productif. La DMT est la durée entre prise en charge et fin.</a:t>
            </a:r>
          </a:p>
          <a:p xmlns:a="http://schemas.openxmlformats.org/drawingml/2006/main">
            <a:r>
              <a:t/>
            </a:r>
          </a:p>
          <a:p xmlns:a="http://schemas.openxmlformats.org/drawingml/2006/main">
            <a:r>
              <a:t>Source : projet EBRA-Agent-et-Manager-v3.6.4-Presence-Stable.zip fourni par l’utilisateur.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Captures : Manager/Historique traitement.jpg et Manager/Historique Outlook.jpg. Dans Historique traitements, filtrer par collaborateur, type, statut et plage de dates. Voir ouvre la fiche détaillée pour consulter le commentaire, le journal et les actions disponibles. Une correction annule la validation précédente. Exporter la sélection produit un fichier JSON. Dans Historique Outlook, rechercher un sujet ou un collaborateur et filtrer par profil et type d’action. La capture contient une entrée ancienne sans détail, et non un exemple d’événement complet. La messagerie Manager utilise la même configuration de boîte et dossiers que l’Agent.</a:t>
            </a:r>
          </a:p>
          <a:p xmlns:a="http://schemas.openxmlformats.org/drawingml/2006/main">
            <a:r>
              <a:t/>
            </a:r>
          </a:p>
          <a:p xmlns:a="http://schemas.openxmlformats.org/drawingml/2006/main">
            <a:r>
              <a:t>Source : projet EBRA-Agent-et-Manager-v3.6.4-Presence-Stable.zip fourni par l’utilisateur.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230267d62f4f9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bb3a23388a4a3b" /><Relationship Type="http://schemas.openxmlformats.org/officeDocument/2006/relationships/slideLayout" Target="/ppt/slideLayouts/slideLayout1.xml" Id="Re5da133e7d244a8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5da133e7d244a8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9f9115baa5d4219" /><Relationship Type="http://schemas.openxmlformats.org/officeDocument/2006/relationships/image" Target="/ppt/media/image.png" Id="R48e02c761fbd4b37" /><Relationship Type="http://schemas.openxmlformats.org/officeDocument/2006/relationships/notesSlide" Target="/ppt/notesSlides/notesSlide1.xml" Id="R05dab4bbfeb9473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7182b0631ab41f4" /><Relationship Type="http://schemas.openxmlformats.org/officeDocument/2006/relationships/notesSlide" Target="/ppt/notesSlides/notesSlide2.xml" Id="Rfba5880ef8604a7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17c74e7070b4d3a" /><Relationship Type="http://schemas.openxmlformats.org/officeDocument/2006/relationships/notesSlide" Target="/ppt/notesSlides/notesSlide3.xml" Id="Rad716b48fbc24b8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5d81c48e6554dee" /><Relationship Type="http://schemas.openxmlformats.org/officeDocument/2006/relationships/notesSlide" Target="/ppt/notesSlides/notesSlide4.xml" Id="Re0172dd6627f433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40b2d841b9240e0" /><Relationship Type="http://schemas.openxmlformats.org/officeDocument/2006/relationships/notesSlide" Target="/ppt/notesSlides/notesSlide5.xml" Id="Re8cead6152a443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8ae95dae9b947de" /><Relationship Type="http://schemas.openxmlformats.org/officeDocument/2006/relationships/notesSlide" Target="/ppt/notesSlides/notesSlide6.xml" Id="R80a9228d39bb4b1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a0456d09aa24d3c" /><Relationship Type="http://schemas.openxmlformats.org/officeDocument/2006/relationships/notesSlide" Target="/ppt/notesSlides/notesSlide7.xml" Id="R5e03f8c596ac425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42707ff465544ff" /><Relationship Type="http://schemas.openxmlformats.org/officeDocument/2006/relationships/image" Target="/ppt/media/image2.png" Id="R4754999c351249ae" /><Relationship Type="http://schemas.openxmlformats.org/officeDocument/2006/relationships/notesSlide" Target="/ppt/notesSlides/notesSlide8.xml" Id="Rd072081465ea4f6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98b867e7d8e4ce1" /><Relationship Type="http://schemas.openxmlformats.org/officeDocument/2006/relationships/image" Target="/ppt/media/image3.png" Id="Rf136f3d51d9d4010" /><Relationship Type="http://schemas.openxmlformats.org/officeDocument/2006/relationships/image" Target="/ppt/media/image4.png" Id="Rc135c4d5e5604cff" /><Relationship Type="http://schemas.openxmlformats.org/officeDocument/2006/relationships/notesSlide" Target="/ppt/notesSlides/notesSlide9.xml" Id="R7e10274a0b73498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3c77e12dd7c4c88" /><Relationship Type="http://schemas.openxmlformats.org/officeDocument/2006/relationships/image" Target="/ppt/media/image5.png" Id="R2169d5b2bddf4335" /><Relationship Type="http://schemas.openxmlformats.org/officeDocument/2006/relationships/image" Target="/ppt/media/image6.png" Id="Ra3f3da7c37044d99" /><Relationship Type="http://schemas.openxmlformats.org/officeDocument/2006/relationships/notesSlide" Target="/ppt/notesSlides/notesSlide10.xml" Id="Rdb51f2cfdd89437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e689a69903a4889" /><Relationship Type="http://schemas.openxmlformats.org/officeDocument/2006/relationships/image" Target="/ppt/media/image7.png" Id="R60ab4bf50e7347e5" /><Relationship Type="http://schemas.openxmlformats.org/officeDocument/2006/relationships/image" Target="/ppt/media/image8.png" Id="R8b1a60b9ffe84715" /><Relationship Type="http://schemas.openxmlformats.org/officeDocument/2006/relationships/notesSlide" Target="/ppt/notesSlides/notesSlide11.xml" Id="R4e93ccb72d1743be" /></Relationships>
</file>

<file path=ppt/slides/slide1.xml><?xml version="1.0" encoding="utf-8"?>
<p:sld xmlns:p="http://schemas.openxmlformats.org/presentationml/2006/main">
  <p:cSld>
    <p:bg>
      <p:bgPr>
        <a:solidFill xmlns:a="http://schemas.openxmlformats.org/drawingml/2006/main">
          <a:srgbClr val="101C42"/>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8e02c761fbd4b3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3D101E1-6593-4F2F-842F-2F30596B26E7}"/>
              </a:ext>
            </a:extLst>
          </p:cNvPr>
          <p:cNvSpPr>
            <a:spLocks xmlns:a="http://schemas.openxmlformats.org/drawingml/2006/main" noGrp="1"/>
          </p:cNvSpPr>
          <p:nvPr/>
        </p:nvSpPr>
        <p:spPr>
          <a:xfrm xmlns:a="http://schemas.openxmlformats.org/drawingml/2006/main">
            <a:off x="609600" y="733425"/>
            <a:ext cx="5524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FFFFFF"/>
                </a:solidFill>
                <a:latin typeface="DejaVu Sans"/>
                <a:ea typeface="DejaVu Sans"/>
                <a:cs typeface="DejaVu Sans"/>
              </a:defRPr>
            </a:pPr>
            <a:r>
              <a:rPr sz="5700" b="1">
                <a:solidFill>
                  <a:srgbClr val="FFFFFF"/>
                </a:solidFill>
                <a:latin typeface="DejaVu Sans"/>
                <a:ea typeface="DejaVu Sans"/>
                <a:cs typeface="DejaVu Sans"/>
              </a:rPr>
              <a:t>EBRA</a:t>
            </a:r>
          </a:p>
        </p:txBody>
      </p:sp>
      <p:sp>
        <p:nvSpPr>
          <p:cNvPr id="3" name="">
            <a:extLst xmlns:a="http://schemas.openxmlformats.org/drawingml/2006/main">
              <a:ext uri="{FF2B5EF4-FFF2-40B4-BE49-F238E27FC236}">
                <a16:creationId xmlns:a16="http://schemas.microsoft.com/office/drawing/2014/main" id="{2FAEFD93-3524-46DB-A060-8A208436445F}"/>
              </a:ext>
            </a:extLst>
          </p:cNvPr>
          <p:cNvSpPr>
            <a:spLocks xmlns:a="http://schemas.openxmlformats.org/drawingml/2006/main" noGrp="1"/>
          </p:cNvSpPr>
          <p:nvPr/>
        </p:nvSpPr>
        <p:spPr>
          <a:xfrm xmlns:a="http://schemas.openxmlformats.org/drawingml/2006/main">
            <a:off x="647700" y="1657350"/>
            <a:ext cx="590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FFFFF"/>
                </a:solidFill>
                <a:latin typeface="DejaVu Sans"/>
                <a:ea typeface="DejaVu Sans"/>
                <a:cs typeface="DejaVu Sans"/>
              </a:defRPr>
            </a:pPr>
            <a:r>
              <a:rPr sz="2625" b="1">
                <a:solidFill>
                  <a:srgbClr val="FFFFFF"/>
                </a:solidFill>
                <a:latin typeface="DejaVu Sans"/>
                <a:ea typeface="DejaVu Sans"/>
                <a:cs typeface="DejaVu Sans"/>
              </a:rPr>
              <a:t>PRESS SERVICE</a:t>
            </a:r>
          </a:p>
        </p:txBody>
      </p:sp>
      <p:sp>
        <p:nvSpPr>
          <p:cNvPr id="4" name="">
            <a:extLst xmlns:a="http://schemas.openxmlformats.org/drawingml/2006/main">
              <a:ext uri="{FF2B5EF4-FFF2-40B4-BE49-F238E27FC236}">
                <a16:creationId xmlns:a16="http://schemas.microsoft.com/office/drawing/2014/main" id="{69B86D02-63F8-4E8F-BE8A-05605C293EDA}"/>
              </a:ext>
            </a:extLst>
          </p:cNvPr>
          <p:cNvSpPr>
            <a:spLocks xmlns:a="http://schemas.openxmlformats.org/drawingml/2006/main" noGrp="1"/>
          </p:cNvSpPr>
          <p:nvPr/>
        </p:nvSpPr>
        <p:spPr>
          <a:xfrm xmlns:a="http://schemas.openxmlformats.org/drawingml/2006/main">
            <a:off x="647700" y="3028950"/>
            <a:ext cx="62865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FFFFFF"/>
                </a:solidFill>
                <a:latin typeface="DejaVu Sans"/>
                <a:ea typeface="DejaVu Sans"/>
                <a:cs typeface="DejaVu Sans"/>
              </a:defRPr>
            </a:pPr>
            <a:r>
              <a:rPr sz="2775" b="0">
                <a:solidFill>
                  <a:srgbClr val="FFFFFF"/>
                </a:solidFill>
                <a:latin typeface="DejaVu Sans"/>
                <a:ea typeface="DejaVu Sans"/>
                <a:cs typeface="DejaVu Sans"/>
              </a:rPr>
              <a:t>Suivi des traitements</a:t>
            </a:r>
          </a:p>
          <a:p xmlns:a="http://schemas.openxmlformats.org/drawingml/2006/main">
            <a:pPr>
              <a:defRPr sz="2775" b="0">
                <a:solidFill>
                  <a:srgbClr val="FFFFFF"/>
                </a:solidFill>
                <a:latin typeface="DejaVu Sans"/>
                <a:ea typeface="DejaVu Sans"/>
                <a:cs typeface="DejaVu Sans"/>
              </a:defRPr>
            </a:pPr>
            <a:r>
              <a:rPr sz="2775" b="0">
                <a:solidFill>
                  <a:srgbClr val="FFFFFF"/>
                </a:solidFill>
                <a:latin typeface="DejaVu Sans"/>
                <a:ea typeface="DejaVu Sans"/>
                <a:cs typeface="DejaVu Sans"/>
              </a:rPr>
              <a:t>et pilotage de l’activité</a:t>
            </a:r>
          </a:p>
        </p:txBody>
      </p:sp>
      <p:sp>
        <p:nvSpPr>
          <p:cNvPr id="5" name="">
            <a:extLst xmlns:a="http://schemas.openxmlformats.org/drawingml/2006/main">
              <a:ext uri="{FF2B5EF4-FFF2-40B4-BE49-F238E27FC236}">
                <a16:creationId xmlns:a16="http://schemas.microsoft.com/office/drawing/2014/main" id="{3E683297-F943-4763-92C6-D92C34467528}"/>
              </a:ext>
            </a:extLst>
          </p:cNvPr>
          <p:cNvSpPr>
            <a:spLocks xmlns:a="http://schemas.openxmlformats.org/drawingml/2006/main" noGrp="1"/>
          </p:cNvSpPr>
          <p:nvPr/>
        </p:nvSpPr>
        <p:spPr>
          <a:xfrm xmlns:a="http://schemas.openxmlformats.org/drawingml/2006/main">
            <a:off x="647700" y="5105400"/>
            <a:ext cx="590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BC7EE"/>
                </a:solidFill>
                <a:latin typeface="DejaVu Sans"/>
                <a:ea typeface="DejaVu Sans"/>
                <a:cs typeface="DejaVu Sans"/>
              </a:defRPr>
            </a:pPr>
            <a:r>
              <a:rPr sz="1800" b="0">
                <a:solidFill>
                  <a:srgbClr val="BBC7EE"/>
                </a:solidFill>
                <a:latin typeface="DejaVu Sans"/>
                <a:ea typeface="DejaVu Sans"/>
                <a:cs typeface="DejaVu Sans"/>
              </a:rPr>
              <a:t>Présentation de l’outil</a:t>
            </a:r>
          </a:p>
        </p:txBody>
      </p:sp>
      <p:sp>
        <p:nvSpPr>
          <p:cNvPr id="6" name="">
            <a:extLst xmlns:a="http://schemas.openxmlformats.org/drawingml/2006/main">
              <a:ext uri="{FF2B5EF4-FFF2-40B4-BE49-F238E27FC236}">
                <a16:creationId xmlns:a16="http://schemas.microsoft.com/office/drawing/2014/main" id="{C7A22320-63B1-4192-870A-B13DC3A48B52}"/>
              </a:ext>
            </a:extLst>
          </p:cNvPr>
          <p:cNvSpPr>
            <a:spLocks xmlns:a="http://schemas.openxmlformats.org/drawingml/2006/main" noGrp="1"/>
          </p:cNvSpPr>
          <p:nvPr/>
        </p:nvSpPr>
        <p:spPr>
          <a:xfrm xmlns:a="http://schemas.openxmlformats.org/drawingml/2006/main">
            <a:off x="647700" y="5686425"/>
            <a:ext cx="590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BC7EE"/>
                </a:solidFill>
                <a:latin typeface="DejaVu Sans"/>
                <a:ea typeface="DejaVu Sans"/>
                <a:cs typeface="DejaVu Sans"/>
              </a:defRPr>
            </a:pPr>
            <a:r>
              <a:rPr sz="1350" b="0">
                <a:solidFill>
                  <a:srgbClr val="BBC7EE"/>
                </a:solidFill>
                <a:latin typeface="DejaVu Sans"/>
                <a:ea typeface="DejaVu Sans"/>
                <a:cs typeface="DejaVu Sans"/>
              </a:rPr>
              <a:t>Version 3.6.4   /   Septembre 2026</a:t>
            </a:r>
          </a:p>
        </p:txBody>
      </p:sp>
    </p:spTree>
    <p:extLst>
      <p:ext uri="{BB962C8B-B14F-4D97-AF65-F5344CB8AC3E}">
        <p14:creationId xmlns:p14="http://schemas.microsoft.com/office/powerpoint/2010/main" val="2103545007"/>
      </p:ext>
    </p:extLst>
  </p:cSld>
</p:sld>
</file>

<file path=ppt/slides/slide2.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1A23630-1816-4903-B280-6A98F4B03C49}"/>
              </a:ext>
            </a:extLst>
          </p:cNvPr>
          <p:cNvSpPr>
            <a:spLocks xmlns:a="http://schemas.openxmlformats.org/drawingml/2006/main" noGrp="1"/>
          </p:cNvSpPr>
          <p:nvPr/>
        </p:nvSpPr>
        <p:spPr>
          <a:xfrm xmlns:a="http://schemas.openxmlformats.org/drawingml/2006/main">
            <a:off x="609600" y="381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3447A1"/>
                </a:solidFill>
                <a:latin typeface="DejaVu Sans"/>
                <a:ea typeface="DejaVu Sans"/>
                <a:cs typeface="DejaVu Sans"/>
              </a:defRPr>
            </a:pPr>
            <a:r>
              <a:rPr sz="1200" b="1">
                <a:solidFill>
                  <a:srgbClr val="3447A1"/>
                </a:solidFill>
                <a:latin typeface="DejaVu Sans"/>
                <a:ea typeface="DejaVu Sans"/>
                <a:cs typeface="DejaVu Sans"/>
              </a:rPr>
              <a:t>OBJECTIF</a:t>
            </a:r>
          </a:p>
        </p:txBody>
      </p:sp>
      <p:sp>
        <p:nvSpPr>
          <p:cNvPr id="2" name="">
            <a:extLst xmlns:a="http://schemas.openxmlformats.org/drawingml/2006/main">
              <a:ext uri="{FF2B5EF4-FFF2-40B4-BE49-F238E27FC236}">
                <a16:creationId xmlns:a16="http://schemas.microsoft.com/office/drawing/2014/main" id="{5AABD3A8-A0C5-41D7-B09E-C880DA4F656A}"/>
              </a:ext>
            </a:extLst>
          </p:cNvPr>
          <p:cNvSpPr>
            <a:spLocks xmlns:a="http://schemas.openxmlformats.org/drawingml/2006/main" noGrp="1"/>
          </p:cNvSpPr>
          <p:nvPr/>
        </p:nvSpPr>
        <p:spPr>
          <a:xfrm xmlns:a="http://schemas.openxmlformats.org/drawingml/2006/main">
            <a:off x="609600" y="8382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1C42"/>
                </a:solidFill>
                <a:latin typeface="DejaVu Sans"/>
                <a:ea typeface="DejaVu Sans"/>
                <a:cs typeface="DejaVu Sans"/>
              </a:defRPr>
            </a:pPr>
            <a:r>
              <a:rPr sz="3225" b="1">
                <a:solidFill>
                  <a:srgbClr val="101C42"/>
                </a:solidFill>
                <a:latin typeface="DejaVu Sans"/>
                <a:ea typeface="DejaVu Sans"/>
                <a:cs typeface="DejaVu Sans"/>
              </a:rPr>
              <a:t>Un suivi commun de l’activité</a:t>
            </a:r>
          </a:p>
        </p:txBody>
      </p:sp>
      <p:sp>
        <p:nvSpPr>
          <p:cNvPr id="3" name="">
            <a:extLst xmlns:a="http://schemas.openxmlformats.org/drawingml/2006/main">
              <a:ext uri="{FF2B5EF4-FFF2-40B4-BE49-F238E27FC236}">
                <a16:creationId xmlns:a16="http://schemas.microsoft.com/office/drawing/2014/main" id="{4BB41C8E-4978-429C-8690-E73A510D9866}"/>
              </a:ext>
            </a:extLst>
          </p:cNvPr>
          <p:cNvSpPr>
            <a:spLocks xmlns:a="http://schemas.openxmlformats.org/drawingml/2006/main" noGrp="1"/>
          </p:cNvSpPr>
          <p:nvPr/>
        </p:nvSpPr>
        <p:spPr>
          <a:xfrm xmlns:a="http://schemas.openxmlformats.org/drawingml/2006/main">
            <a:off x="11049000" y="638175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3708A"/>
                </a:solidFill>
                <a:latin typeface="DejaVu Sans"/>
                <a:ea typeface="DejaVu Sans"/>
                <a:cs typeface="DejaVu Sans"/>
              </a:defRPr>
            </a:pPr>
            <a:r>
              <a:rPr sz="1125" b="0">
                <a:solidFill>
                  <a:srgbClr val="63708A"/>
                </a:solidFill>
                <a:latin typeface="DejaVu Sans"/>
                <a:ea typeface="DejaVu Sans"/>
                <a:cs typeface="DejaVu Sans"/>
              </a:rPr>
              <a:t>02</a:t>
            </a:r>
          </a:p>
        </p:txBody>
      </p:sp>
      <p:sp>
        <p:nvSpPr>
          <p:cNvPr id="4" name="">
            <a:extLst xmlns:a="http://schemas.openxmlformats.org/drawingml/2006/main">
              <a:ext uri="{FF2B5EF4-FFF2-40B4-BE49-F238E27FC236}">
                <a16:creationId xmlns:a16="http://schemas.microsoft.com/office/drawing/2014/main" id="{916850CD-15F7-4D75-A305-C216CF33BF8D}"/>
              </a:ext>
            </a:extLst>
          </p:cNvPr>
          <p:cNvSpPr>
            <a:spLocks xmlns:a="http://schemas.openxmlformats.org/drawingml/2006/main" noGrp="1"/>
          </p:cNvSpPr>
          <p:nvPr/>
        </p:nvSpPr>
        <p:spPr>
          <a:xfrm xmlns:a="http://schemas.openxmlformats.org/drawingml/2006/main">
            <a:off x="609600" y="2276475"/>
            <a:ext cx="519112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101C42"/>
                </a:solidFill>
                <a:latin typeface="DejaVu Sans"/>
                <a:ea typeface="DejaVu Sans"/>
                <a:cs typeface="DejaVu Sans"/>
              </a:defRPr>
            </a:pPr>
            <a:r>
              <a:rPr sz="3675" b="1">
                <a:solidFill>
                  <a:srgbClr val="101C42"/>
                </a:solidFill>
                <a:latin typeface="DejaVu Sans"/>
                <a:ea typeface="DejaVu Sans"/>
                <a:cs typeface="DejaVu Sans"/>
              </a:rPr>
              <a:t>Une demande.</a:t>
            </a:r>
          </a:p>
          <a:p xmlns:a="http://schemas.openxmlformats.org/drawingml/2006/main">
            <a:pPr>
              <a:defRPr sz="3675" b="1">
                <a:solidFill>
                  <a:srgbClr val="101C42"/>
                </a:solidFill>
                <a:latin typeface="DejaVu Sans"/>
                <a:ea typeface="DejaVu Sans"/>
                <a:cs typeface="DejaVu Sans"/>
              </a:defRPr>
            </a:pPr>
            <a:r>
              <a:rPr sz="3675" b="1">
                <a:solidFill>
                  <a:srgbClr val="101C42"/>
                </a:solidFill>
                <a:latin typeface="DejaVu Sans"/>
                <a:ea typeface="DejaVu Sans"/>
                <a:cs typeface="DejaVu Sans"/>
              </a:rPr>
              <a:t>Un responsable.</a:t>
            </a:r>
          </a:p>
          <a:p xmlns:a="http://schemas.openxmlformats.org/drawingml/2006/main">
            <a:pPr>
              <a:defRPr sz="3675" b="1">
                <a:solidFill>
                  <a:srgbClr val="101C42"/>
                </a:solidFill>
                <a:latin typeface="DejaVu Sans"/>
                <a:ea typeface="DejaVu Sans"/>
                <a:cs typeface="DejaVu Sans"/>
              </a:defRPr>
            </a:pPr>
            <a:r>
              <a:rPr sz="3675" b="1">
                <a:solidFill>
                  <a:srgbClr val="101C42"/>
                </a:solidFill>
                <a:latin typeface="DejaVu Sans"/>
                <a:ea typeface="DejaVu Sans"/>
                <a:cs typeface="DejaVu Sans"/>
              </a:rPr>
              <a:t>Un historique.</a:t>
            </a:r>
          </a:p>
        </p:txBody>
      </p:sp>
      <p:sp>
        <p:nvSpPr>
          <p:cNvPr id="5" name="">
            <a:extLst xmlns:a="http://schemas.openxmlformats.org/drawingml/2006/main">
              <a:ext uri="{FF2B5EF4-FFF2-40B4-BE49-F238E27FC236}">
                <a16:creationId xmlns:a16="http://schemas.microsoft.com/office/drawing/2014/main" id="{90D58B90-9EB1-4251-A432-9DD0E4331866}"/>
              </a:ext>
            </a:extLst>
          </p:cNvPr>
          <p:cNvSpPr>
            <a:spLocks xmlns:a="http://schemas.openxmlformats.org/drawingml/2006/main" noGrp="1"/>
          </p:cNvSpPr>
          <p:nvPr/>
        </p:nvSpPr>
        <p:spPr>
          <a:xfrm xmlns:a="http://schemas.openxmlformats.org/drawingml/2006/main">
            <a:off x="6705600" y="2228850"/>
            <a:ext cx="4810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447A1"/>
                </a:solidFill>
                <a:latin typeface="DejaVu Sans"/>
                <a:ea typeface="DejaVu Sans"/>
                <a:cs typeface="DejaVu Sans"/>
              </a:defRPr>
            </a:pPr>
            <a:r>
              <a:rPr sz="2175" b="1">
                <a:solidFill>
                  <a:srgbClr val="3447A1"/>
                </a:solidFill>
                <a:latin typeface="DejaVu Sans"/>
                <a:ea typeface="DejaVu Sans"/>
                <a:cs typeface="DejaVu Sans"/>
              </a:rPr>
              <a:t>Identifier la prise en charge</a:t>
            </a:r>
          </a:p>
        </p:txBody>
      </p:sp>
      <p:sp>
        <p:nvSpPr>
          <p:cNvPr id="6" name="">
            <a:extLst xmlns:a="http://schemas.openxmlformats.org/drawingml/2006/main">
              <a:ext uri="{FF2B5EF4-FFF2-40B4-BE49-F238E27FC236}">
                <a16:creationId xmlns:a16="http://schemas.microsoft.com/office/drawing/2014/main" id="{1EC5B4F8-A956-4A96-8106-D6F4D628D0CB}"/>
              </a:ext>
            </a:extLst>
          </p:cNvPr>
          <p:cNvSpPr>
            <a:spLocks xmlns:a="http://schemas.openxmlformats.org/drawingml/2006/main" noGrp="1"/>
          </p:cNvSpPr>
          <p:nvPr/>
        </p:nvSpPr>
        <p:spPr>
          <a:xfrm xmlns:a="http://schemas.openxmlformats.org/drawingml/2006/main">
            <a:off x="6705600" y="2819400"/>
            <a:ext cx="4810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64C"/>
                </a:solidFill>
                <a:latin typeface="DejaVu Sans"/>
                <a:ea typeface="DejaVu Sans"/>
                <a:cs typeface="DejaVu Sans"/>
              </a:defRPr>
            </a:pPr>
            <a:r>
              <a:rPr sz="1875" b="0">
                <a:solidFill>
                  <a:srgbClr val="17264C"/>
                </a:solidFill>
                <a:latin typeface="DejaVu Sans"/>
                <a:ea typeface="DejaVu Sans"/>
                <a:cs typeface="DejaVu Sans"/>
              </a:rPr>
              <a:t>Retrouver le collaborateur associé à chaque intervention.</a:t>
            </a:r>
          </a:p>
        </p:txBody>
      </p:sp>
      <p:sp>
        <p:nvSpPr>
          <p:cNvPr id="7" name="">
            <a:extLst xmlns:a="http://schemas.openxmlformats.org/drawingml/2006/main">
              <a:ext uri="{FF2B5EF4-FFF2-40B4-BE49-F238E27FC236}">
                <a16:creationId xmlns:a16="http://schemas.microsoft.com/office/drawing/2014/main" id="{B311CC87-A922-4097-8DCD-A6A03B4FBD76}"/>
              </a:ext>
            </a:extLst>
          </p:cNvPr>
          <p:cNvSpPr>
            <a:spLocks xmlns:a="http://schemas.openxmlformats.org/drawingml/2006/main" noGrp="1"/>
          </p:cNvSpPr>
          <p:nvPr/>
        </p:nvSpPr>
        <p:spPr>
          <a:xfrm xmlns:a="http://schemas.openxmlformats.org/drawingml/2006/main">
            <a:off x="6705600" y="3971925"/>
            <a:ext cx="4810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447A1"/>
                </a:solidFill>
                <a:latin typeface="DejaVu Sans"/>
                <a:ea typeface="DejaVu Sans"/>
                <a:cs typeface="DejaVu Sans"/>
              </a:defRPr>
            </a:pPr>
            <a:r>
              <a:rPr sz="2175" b="1">
                <a:solidFill>
                  <a:srgbClr val="3447A1"/>
                </a:solidFill>
                <a:latin typeface="DejaVu Sans"/>
                <a:ea typeface="DejaVu Sans"/>
                <a:cs typeface="DejaVu Sans"/>
              </a:rPr>
              <a:t>Suivre l’avancement</a:t>
            </a:r>
          </a:p>
        </p:txBody>
      </p:sp>
      <p:sp>
        <p:nvSpPr>
          <p:cNvPr id="8" name="">
            <a:extLst xmlns:a="http://schemas.openxmlformats.org/drawingml/2006/main">
              <a:ext uri="{FF2B5EF4-FFF2-40B4-BE49-F238E27FC236}">
                <a16:creationId xmlns:a16="http://schemas.microsoft.com/office/drawing/2014/main" id="{3D24B974-6C52-400B-A9A5-14780A90930F}"/>
              </a:ext>
            </a:extLst>
          </p:cNvPr>
          <p:cNvSpPr>
            <a:spLocks xmlns:a="http://schemas.openxmlformats.org/drawingml/2006/main" noGrp="1"/>
          </p:cNvSpPr>
          <p:nvPr/>
        </p:nvSpPr>
        <p:spPr>
          <a:xfrm xmlns:a="http://schemas.openxmlformats.org/drawingml/2006/main">
            <a:off x="6705600" y="4562475"/>
            <a:ext cx="4810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64C"/>
                </a:solidFill>
                <a:latin typeface="DejaVu Sans"/>
                <a:ea typeface="DejaVu Sans"/>
                <a:cs typeface="DejaVu Sans"/>
              </a:defRPr>
            </a:pPr>
            <a:r>
              <a:rPr sz="1875" b="0">
                <a:solidFill>
                  <a:srgbClr val="17264C"/>
                </a:solidFill>
                <a:latin typeface="DejaVu Sans"/>
                <a:ea typeface="DejaVu Sans"/>
                <a:cs typeface="DejaVu Sans"/>
              </a:rPr>
              <a:t>Distinguer les traitements ouverts et terminés.</a:t>
            </a:r>
          </a:p>
        </p:txBody>
      </p:sp>
      <p:sp>
        <p:nvSpPr>
          <p:cNvPr id="9" name="">
            <a:extLst xmlns:a="http://schemas.openxmlformats.org/drawingml/2006/main">
              <a:ext uri="{FF2B5EF4-FFF2-40B4-BE49-F238E27FC236}">
                <a16:creationId xmlns:a16="http://schemas.microsoft.com/office/drawing/2014/main" id="{249A527B-7BA3-45B5-A140-D9B73B174BEF}"/>
              </a:ext>
            </a:extLst>
          </p:cNvPr>
          <p:cNvSpPr>
            <a:spLocks xmlns:a="http://schemas.openxmlformats.org/drawingml/2006/main" noGrp="1"/>
          </p:cNvSpPr>
          <p:nvPr/>
        </p:nvSpPr>
        <p:spPr>
          <a:xfrm xmlns:a="http://schemas.openxmlformats.org/drawingml/2006/main">
            <a:off x="647700" y="574357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3377B"/>
                </a:solidFill>
                <a:latin typeface="DejaVu Sans"/>
                <a:ea typeface="DejaVu Sans"/>
                <a:cs typeface="DejaVu Sans"/>
              </a:defRPr>
            </a:pPr>
            <a:r>
              <a:rPr sz="1875" b="1">
                <a:solidFill>
                  <a:srgbClr val="C3377B"/>
                </a:solidFill>
                <a:latin typeface="DejaVu Sans"/>
                <a:ea typeface="DejaVu Sans"/>
                <a:cs typeface="DejaVu Sans"/>
              </a:rPr>
              <a:t>Un même outil pour l’exécution quotidienne et la supervision.</a:t>
            </a:r>
          </a:p>
        </p:txBody>
      </p:sp>
    </p:spTree>
    <p:extLst>
      <p:ext uri="{BB962C8B-B14F-4D97-AF65-F5344CB8AC3E}">
        <p14:creationId xmlns:p14="http://schemas.microsoft.com/office/powerpoint/2010/main" val="1167564826"/>
      </p:ext>
    </p:extLst>
  </p:cSld>
</p:sld>
</file>

<file path=ppt/slides/slide3.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02E598B-F480-41D3-A4A3-9AEDEA30C58C}"/>
              </a:ext>
            </a:extLst>
          </p:cNvPr>
          <p:cNvSpPr>
            <a:spLocks xmlns:a="http://schemas.openxmlformats.org/drawingml/2006/main" noGrp="1"/>
          </p:cNvSpPr>
          <p:nvPr/>
        </p:nvSpPr>
        <p:spPr>
          <a:xfrm xmlns:a="http://schemas.openxmlformats.org/drawingml/2006/main">
            <a:off x="609600" y="381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3447A1"/>
                </a:solidFill>
                <a:latin typeface="DejaVu Sans"/>
                <a:ea typeface="DejaVu Sans"/>
                <a:cs typeface="DejaVu Sans"/>
              </a:defRPr>
            </a:pPr>
            <a:r>
              <a:rPr sz="1200" b="1">
                <a:solidFill>
                  <a:srgbClr val="3447A1"/>
                </a:solidFill>
                <a:latin typeface="DejaVu Sans"/>
                <a:ea typeface="DejaVu Sans"/>
                <a:cs typeface="DejaVu Sans"/>
              </a:rPr>
              <a:t>ORGANISATION</a:t>
            </a:r>
          </a:p>
        </p:txBody>
      </p:sp>
      <p:sp>
        <p:nvSpPr>
          <p:cNvPr id="2" name="">
            <a:extLst xmlns:a="http://schemas.openxmlformats.org/drawingml/2006/main">
              <a:ext uri="{FF2B5EF4-FFF2-40B4-BE49-F238E27FC236}">
                <a16:creationId xmlns:a16="http://schemas.microsoft.com/office/drawing/2014/main" id="{D540BB63-1F76-4076-B245-AB30A7C33B60}"/>
              </a:ext>
            </a:extLst>
          </p:cNvPr>
          <p:cNvSpPr>
            <a:spLocks xmlns:a="http://schemas.openxmlformats.org/drawingml/2006/main" noGrp="1"/>
          </p:cNvSpPr>
          <p:nvPr/>
        </p:nvSpPr>
        <p:spPr>
          <a:xfrm xmlns:a="http://schemas.openxmlformats.org/drawingml/2006/main">
            <a:off x="609600" y="8382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1C42"/>
                </a:solidFill>
                <a:latin typeface="DejaVu Sans"/>
                <a:ea typeface="DejaVu Sans"/>
                <a:cs typeface="DejaVu Sans"/>
              </a:defRPr>
            </a:pPr>
            <a:r>
              <a:rPr sz="3225" b="1">
                <a:solidFill>
                  <a:srgbClr val="101C42"/>
                </a:solidFill>
                <a:latin typeface="DejaVu Sans"/>
                <a:ea typeface="DejaVu Sans"/>
                <a:cs typeface="DejaVu Sans"/>
              </a:rPr>
              <a:t>Deux espaces, des rôles distincts</a:t>
            </a:r>
          </a:p>
        </p:txBody>
      </p:sp>
      <p:sp>
        <p:nvSpPr>
          <p:cNvPr id="3" name="">
            <a:extLst xmlns:a="http://schemas.openxmlformats.org/drawingml/2006/main">
              <a:ext uri="{FF2B5EF4-FFF2-40B4-BE49-F238E27FC236}">
                <a16:creationId xmlns:a16="http://schemas.microsoft.com/office/drawing/2014/main" id="{D91ED592-B4F7-4CC9-97D4-E98DF2482E96}"/>
              </a:ext>
            </a:extLst>
          </p:cNvPr>
          <p:cNvSpPr>
            <a:spLocks xmlns:a="http://schemas.openxmlformats.org/drawingml/2006/main" noGrp="1"/>
          </p:cNvSpPr>
          <p:nvPr/>
        </p:nvSpPr>
        <p:spPr>
          <a:xfrm xmlns:a="http://schemas.openxmlformats.org/drawingml/2006/main">
            <a:off x="11049000" y="638175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3708A"/>
                </a:solidFill>
                <a:latin typeface="DejaVu Sans"/>
                <a:ea typeface="DejaVu Sans"/>
                <a:cs typeface="DejaVu Sans"/>
              </a:defRPr>
            </a:pPr>
            <a:r>
              <a:rPr sz="1125" b="0">
                <a:solidFill>
                  <a:srgbClr val="63708A"/>
                </a:solidFill>
                <a:latin typeface="DejaVu Sans"/>
                <a:ea typeface="DejaVu Sans"/>
                <a:cs typeface="DejaVu Sans"/>
              </a:rPr>
              <a:t>03</a:t>
            </a:r>
          </a:p>
        </p:txBody>
      </p:sp>
      <p:graphicFrame>
        <p:nvGraphicFramePr>
          <p:cNvPr id="9" name=""/>
          <p:cNvGraphicFramePr/>
          <p:nvPr/>
        </p:nvGraphicFramePr>
        <p:xfrm>
          <a:off xmlns:a="http://schemas.openxmlformats.org/drawingml/2006/main" x="609600" y="2209800"/>
          <a:ext xmlns:a="http://schemas.openxmlformats.org/drawingml/2006/main" cx="10972800" cy="3238500"/>
        </p:xfrm>
        <a:graphic xmlns:a="http://schemas.openxmlformats.org/drawingml/2006/main">
          <a:graphicData uri="http://schemas.openxmlformats.org/drawingml/2006/table">
            <a:tbl>
              <a:tblPr/>
              <a:tblGrid>
                <a:gridCol w="5486400"/>
                <a:gridCol w="5486400"/>
              </a:tblGrid>
              <a:tr h="647700">
                <a:tc>
                  <a:txBody>
                    <a:bodyPr/>
                    <a:lstStyle/>
                    <a:p>
                      <a:r>
                        <a:rPr sz="1800" b="1">
                          <a:solidFill>
                            <a:srgbClr val="FFFFFF"/>
                          </a:solidFill>
                          <a:latin typeface="DejaVu Sans"/>
                          <a:ea typeface="DejaVu Sans"/>
                          <a:cs typeface="DejaVu Sans"/>
                        </a:rPr>
                        <a:t>Collaborateur</a:t>
                      </a:r>
                    </a:p>
                  </a:txBody>
                  <a:tcPr marL="91440" marR="91440" marT="45720" marB="45720">
                    <a:solidFill>
                      <a:srgbClr val="101C42"/>
                    </a:solidFill>
                  </a:tcPr>
                </a:tc>
                <a:tc>
                  <a:txBody>
                    <a:bodyPr/>
                    <a:lstStyle/>
                    <a:p>
                      <a:r>
                        <a:rPr sz="1800" b="1">
                          <a:solidFill>
                            <a:srgbClr val="FFFFFF"/>
                          </a:solidFill>
                          <a:latin typeface="DejaVu Sans"/>
                          <a:ea typeface="DejaVu Sans"/>
                          <a:cs typeface="DejaVu Sans"/>
                        </a:rPr>
                        <a:t>Manager</a:t>
                      </a:r>
                    </a:p>
                  </a:txBody>
                  <a:tcPr marL="91440" marR="91440" marT="45720" marB="45720">
                    <a:solidFill>
                      <a:srgbClr val="101C42"/>
                    </a:solidFill>
                  </a:tcPr>
                </a:tc>
              </a:tr>
              <a:tr h="647700">
                <a:tc>
                  <a:txBody>
                    <a:bodyPr/>
                    <a:lstStyle/>
                    <a:p>
                      <a:r>
                        <a:rPr sz="1800" b="0">
                          <a:solidFill>
                            <a:srgbClr val="17264C"/>
                          </a:solidFill>
                          <a:latin typeface="DejaVu Sans"/>
                          <a:ea typeface="DejaVu Sans"/>
                          <a:cs typeface="DejaVu Sans"/>
                        </a:rPr>
                        <a:t>Saisir et clôturer ses interventions</a:t>
                      </a:r>
                    </a:p>
                  </a:txBody>
                  <a:tcPr marL="91440" marR="91440" marT="45720" marB="45720">
                    <a:solidFill>
                      <a:srgbClr val="FFFFFF"/>
                    </a:solidFill>
                  </a:tcPr>
                </a:tc>
                <a:tc>
                  <a:txBody>
                    <a:bodyPr/>
                    <a:lstStyle/>
                    <a:p>
                      <a:r>
                        <a:rPr sz="1800" b="0">
                          <a:solidFill>
                            <a:srgbClr val="17264C"/>
                          </a:solidFill>
                          <a:latin typeface="DejaVu Sans"/>
                          <a:ea typeface="DejaVu Sans"/>
                          <a:cs typeface="DejaVu Sans"/>
                        </a:rPr>
                        <a:t>Consolider et filtrer les traitements</a:t>
                      </a:r>
                    </a:p>
                  </a:txBody>
                  <a:tcPr marL="91440" marR="91440" marT="45720" marB="45720">
                    <a:solidFill>
                      <a:srgbClr val="FFFFFF"/>
                    </a:solidFill>
                  </a:tcPr>
                </a:tc>
              </a:tr>
              <a:tr h="647700">
                <a:tc>
                  <a:txBody>
                    <a:bodyPr/>
                    <a:lstStyle/>
                    <a:p>
                      <a:r>
                        <a:rPr sz="1800" b="0">
                          <a:solidFill>
                            <a:srgbClr val="17264C"/>
                          </a:solidFill>
                          <a:latin typeface="DejaVu Sans"/>
                          <a:ea typeface="DejaVu Sans"/>
                          <a:cs typeface="DejaVu Sans"/>
                        </a:rPr>
                        <a:t>Consulter et corriger ses propres lignes</a:t>
                      </a:r>
                    </a:p>
                  </a:txBody>
                  <a:tcPr marL="91440" marR="91440" marT="45720" marB="45720">
                    <a:solidFill>
                      <a:srgbClr val="EEF1F8"/>
                    </a:solidFill>
                  </a:tcPr>
                </a:tc>
                <a:tc>
                  <a:txBody>
                    <a:bodyPr/>
                    <a:lstStyle/>
                    <a:p>
                      <a:r>
                        <a:rPr sz="1800" b="0">
                          <a:solidFill>
                            <a:srgbClr val="17264C"/>
                          </a:solidFill>
                          <a:latin typeface="DejaVu Sans"/>
                          <a:ea typeface="DejaVu Sans"/>
                          <a:cs typeface="DejaVu Sans"/>
                        </a:rPr>
                        <a:t>Examiner, modifier et valider les lignes</a:t>
                      </a:r>
                    </a:p>
                  </a:txBody>
                  <a:tcPr marL="91440" marR="91440" marT="45720" marB="45720">
                    <a:solidFill>
                      <a:srgbClr val="EEF1F8"/>
                    </a:solidFill>
                  </a:tcPr>
                </a:tc>
              </a:tr>
              <a:tr h="647700">
                <a:tc>
                  <a:txBody>
                    <a:bodyPr/>
                    <a:lstStyle/>
                    <a:p>
                      <a:r>
                        <a:rPr sz="1800" b="0">
                          <a:solidFill>
                            <a:srgbClr val="17264C"/>
                          </a:solidFill>
                          <a:latin typeface="DejaVu Sans"/>
                          <a:ea typeface="DejaVu Sans"/>
                          <a:cs typeface="DejaVu Sans"/>
                        </a:rPr>
                        <a:t>Prendre en charge les demandes Outlook</a:t>
                      </a:r>
                    </a:p>
                  </a:txBody>
                  <a:tcPr marL="91440" marR="91440" marT="45720" marB="45720">
                    <a:solidFill>
                      <a:srgbClr val="FFFFFF"/>
                    </a:solidFill>
                  </a:tcPr>
                </a:tc>
                <a:tc>
                  <a:txBody>
                    <a:bodyPr/>
                    <a:lstStyle/>
                    <a:p>
                      <a:r>
                        <a:rPr sz="1800" b="0">
                          <a:solidFill>
                            <a:srgbClr val="17264C"/>
                          </a:solidFill>
                          <a:latin typeface="DejaVu Sans"/>
                          <a:ea typeface="DejaVu Sans"/>
                          <a:cs typeface="DejaVu Sans"/>
                        </a:rPr>
                        <a:t>Consulter le journal des actions Outlook</a:t>
                      </a:r>
                    </a:p>
                  </a:txBody>
                  <a:tcPr marL="91440" marR="91440" marT="45720" marB="45720">
                    <a:solidFill>
                      <a:srgbClr val="FFFFFF"/>
                    </a:solidFill>
                  </a:tcPr>
                </a:tc>
              </a:tr>
              <a:tr h="647700">
                <a:tc>
                  <a:txBody>
                    <a:bodyPr/>
                    <a:lstStyle/>
                    <a:p>
                      <a:r>
                        <a:rPr sz="1800" b="0">
                          <a:solidFill>
                            <a:srgbClr val="17264C"/>
                          </a:solidFill>
                          <a:latin typeface="DejaVu Sans"/>
                          <a:ea typeface="DejaVu Sans"/>
                          <a:cs typeface="DejaVu Sans"/>
                        </a:rPr>
                        <a:t>Échanger dans la Communauté</a:t>
                      </a:r>
                    </a:p>
                  </a:txBody>
                  <a:tcPr marL="91440" marR="91440" marT="45720" marB="45720">
                    <a:solidFill>
                      <a:srgbClr val="EEF1F8"/>
                    </a:solidFill>
                  </a:tcPr>
                </a:tc>
                <a:tc>
                  <a:txBody>
                    <a:bodyPr/>
                    <a:lstStyle/>
                    <a:p>
                      <a:r>
                        <a:rPr sz="1800" b="0">
                          <a:solidFill>
                            <a:srgbClr val="17264C"/>
                          </a:solidFill>
                          <a:latin typeface="DejaVu Sans"/>
                          <a:ea typeface="DejaVu Sans"/>
                          <a:cs typeface="DejaVu Sans"/>
                        </a:rPr>
                        <a:t>Suivre la présence et l’activité de l’équipe</a:t>
                      </a:r>
                    </a:p>
                  </a:txBody>
                  <a:tcPr marL="91440" marR="91440" marT="45720" marB="45720">
                    <a:solidFill>
                      <a:srgbClr val="EEF1F8"/>
                    </a:solidFill>
                  </a:tcPr>
                </a:tc>
              </a:tr>
            </a:tbl>
          </a:graphicData>
        </a:graphic>
      </p:graphicFrame>
      <p:sp>
        <p:nvSpPr>
          <p:cNvPr id="5" name="">
            <a:extLst xmlns:a="http://schemas.openxmlformats.org/drawingml/2006/main">
              <a:ext uri="{FF2B5EF4-FFF2-40B4-BE49-F238E27FC236}">
                <a16:creationId xmlns:a16="http://schemas.microsoft.com/office/drawing/2014/main" id="{CE5DB79F-FC49-41EB-853A-6FB12543F0C0}"/>
              </a:ext>
            </a:extLst>
          </p:cNvPr>
          <p:cNvSpPr>
            <a:spLocks xmlns:a="http://schemas.openxmlformats.org/drawingml/2006/main" noGrp="1"/>
          </p:cNvSpPr>
          <p:nvPr/>
        </p:nvSpPr>
        <p:spPr>
          <a:xfrm xmlns:a="http://schemas.openxmlformats.org/drawingml/2006/main">
            <a:off x="628650" y="584835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3708A"/>
                </a:solidFill>
                <a:latin typeface="DejaVu Sans"/>
                <a:ea typeface="DejaVu Sans"/>
                <a:cs typeface="DejaVu Sans"/>
              </a:defRPr>
            </a:pPr>
            <a:r>
              <a:rPr sz="1725" b="0">
                <a:solidFill>
                  <a:srgbClr val="63708A"/>
                </a:solidFill>
                <a:latin typeface="DejaVu Sans"/>
                <a:ea typeface="DejaVu Sans"/>
                <a:cs typeface="DejaVu Sans"/>
              </a:rPr>
              <a:t>L’identité du collaborateur provient de sa session Windows.</a:t>
            </a:r>
          </a:p>
        </p:txBody>
      </p:sp>
    </p:spTree>
    <p:extLst>
      <p:ext uri="{BB962C8B-B14F-4D97-AF65-F5344CB8AC3E}">
        <p14:creationId xmlns:p14="http://schemas.microsoft.com/office/powerpoint/2010/main" val="838808593"/>
      </p:ext>
    </p:extLst>
  </p:cSld>
</p:sld>
</file>

<file path=ppt/slides/slide4.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F62F36A-1ED1-46CB-BC2C-8158D01F52C8}"/>
              </a:ext>
            </a:extLst>
          </p:cNvPr>
          <p:cNvSpPr>
            <a:spLocks xmlns:a="http://schemas.openxmlformats.org/drawingml/2006/main" noGrp="1"/>
          </p:cNvSpPr>
          <p:nvPr/>
        </p:nvSpPr>
        <p:spPr>
          <a:xfrm xmlns:a="http://schemas.openxmlformats.org/drawingml/2006/main">
            <a:off x="609600" y="381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3447A1"/>
                </a:solidFill>
                <a:latin typeface="DejaVu Sans"/>
                <a:ea typeface="DejaVu Sans"/>
                <a:cs typeface="DejaVu Sans"/>
              </a:defRPr>
            </a:pPr>
            <a:r>
              <a:rPr sz="1200" b="1">
                <a:solidFill>
                  <a:srgbClr val="3447A1"/>
                </a:solidFill>
                <a:latin typeface="DejaVu Sans"/>
                <a:ea typeface="DejaVu Sans"/>
                <a:cs typeface="DejaVu Sans"/>
              </a:rPr>
              <a:t>PÉRIMÈTRE MÉTIER</a:t>
            </a:r>
          </a:p>
        </p:txBody>
      </p:sp>
      <p:sp>
        <p:nvSpPr>
          <p:cNvPr id="2" name="">
            <a:extLst xmlns:a="http://schemas.openxmlformats.org/drawingml/2006/main">
              <a:ext uri="{FF2B5EF4-FFF2-40B4-BE49-F238E27FC236}">
                <a16:creationId xmlns:a16="http://schemas.microsoft.com/office/drawing/2014/main" id="{06BB6045-B9ED-469E-9F1D-5D51F41F2E3F}"/>
              </a:ext>
            </a:extLst>
          </p:cNvPr>
          <p:cNvSpPr>
            <a:spLocks xmlns:a="http://schemas.openxmlformats.org/drawingml/2006/main" noGrp="1"/>
          </p:cNvSpPr>
          <p:nvPr/>
        </p:nvSpPr>
        <p:spPr>
          <a:xfrm xmlns:a="http://schemas.openxmlformats.org/drawingml/2006/main">
            <a:off x="609600" y="8382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1C42"/>
                </a:solidFill>
                <a:latin typeface="DejaVu Sans"/>
                <a:ea typeface="DejaVu Sans"/>
                <a:cs typeface="DejaVu Sans"/>
              </a:defRPr>
            </a:pPr>
            <a:r>
              <a:rPr sz="3225" b="1">
                <a:solidFill>
                  <a:srgbClr val="101C42"/>
                </a:solidFill>
                <a:latin typeface="DejaVu Sans"/>
                <a:ea typeface="DejaVu Sans"/>
                <a:cs typeface="DejaVu Sans"/>
              </a:rPr>
              <a:t>Un cadre de saisie homogène</a:t>
            </a:r>
          </a:p>
        </p:txBody>
      </p:sp>
      <p:sp>
        <p:nvSpPr>
          <p:cNvPr id="3" name="">
            <a:extLst xmlns:a="http://schemas.openxmlformats.org/drawingml/2006/main">
              <a:ext uri="{FF2B5EF4-FFF2-40B4-BE49-F238E27FC236}">
                <a16:creationId xmlns:a16="http://schemas.microsoft.com/office/drawing/2014/main" id="{97555C49-CF9A-4925-9744-5FDF4695F656}"/>
              </a:ext>
            </a:extLst>
          </p:cNvPr>
          <p:cNvSpPr>
            <a:spLocks xmlns:a="http://schemas.openxmlformats.org/drawingml/2006/main" noGrp="1"/>
          </p:cNvSpPr>
          <p:nvPr/>
        </p:nvSpPr>
        <p:spPr>
          <a:xfrm xmlns:a="http://schemas.openxmlformats.org/drawingml/2006/main">
            <a:off x="11049000" y="638175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3708A"/>
                </a:solidFill>
                <a:latin typeface="DejaVu Sans"/>
                <a:ea typeface="DejaVu Sans"/>
                <a:cs typeface="DejaVu Sans"/>
              </a:defRPr>
            </a:pPr>
            <a:r>
              <a:rPr sz="1125" b="0">
                <a:solidFill>
                  <a:srgbClr val="63708A"/>
                </a:solidFill>
                <a:latin typeface="DejaVu Sans"/>
                <a:ea typeface="DejaVu Sans"/>
                <a:cs typeface="DejaVu Sans"/>
              </a:rPr>
              <a:t>04</a:t>
            </a:r>
          </a:p>
        </p:txBody>
      </p:sp>
      <p:sp>
        <p:nvSpPr>
          <p:cNvPr id="4" name="">
            <a:extLst xmlns:a="http://schemas.openxmlformats.org/drawingml/2006/main">
              <a:ext uri="{FF2B5EF4-FFF2-40B4-BE49-F238E27FC236}">
                <a16:creationId xmlns:a16="http://schemas.microsoft.com/office/drawing/2014/main" id="{5C29E036-FEE9-4B53-BEEB-EC5E212C0935}"/>
              </a:ext>
            </a:extLst>
          </p:cNvPr>
          <p:cNvSpPr>
            <a:spLocks xmlns:a="http://schemas.openxmlformats.org/drawingml/2006/main" noGrp="1"/>
          </p:cNvSpPr>
          <p:nvPr/>
        </p:nvSpPr>
        <p:spPr>
          <a:xfrm xmlns:a="http://schemas.openxmlformats.org/drawingml/2006/main">
            <a:off x="609600" y="2066925"/>
            <a:ext cx="304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3447A1"/>
                </a:solidFill>
                <a:latin typeface="DejaVu Sans"/>
                <a:ea typeface="DejaVu Sans"/>
                <a:cs typeface="DejaVu Sans"/>
              </a:defRPr>
            </a:pPr>
            <a:r>
              <a:rPr sz="6600" b="1">
                <a:solidFill>
                  <a:srgbClr val="3447A1"/>
                </a:solidFill>
                <a:latin typeface="DejaVu Sans"/>
                <a:ea typeface="DejaVu Sans"/>
                <a:cs typeface="DejaVu Sans"/>
              </a:rPr>
              <a:t>3</a:t>
            </a:r>
          </a:p>
        </p:txBody>
      </p:sp>
      <p:sp>
        <p:nvSpPr>
          <p:cNvPr id="5" name="">
            <a:extLst xmlns:a="http://schemas.openxmlformats.org/drawingml/2006/main">
              <a:ext uri="{FF2B5EF4-FFF2-40B4-BE49-F238E27FC236}">
                <a16:creationId xmlns:a16="http://schemas.microsoft.com/office/drawing/2014/main" id="{1DC8E89B-07EA-40C6-897E-214768DCF801}"/>
              </a:ext>
            </a:extLst>
          </p:cNvPr>
          <p:cNvSpPr>
            <a:spLocks xmlns:a="http://schemas.openxmlformats.org/drawingml/2006/main" noGrp="1"/>
          </p:cNvSpPr>
          <p:nvPr/>
        </p:nvSpPr>
        <p:spPr>
          <a:xfrm xmlns:a="http://schemas.openxmlformats.org/drawingml/2006/main">
            <a:off x="609600" y="3362325"/>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1C42"/>
                </a:solidFill>
                <a:latin typeface="DejaVu Sans"/>
                <a:ea typeface="DejaVu Sans"/>
                <a:cs typeface="DejaVu Sans"/>
              </a:defRPr>
            </a:pPr>
            <a:r>
              <a:rPr sz="2025" b="1">
                <a:solidFill>
                  <a:srgbClr val="101C42"/>
                </a:solidFill>
                <a:latin typeface="DejaVu Sans"/>
                <a:ea typeface="DejaVu Sans"/>
                <a:cs typeface="DejaVu Sans"/>
              </a:rPr>
              <a:t>origines</a:t>
            </a:r>
          </a:p>
        </p:txBody>
      </p:sp>
      <p:sp>
        <p:nvSpPr>
          <p:cNvPr id="6" name="">
            <a:extLst xmlns:a="http://schemas.openxmlformats.org/drawingml/2006/main">
              <a:ext uri="{FF2B5EF4-FFF2-40B4-BE49-F238E27FC236}">
                <a16:creationId xmlns:a16="http://schemas.microsoft.com/office/drawing/2014/main" id="{428B6D4F-0450-4565-87E2-6691CCEDAC5B}"/>
              </a:ext>
            </a:extLst>
          </p:cNvPr>
          <p:cNvSpPr>
            <a:spLocks xmlns:a="http://schemas.openxmlformats.org/drawingml/2006/main" noGrp="1"/>
          </p:cNvSpPr>
          <p:nvPr/>
        </p:nvSpPr>
        <p:spPr>
          <a:xfrm xmlns:a="http://schemas.openxmlformats.org/drawingml/2006/main">
            <a:off x="609600" y="4029075"/>
            <a:ext cx="314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64C"/>
                </a:solidFill>
                <a:latin typeface="DejaVu Sans"/>
                <a:ea typeface="DejaVu Sans"/>
                <a:cs typeface="DejaVu Sans"/>
              </a:defRPr>
            </a:pPr>
            <a:r>
              <a:rPr sz="1950" b="0">
                <a:solidFill>
                  <a:srgbClr val="17264C"/>
                </a:solidFill>
                <a:latin typeface="DejaVu Sans"/>
                <a:ea typeface="DejaVu Sans"/>
                <a:cs typeface="DejaVu Sans"/>
              </a:rPr>
              <a:t>Front</a:t>
            </a:r>
          </a:p>
          <a:p xmlns:a="http://schemas.openxmlformats.org/drawingml/2006/main">
            <a:pPr>
              <a:defRPr sz="1950" b="0">
                <a:solidFill>
                  <a:srgbClr val="17264C"/>
                </a:solidFill>
                <a:latin typeface="DejaVu Sans"/>
                <a:ea typeface="DejaVu Sans"/>
                <a:cs typeface="DejaVu Sans"/>
              </a:defRPr>
            </a:pPr>
            <a:r>
              <a:rPr sz="1950" b="0">
                <a:solidFill>
                  <a:srgbClr val="17264C"/>
                </a:solidFill>
                <a:latin typeface="DejaVu Sans"/>
                <a:ea typeface="DejaVu Sans"/>
                <a:cs typeface="DejaVu Sans"/>
              </a:rPr>
              <a:t>Back</a:t>
            </a:r>
          </a:p>
          <a:p xmlns:a="http://schemas.openxmlformats.org/drawingml/2006/main">
            <a:pPr>
              <a:defRPr sz="1950" b="0">
                <a:solidFill>
                  <a:srgbClr val="17264C"/>
                </a:solidFill>
                <a:latin typeface="DejaVu Sans"/>
                <a:ea typeface="DejaVu Sans"/>
                <a:cs typeface="DejaVu Sans"/>
              </a:defRPr>
            </a:pPr>
            <a:r>
              <a:rPr sz="1950" b="0">
                <a:solidFill>
                  <a:srgbClr val="17264C"/>
                </a:solidFill>
                <a:latin typeface="DejaVu Sans"/>
                <a:ea typeface="DejaVu Sans"/>
                <a:cs typeface="DejaVu Sans"/>
              </a:rPr>
              <a:t>Web</a:t>
            </a:r>
          </a:p>
        </p:txBody>
      </p:sp>
      <p:sp>
        <p:nvSpPr>
          <p:cNvPr id="7" name="">
            <a:extLst xmlns:a="http://schemas.openxmlformats.org/drawingml/2006/main">
              <a:ext uri="{FF2B5EF4-FFF2-40B4-BE49-F238E27FC236}">
                <a16:creationId xmlns:a16="http://schemas.microsoft.com/office/drawing/2014/main" id="{B80AC801-88D2-446A-B401-79BD5B057C0A}"/>
              </a:ext>
            </a:extLst>
          </p:cNvPr>
          <p:cNvSpPr>
            <a:spLocks xmlns:a="http://schemas.openxmlformats.org/drawingml/2006/main" noGrp="1"/>
          </p:cNvSpPr>
          <p:nvPr/>
        </p:nvSpPr>
        <p:spPr>
          <a:xfrm xmlns:a="http://schemas.openxmlformats.org/drawingml/2006/main">
            <a:off x="4410075" y="2066925"/>
            <a:ext cx="304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3447A1"/>
                </a:solidFill>
                <a:latin typeface="DejaVu Sans"/>
                <a:ea typeface="DejaVu Sans"/>
                <a:cs typeface="DejaVu Sans"/>
              </a:defRPr>
            </a:pPr>
            <a:r>
              <a:rPr sz="6600" b="1">
                <a:solidFill>
                  <a:srgbClr val="3447A1"/>
                </a:solidFill>
                <a:latin typeface="DejaVu Sans"/>
                <a:ea typeface="DejaVu Sans"/>
                <a:cs typeface="DejaVu Sans"/>
              </a:rPr>
              <a:t>11</a:t>
            </a:r>
          </a:p>
        </p:txBody>
      </p:sp>
      <p:sp>
        <p:nvSpPr>
          <p:cNvPr id="8" name="">
            <a:extLst xmlns:a="http://schemas.openxmlformats.org/drawingml/2006/main">
              <a:ext uri="{FF2B5EF4-FFF2-40B4-BE49-F238E27FC236}">
                <a16:creationId xmlns:a16="http://schemas.microsoft.com/office/drawing/2014/main" id="{855155FB-7842-4831-A29A-67EA311D83A4}"/>
              </a:ext>
            </a:extLst>
          </p:cNvPr>
          <p:cNvSpPr>
            <a:spLocks xmlns:a="http://schemas.openxmlformats.org/drawingml/2006/main" noGrp="1"/>
          </p:cNvSpPr>
          <p:nvPr/>
        </p:nvSpPr>
        <p:spPr>
          <a:xfrm xmlns:a="http://schemas.openxmlformats.org/drawingml/2006/main">
            <a:off x="4410075" y="3362325"/>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1C42"/>
                </a:solidFill>
                <a:latin typeface="DejaVu Sans"/>
                <a:ea typeface="DejaVu Sans"/>
                <a:cs typeface="DejaVu Sans"/>
              </a:defRPr>
            </a:pPr>
            <a:r>
              <a:rPr sz="2025" b="1">
                <a:solidFill>
                  <a:srgbClr val="101C42"/>
                </a:solidFill>
                <a:latin typeface="DejaVu Sans"/>
                <a:ea typeface="DejaVu Sans"/>
                <a:cs typeface="DejaVu Sans"/>
              </a:rPr>
              <a:t>types de demande</a:t>
            </a:r>
          </a:p>
        </p:txBody>
      </p:sp>
      <p:sp>
        <p:nvSpPr>
          <p:cNvPr id="9" name="">
            <a:extLst xmlns:a="http://schemas.openxmlformats.org/drawingml/2006/main">
              <a:ext uri="{FF2B5EF4-FFF2-40B4-BE49-F238E27FC236}">
                <a16:creationId xmlns:a16="http://schemas.microsoft.com/office/drawing/2014/main" id="{61183ABB-3191-488F-A3A7-2277115C506C}"/>
              </a:ext>
            </a:extLst>
          </p:cNvPr>
          <p:cNvSpPr>
            <a:spLocks xmlns:a="http://schemas.openxmlformats.org/drawingml/2006/main" noGrp="1"/>
          </p:cNvSpPr>
          <p:nvPr/>
        </p:nvSpPr>
        <p:spPr>
          <a:xfrm xmlns:a="http://schemas.openxmlformats.org/drawingml/2006/main">
            <a:off x="4410075" y="4029075"/>
            <a:ext cx="314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64C"/>
                </a:solidFill>
                <a:latin typeface="DejaVu Sans"/>
                <a:ea typeface="DejaVu Sans"/>
                <a:cs typeface="DejaVu Sans"/>
              </a:defRPr>
            </a:pPr>
            <a:r>
              <a:rPr sz="1950" b="0">
                <a:solidFill>
                  <a:srgbClr val="17264C"/>
                </a:solidFill>
                <a:latin typeface="DejaVu Sans"/>
                <a:ea typeface="DejaVu Sans"/>
                <a:cs typeface="DejaVu Sans"/>
              </a:rPr>
              <a:t>Avis de décès</a:t>
            </a:r>
          </a:p>
          <a:p xmlns:a="http://schemas.openxmlformats.org/drawingml/2006/main">
            <a:pPr>
              <a:defRPr sz="1950" b="0">
                <a:solidFill>
                  <a:srgbClr val="17264C"/>
                </a:solidFill>
                <a:latin typeface="DejaVu Sans"/>
                <a:ea typeface="DejaVu Sans"/>
                <a:cs typeface="DejaVu Sans"/>
              </a:defRPr>
            </a:pPr>
            <a:r>
              <a:rPr sz="1950" b="0">
                <a:solidFill>
                  <a:srgbClr val="17264C"/>
                </a:solidFill>
                <a:latin typeface="DejaVu Sans"/>
                <a:ea typeface="DejaVu Sans"/>
                <a:cs typeface="DejaVu Sans"/>
              </a:rPr>
              <a:t>Remerciements</a:t>
            </a:r>
          </a:p>
          <a:p xmlns:a="http://schemas.openxmlformats.org/drawingml/2006/main">
            <a:pPr>
              <a:defRPr sz="1950" b="0">
                <a:solidFill>
                  <a:srgbClr val="17264C"/>
                </a:solidFill>
                <a:latin typeface="DejaVu Sans"/>
                <a:ea typeface="DejaVu Sans"/>
                <a:cs typeface="DejaVu Sans"/>
              </a:defRPr>
            </a:pPr>
            <a:r>
              <a:rPr sz="1950" b="0">
                <a:solidFill>
                  <a:srgbClr val="17264C"/>
                </a:solidFill>
                <a:latin typeface="DejaVu Sans"/>
                <a:ea typeface="DejaVu Sans"/>
                <a:cs typeface="DejaVu Sans"/>
              </a:rPr>
              <a:t>Hommage…</a:t>
            </a:r>
          </a:p>
        </p:txBody>
      </p:sp>
      <p:sp>
        <p:nvSpPr>
          <p:cNvPr id="10" name="">
            <a:extLst xmlns:a="http://schemas.openxmlformats.org/drawingml/2006/main">
              <a:ext uri="{FF2B5EF4-FFF2-40B4-BE49-F238E27FC236}">
                <a16:creationId xmlns:a16="http://schemas.microsoft.com/office/drawing/2014/main" id="{BBE3C5D9-ECE9-4EDE-AE49-F5D32F88BF04}"/>
              </a:ext>
            </a:extLst>
          </p:cNvPr>
          <p:cNvSpPr>
            <a:spLocks xmlns:a="http://schemas.openxmlformats.org/drawingml/2006/main" noGrp="1"/>
          </p:cNvSpPr>
          <p:nvPr/>
        </p:nvSpPr>
        <p:spPr>
          <a:xfrm xmlns:a="http://schemas.openxmlformats.org/drawingml/2006/main">
            <a:off x="8210550" y="2066925"/>
            <a:ext cx="304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3447A1"/>
                </a:solidFill>
                <a:latin typeface="DejaVu Sans"/>
                <a:ea typeface="DejaVu Sans"/>
                <a:cs typeface="DejaVu Sans"/>
              </a:defRPr>
            </a:pPr>
            <a:r>
              <a:rPr sz="6600" b="1">
                <a:solidFill>
                  <a:srgbClr val="3447A1"/>
                </a:solidFill>
                <a:latin typeface="DejaVu Sans"/>
                <a:ea typeface="DejaVu Sans"/>
                <a:cs typeface="DejaVu Sans"/>
              </a:rPr>
              <a:t>9</a:t>
            </a:r>
          </a:p>
        </p:txBody>
      </p:sp>
      <p:sp>
        <p:nvSpPr>
          <p:cNvPr id="11" name="">
            <a:extLst xmlns:a="http://schemas.openxmlformats.org/drawingml/2006/main">
              <a:ext uri="{FF2B5EF4-FFF2-40B4-BE49-F238E27FC236}">
                <a16:creationId xmlns:a16="http://schemas.microsoft.com/office/drawing/2014/main" id="{C5E95F85-3ACD-4BA2-A7FE-E69762BCB3EC}"/>
              </a:ext>
            </a:extLst>
          </p:cNvPr>
          <p:cNvSpPr>
            <a:spLocks xmlns:a="http://schemas.openxmlformats.org/drawingml/2006/main" noGrp="1"/>
          </p:cNvSpPr>
          <p:nvPr/>
        </p:nvSpPr>
        <p:spPr>
          <a:xfrm xmlns:a="http://schemas.openxmlformats.org/drawingml/2006/main">
            <a:off x="8210550" y="3362325"/>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1C42"/>
                </a:solidFill>
                <a:latin typeface="DejaVu Sans"/>
                <a:ea typeface="DejaVu Sans"/>
                <a:cs typeface="DejaVu Sans"/>
              </a:defRPr>
            </a:pPr>
            <a:r>
              <a:rPr sz="2025" b="1">
                <a:solidFill>
                  <a:srgbClr val="101C42"/>
                </a:solidFill>
                <a:latin typeface="DejaVu Sans"/>
                <a:ea typeface="DejaVu Sans"/>
                <a:cs typeface="DejaVu Sans"/>
              </a:rPr>
              <a:t>titres de presse</a:t>
            </a:r>
          </a:p>
        </p:txBody>
      </p:sp>
      <p:sp>
        <p:nvSpPr>
          <p:cNvPr id="12" name="">
            <a:extLst xmlns:a="http://schemas.openxmlformats.org/drawingml/2006/main">
              <a:ext uri="{FF2B5EF4-FFF2-40B4-BE49-F238E27FC236}">
                <a16:creationId xmlns:a16="http://schemas.microsoft.com/office/drawing/2014/main" id="{90B58AE4-34E3-4D8F-9D18-768C5A203850}"/>
              </a:ext>
            </a:extLst>
          </p:cNvPr>
          <p:cNvSpPr>
            <a:spLocks xmlns:a="http://schemas.openxmlformats.org/drawingml/2006/main" noGrp="1"/>
          </p:cNvSpPr>
          <p:nvPr/>
        </p:nvSpPr>
        <p:spPr>
          <a:xfrm xmlns:a="http://schemas.openxmlformats.org/drawingml/2006/main">
            <a:off x="8210550" y="4029075"/>
            <a:ext cx="314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64C"/>
                </a:solidFill>
                <a:latin typeface="DejaVu Sans"/>
                <a:ea typeface="DejaVu Sans"/>
                <a:cs typeface="DejaVu Sans"/>
              </a:defRPr>
            </a:pPr>
            <a:r>
              <a:rPr sz="1950" b="0">
                <a:solidFill>
                  <a:srgbClr val="17264C"/>
                </a:solidFill>
                <a:latin typeface="DejaVu Sans"/>
                <a:ea typeface="DejaVu Sans"/>
                <a:cs typeface="DejaVu Sans"/>
              </a:rPr>
              <a:t>DNA, ALS, LDL</a:t>
            </a:r>
          </a:p>
          <a:p xmlns:a="http://schemas.openxmlformats.org/drawingml/2006/main">
            <a:pPr>
              <a:defRPr sz="1950" b="0">
                <a:solidFill>
                  <a:srgbClr val="17264C"/>
                </a:solidFill>
                <a:latin typeface="DejaVu Sans"/>
                <a:ea typeface="DejaVu Sans"/>
                <a:cs typeface="DejaVu Sans"/>
              </a:defRPr>
            </a:pPr>
            <a:r>
              <a:rPr sz="1950" b="0">
                <a:solidFill>
                  <a:srgbClr val="17264C"/>
                </a:solidFill>
                <a:latin typeface="DejaVu Sans"/>
                <a:ea typeface="DejaVu Sans"/>
                <a:cs typeface="DejaVu Sans"/>
              </a:rPr>
              <a:t>LER, LRL, VOM</a:t>
            </a:r>
          </a:p>
          <a:p xmlns:a="http://schemas.openxmlformats.org/drawingml/2006/main">
            <a:pPr>
              <a:defRPr sz="1950" b="0">
                <a:solidFill>
                  <a:srgbClr val="17264C"/>
                </a:solidFill>
                <a:latin typeface="DejaVu Sans"/>
                <a:ea typeface="DejaVu Sans"/>
                <a:cs typeface="DejaVu Sans"/>
              </a:defRPr>
            </a:pPr>
            <a:r>
              <a:rPr sz="1950" b="0">
                <a:solidFill>
                  <a:srgbClr val="17264C"/>
                </a:solidFill>
                <a:latin typeface="DejaVu Sans"/>
                <a:ea typeface="DejaVu Sans"/>
                <a:cs typeface="DejaVu Sans"/>
              </a:rPr>
              <a:t>LPR, JSL, LBP</a:t>
            </a:r>
          </a:p>
        </p:txBody>
      </p:sp>
      <p:sp>
        <p:nvSpPr>
          <p:cNvPr id="13" name="">
            <a:extLst xmlns:a="http://schemas.openxmlformats.org/drawingml/2006/main">
              <a:ext uri="{FF2B5EF4-FFF2-40B4-BE49-F238E27FC236}">
                <a16:creationId xmlns:a16="http://schemas.microsoft.com/office/drawing/2014/main" id="{DC0A4ACD-44B7-4FAD-A9E5-43E701EBF15E}"/>
              </a:ext>
            </a:extLst>
          </p:cNvPr>
          <p:cNvSpPr>
            <a:spLocks xmlns:a="http://schemas.openxmlformats.org/drawingml/2006/main" noGrp="1"/>
          </p:cNvSpPr>
          <p:nvPr/>
        </p:nvSpPr>
        <p:spPr>
          <a:xfrm xmlns:a="http://schemas.openxmlformats.org/drawingml/2006/main">
            <a:off x="628650" y="58197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3708A"/>
                </a:solidFill>
                <a:latin typeface="DejaVu Sans"/>
                <a:ea typeface="DejaVu Sans"/>
                <a:cs typeface="DejaVu Sans"/>
              </a:defRPr>
            </a:pPr>
            <a:r>
              <a:rPr sz="1650" b="0">
                <a:solidFill>
                  <a:srgbClr val="63708A"/>
                </a:solidFill>
                <a:latin typeface="DejaVu Sans"/>
                <a:ea typeface="DejaVu Sans"/>
                <a:cs typeface="DejaVu Sans"/>
              </a:rPr>
              <a:t>Références complémentaires : n° d’ordre, client, n° client et commentaire.</a:t>
            </a:r>
          </a:p>
        </p:txBody>
      </p:sp>
    </p:spTree>
    <p:extLst>
      <p:ext uri="{BB962C8B-B14F-4D97-AF65-F5344CB8AC3E}">
        <p14:creationId xmlns:p14="http://schemas.microsoft.com/office/powerpoint/2010/main" val="1082071911"/>
      </p:ext>
    </p:extLst>
  </p:cSld>
</p:sld>
</file>

<file path=ppt/slides/slide5.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5C8F1A8-252F-4821-825B-2EE0B91AD44F}"/>
              </a:ext>
            </a:extLst>
          </p:cNvPr>
          <p:cNvSpPr>
            <a:spLocks xmlns:a="http://schemas.openxmlformats.org/drawingml/2006/main" noGrp="1"/>
          </p:cNvSpPr>
          <p:nvPr/>
        </p:nvSpPr>
        <p:spPr>
          <a:xfrm xmlns:a="http://schemas.openxmlformats.org/drawingml/2006/main">
            <a:off x="609600" y="381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3447A1"/>
                </a:solidFill>
                <a:latin typeface="DejaVu Sans"/>
                <a:ea typeface="DejaVu Sans"/>
                <a:cs typeface="DejaVu Sans"/>
              </a:defRPr>
            </a:pPr>
            <a:r>
              <a:rPr sz="1200" b="1">
                <a:solidFill>
                  <a:srgbClr val="3447A1"/>
                </a:solidFill>
                <a:latin typeface="DejaVu Sans"/>
                <a:ea typeface="DejaVu Sans"/>
                <a:cs typeface="DejaVu Sans"/>
              </a:rPr>
              <a:t>UTILISATION</a:t>
            </a:r>
          </a:p>
        </p:txBody>
      </p:sp>
      <p:sp>
        <p:nvSpPr>
          <p:cNvPr id="2" name="">
            <a:extLst xmlns:a="http://schemas.openxmlformats.org/drawingml/2006/main">
              <a:ext uri="{FF2B5EF4-FFF2-40B4-BE49-F238E27FC236}">
                <a16:creationId xmlns:a16="http://schemas.microsoft.com/office/drawing/2014/main" id="{83C37D3C-4793-4BFB-8853-7B3C8A2249F6}"/>
              </a:ext>
            </a:extLst>
          </p:cNvPr>
          <p:cNvSpPr>
            <a:spLocks xmlns:a="http://schemas.openxmlformats.org/drawingml/2006/main" noGrp="1"/>
          </p:cNvSpPr>
          <p:nvPr/>
        </p:nvSpPr>
        <p:spPr>
          <a:xfrm xmlns:a="http://schemas.openxmlformats.org/drawingml/2006/main">
            <a:off x="609600" y="8382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1C42"/>
                </a:solidFill>
                <a:latin typeface="DejaVu Sans"/>
                <a:ea typeface="DejaVu Sans"/>
                <a:cs typeface="DejaVu Sans"/>
              </a:defRPr>
            </a:pPr>
            <a:r>
              <a:rPr sz="3225" b="1">
                <a:solidFill>
                  <a:srgbClr val="101C42"/>
                </a:solidFill>
                <a:latin typeface="DejaVu Sans"/>
                <a:ea typeface="DejaVu Sans"/>
                <a:cs typeface="DejaVu Sans"/>
              </a:rPr>
              <a:t>Le parcours collaborateur</a:t>
            </a:r>
          </a:p>
        </p:txBody>
      </p:sp>
      <p:sp>
        <p:nvSpPr>
          <p:cNvPr id="3" name="">
            <a:extLst xmlns:a="http://schemas.openxmlformats.org/drawingml/2006/main">
              <a:ext uri="{FF2B5EF4-FFF2-40B4-BE49-F238E27FC236}">
                <a16:creationId xmlns:a16="http://schemas.microsoft.com/office/drawing/2014/main" id="{793DA668-DE3A-4339-932B-560352A95DCE}"/>
              </a:ext>
            </a:extLst>
          </p:cNvPr>
          <p:cNvSpPr>
            <a:spLocks xmlns:a="http://schemas.openxmlformats.org/drawingml/2006/main" noGrp="1"/>
          </p:cNvSpPr>
          <p:nvPr/>
        </p:nvSpPr>
        <p:spPr>
          <a:xfrm xmlns:a="http://schemas.openxmlformats.org/drawingml/2006/main">
            <a:off x="11049000" y="638175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3708A"/>
                </a:solidFill>
                <a:latin typeface="DejaVu Sans"/>
                <a:ea typeface="DejaVu Sans"/>
                <a:cs typeface="DejaVu Sans"/>
              </a:defRPr>
            </a:pPr>
            <a:r>
              <a:rPr sz="1125" b="0">
                <a:solidFill>
                  <a:srgbClr val="63708A"/>
                </a:solidFill>
                <a:latin typeface="DejaVu Sans"/>
                <a:ea typeface="DejaVu Sans"/>
                <a:cs typeface="DejaVu Sans"/>
              </a:rPr>
              <a:t>05</a:t>
            </a:r>
          </a:p>
        </p:txBody>
      </p:sp>
      <p:sp>
        <p:nvSpPr>
          <p:cNvPr id="4" name="">
            <a:extLst xmlns:a="http://schemas.openxmlformats.org/drawingml/2006/main">
              <a:ext uri="{FF2B5EF4-FFF2-40B4-BE49-F238E27FC236}">
                <a16:creationId xmlns:a16="http://schemas.microsoft.com/office/drawing/2014/main" id="{2D5C6CBF-F829-4FF0-9BA5-65FB9C04B411}"/>
              </a:ext>
            </a:extLst>
          </p:cNvPr>
          <p:cNvSpPr>
            <a:spLocks xmlns:a="http://schemas.openxmlformats.org/drawingml/2006/main" noGrp="1"/>
          </p:cNvSpPr>
          <p:nvPr/>
        </p:nvSpPr>
        <p:spPr>
          <a:xfrm xmlns:a="http://schemas.openxmlformats.org/drawingml/2006/main">
            <a:off x="609600" y="2333625"/>
            <a:ext cx="2381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325" b="1">
                <a:solidFill>
                  <a:srgbClr val="3447A1"/>
                </a:solidFill>
                <a:latin typeface="DejaVu Sans"/>
                <a:ea typeface="DejaVu Sans"/>
                <a:cs typeface="DejaVu Sans"/>
              </a:defRPr>
            </a:pPr>
            <a:r>
              <a:rPr sz="5325" b="1">
                <a:solidFill>
                  <a:srgbClr val="3447A1"/>
                </a:solidFill>
                <a:latin typeface="DejaVu Sans"/>
                <a:ea typeface="DejaVu Sans"/>
                <a:cs typeface="DejaVu Sans"/>
              </a:rPr>
              <a:t>01</a:t>
            </a:r>
          </a:p>
        </p:txBody>
      </p:sp>
      <p:sp>
        <p:nvSpPr>
          <p:cNvPr id="5" name="">
            <a:extLst xmlns:a="http://schemas.openxmlformats.org/drawingml/2006/main">
              <a:ext uri="{FF2B5EF4-FFF2-40B4-BE49-F238E27FC236}">
                <a16:creationId xmlns:a16="http://schemas.microsoft.com/office/drawing/2014/main" id="{B66F9ECB-8E7E-46A5-8B74-2693CB4D1C9A}"/>
              </a:ext>
            </a:extLst>
          </p:cNvPr>
          <p:cNvSpPr>
            <a:spLocks xmlns:a="http://schemas.openxmlformats.org/drawingml/2006/main" noGrp="1"/>
          </p:cNvSpPr>
          <p:nvPr/>
        </p:nvSpPr>
        <p:spPr>
          <a:xfrm xmlns:a="http://schemas.openxmlformats.org/drawingml/2006/main">
            <a:off x="609600" y="3571875"/>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1C42"/>
                </a:solidFill>
                <a:latin typeface="DejaVu Sans"/>
                <a:ea typeface="DejaVu Sans"/>
                <a:cs typeface="DejaVu Sans"/>
              </a:defRPr>
            </a:pPr>
            <a:r>
              <a:rPr sz="2250" b="1">
                <a:solidFill>
                  <a:srgbClr val="101C42"/>
                </a:solidFill>
                <a:latin typeface="DejaVu Sans"/>
                <a:ea typeface="DejaVu Sans"/>
                <a:cs typeface="DejaVu Sans"/>
              </a:rPr>
              <a:t>Qualifier</a:t>
            </a:r>
          </a:p>
        </p:txBody>
      </p:sp>
      <p:sp>
        <p:nvSpPr>
          <p:cNvPr id="6" name="">
            <a:extLst xmlns:a="http://schemas.openxmlformats.org/drawingml/2006/main">
              <a:ext uri="{FF2B5EF4-FFF2-40B4-BE49-F238E27FC236}">
                <a16:creationId xmlns:a16="http://schemas.microsoft.com/office/drawing/2014/main" id="{4300D41E-1A9E-4D0F-96A3-8382875D438B}"/>
              </a:ext>
            </a:extLst>
          </p:cNvPr>
          <p:cNvSpPr>
            <a:spLocks xmlns:a="http://schemas.openxmlformats.org/drawingml/2006/main" noGrp="1"/>
          </p:cNvSpPr>
          <p:nvPr/>
        </p:nvSpPr>
        <p:spPr>
          <a:xfrm xmlns:a="http://schemas.openxmlformats.org/drawingml/2006/main">
            <a:off x="609600" y="4324350"/>
            <a:ext cx="2571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64C"/>
                </a:solidFill>
                <a:latin typeface="DejaVu Sans"/>
                <a:ea typeface="DejaVu Sans"/>
                <a:cs typeface="DejaVu Sans"/>
              </a:defRPr>
            </a:pPr>
            <a:r>
              <a:rPr sz="1725" b="0">
                <a:solidFill>
                  <a:srgbClr val="17264C"/>
                </a:solidFill>
                <a:latin typeface="DejaVu Sans"/>
                <a:ea typeface="DejaVu Sans"/>
                <a:cs typeface="DejaVu Sans"/>
              </a:rPr>
              <a:t>Type, origine, titre</a:t>
            </a:r>
          </a:p>
          <a:p xmlns:a="http://schemas.openxmlformats.org/drawingml/2006/main">
            <a:pPr>
              <a:defRPr sz="1725" b="0">
                <a:solidFill>
                  <a:srgbClr val="17264C"/>
                </a:solidFill>
                <a:latin typeface="DejaVu Sans"/>
                <a:ea typeface="DejaVu Sans"/>
                <a:cs typeface="DejaVu Sans"/>
              </a:defRPr>
            </a:pPr>
            <a:r>
              <a:rPr sz="1725" b="0">
                <a:solidFill>
                  <a:srgbClr val="17264C"/>
                </a:solidFill>
                <a:latin typeface="DejaVu Sans"/>
                <a:ea typeface="DejaVu Sans"/>
                <a:cs typeface="DejaVu Sans"/>
              </a:rPr>
              <a:t>et références client</a:t>
            </a:r>
          </a:p>
        </p:txBody>
      </p:sp>
      <p:sp>
        <p:nvSpPr>
          <p:cNvPr id="7" name="">
            <a:extLst xmlns:a="http://schemas.openxmlformats.org/drawingml/2006/main">
              <a:ext uri="{FF2B5EF4-FFF2-40B4-BE49-F238E27FC236}">
                <a16:creationId xmlns:a16="http://schemas.microsoft.com/office/drawing/2014/main" id="{2AF49026-20B5-4F08-9ECA-0B1095492E33}"/>
              </a:ext>
            </a:extLst>
          </p:cNvPr>
          <p:cNvSpPr>
            <a:spLocks xmlns:a="http://schemas.openxmlformats.org/drawingml/2006/main" noGrp="1"/>
          </p:cNvSpPr>
          <p:nvPr/>
        </p:nvSpPr>
        <p:spPr>
          <a:xfrm xmlns:a="http://schemas.openxmlformats.org/drawingml/2006/main">
            <a:off x="3409950" y="2333625"/>
            <a:ext cx="2381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325" b="1">
                <a:solidFill>
                  <a:srgbClr val="3447A1"/>
                </a:solidFill>
                <a:latin typeface="DejaVu Sans"/>
                <a:ea typeface="DejaVu Sans"/>
                <a:cs typeface="DejaVu Sans"/>
              </a:defRPr>
            </a:pPr>
            <a:r>
              <a:rPr sz="5325" b="1">
                <a:solidFill>
                  <a:srgbClr val="3447A1"/>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76A99F68-A667-492D-B556-1462A67D4F8F}"/>
              </a:ext>
            </a:extLst>
          </p:cNvPr>
          <p:cNvSpPr>
            <a:spLocks xmlns:a="http://schemas.openxmlformats.org/drawingml/2006/main" noGrp="1"/>
          </p:cNvSpPr>
          <p:nvPr/>
        </p:nvSpPr>
        <p:spPr>
          <a:xfrm xmlns:a="http://schemas.openxmlformats.org/drawingml/2006/main">
            <a:off x="3409950" y="3571875"/>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1C42"/>
                </a:solidFill>
                <a:latin typeface="DejaVu Sans"/>
                <a:ea typeface="DejaVu Sans"/>
                <a:cs typeface="DejaVu Sans"/>
              </a:defRPr>
            </a:pPr>
            <a:r>
              <a:rPr sz="2250" b="1">
                <a:solidFill>
                  <a:srgbClr val="101C42"/>
                </a:solidFill>
                <a:latin typeface="DejaVu Sans"/>
                <a:ea typeface="DejaVu Sans"/>
                <a:cs typeface="DejaVu Sans"/>
              </a:rPr>
              <a:t>Lancer</a:t>
            </a:r>
          </a:p>
        </p:txBody>
      </p:sp>
      <p:sp>
        <p:nvSpPr>
          <p:cNvPr id="9" name="">
            <a:extLst xmlns:a="http://schemas.openxmlformats.org/drawingml/2006/main">
              <a:ext uri="{FF2B5EF4-FFF2-40B4-BE49-F238E27FC236}">
                <a16:creationId xmlns:a16="http://schemas.microsoft.com/office/drawing/2014/main" id="{4FB3BFBF-49D4-4DC7-8F29-15FA5F1C9179}"/>
              </a:ext>
            </a:extLst>
          </p:cNvPr>
          <p:cNvSpPr>
            <a:spLocks xmlns:a="http://schemas.openxmlformats.org/drawingml/2006/main" noGrp="1"/>
          </p:cNvSpPr>
          <p:nvPr/>
        </p:nvSpPr>
        <p:spPr>
          <a:xfrm xmlns:a="http://schemas.openxmlformats.org/drawingml/2006/main">
            <a:off x="3409950" y="4324350"/>
            <a:ext cx="2571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64C"/>
                </a:solidFill>
                <a:latin typeface="DejaVu Sans"/>
                <a:ea typeface="DejaVu Sans"/>
                <a:cs typeface="DejaVu Sans"/>
              </a:defRPr>
            </a:pPr>
            <a:r>
              <a:rPr sz="1725" b="0">
                <a:solidFill>
                  <a:srgbClr val="17264C"/>
                </a:solidFill>
                <a:latin typeface="DejaVu Sans"/>
                <a:ea typeface="DejaVu Sans"/>
                <a:cs typeface="DejaVu Sans"/>
              </a:rPr>
              <a:t>Début horodaté</a:t>
            </a:r>
          </a:p>
          <a:p xmlns:a="http://schemas.openxmlformats.org/drawingml/2006/main">
            <a:pPr>
              <a:defRPr sz="1725" b="0">
                <a:solidFill>
                  <a:srgbClr val="17264C"/>
                </a:solidFill>
                <a:latin typeface="DejaVu Sans"/>
                <a:ea typeface="DejaVu Sans"/>
                <a:cs typeface="DejaVu Sans"/>
              </a:defRPr>
            </a:pPr>
            <a:r>
              <a:rPr sz="1725" b="0">
                <a:solidFill>
                  <a:srgbClr val="17264C"/>
                </a:solidFill>
                <a:latin typeface="DejaVu Sans"/>
                <a:ea typeface="DejaVu Sans"/>
                <a:cs typeface="DejaVu Sans"/>
              </a:rPr>
              <a:t>Agent identifié</a:t>
            </a:r>
          </a:p>
        </p:txBody>
      </p:sp>
      <p:sp>
        <p:nvSpPr>
          <p:cNvPr id="10" name="">
            <a:extLst xmlns:a="http://schemas.openxmlformats.org/drawingml/2006/main">
              <a:ext uri="{FF2B5EF4-FFF2-40B4-BE49-F238E27FC236}">
                <a16:creationId xmlns:a16="http://schemas.microsoft.com/office/drawing/2014/main" id="{A81ADDF6-4F25-49A7-A36A-78AA540AC236}"/>
              </a:ext>
            </a:extLst>
          </p:cNvPr>
          <p:cNvSpPr>
            <a:spLocks xmlns:a="http://schemas.openxmlformats.org/drawingml/2006/main" noGrp="1"/>
          </p:cNvSpPr>
          <p:nvPr/>
        </p:nvSpPr>
        <p:spPr>
          <a:xfrm xmlns:a="http://schemas.openxmlformats.org/drawingml/2006/main">
            <a:off x="6210300" y="2333625"/>
            <a:ext cx="2381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325" b="1">
                <a:solidFill>
                  <a:srgbClr val="3447A1"/>
                </a:solidFill>
                <a:latin typeface="DejaVu Sans"/>
                <a:ea typeface="DejaVu Sans"/>
                <a:cs typeface="DejaVu Sans"/>
              </a:defRPr>
            </a:pPr>
            <a:r>
              <a:rPr sz="5325" b="1">
                <a:solidFill>
                  <a:srgbClr val="3447A1"/>
                </a:solidFill>
                <a:latin typeface="DejaVu Sans"/>
                <a:ea typeface="DejaVu Sans"/>
                <a:cs typeface="DejaVu Sans"/>
              </a:rPr>
              <a:t>03</a:t>
            </a:r>
          </a:p>
        </p:txBody>
      </p:sp>
      <p:sp>
        <p:nvSpPr>
          <p:cNvPr id="11" name="">
            <a:extLst xmlns:a="http://schemas.openxmlformats.org/drawingml/2006/main">
              <a:ext uri="{FF2B5EF4-FFF2-40B4-BE49-F238E27FC236}">
                <a16:creationId xmlns:a16="http://schemas.microsoft.com/office/drawing/2014/main" id="{284D1561-53D8-4521-8A47-47C8125D74C5}"/>
              </a:ext>
            </a:extLst>
          </p:cNvPr>
          <p:cNvSpPr>
            <a:spLocks xmlns:a="http://schemas.openxmlformats.org/drawingml/2006/main" noGrp="1"/>
          </p:cNvSpPr>
          <p:nvPr/>
        </p:nvSpPr>
        <p:spPr>
          <a:xfrm xmlns:a="http://schemas.openxmlformats.org/drawingml/2006/main">
            <a:off x="6210300" y="3571875"/>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1C42"/>
                </a:solidFill>
                <a:latin typeface="DejaVu Sans"/>
                <a:ea typeface="DejaVu Sans"/>
                <a:cs typeface="DejaVu Sans"/>
              </a:defRPr>
            </a:pPr>
            <a:r>
              <a:rPr sz="2250" b="1">
                <a:solidFill>
                  <a:srgbClr val="101C42"/>
                </a:solidFill>
                <a:latin typeface="DejaVu Sans"/>
                <a:ea typeface="DejaVu Sans"/>
                <a:cs typeface="DejaVu Sans"/>
              </a:rPr>
              <a:t>Traiter</a:t>
            </a:r>
          </a:p>
        </p:txBody>
      </p:sp>
      <p:sp>
        <p:nvSpPr>
          <p:cNvPr id="12" name="">
            <a:extLst xmlns:a="http://schemas.openxmlformats.org/drawingml/2006/main">
              <a:ext uri="{FF2B5EF4-FFF2-40B4-BE49-F238E27FC236}">
                <a16:creationId xmlns:a16="http://schemas.microsoft.com/office/drawing/2014/main" id="{4388C205-57E2-4B4A-8280-E4EB7146AB87}"/>
              </a:ext>
            </a:extLst>
          </p:cNvPr>
          <p:cNvSpPr>
            <a:spLocks xmlns:a="http://schemas.openxmlformats.org/drawingml/2006/main" noGrp="1"/>
          </p:cNvSpPr>
          <p:nvPr/>
        </p:nvSpPr>
        <p:spPr>
          <a:xfrm xmlns:a="http://schemas.openxmlformats.org/drawingml/2006/main">
            <a:off x="6210300" y="4324350"/>
            <a:ext cx="2571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64C"/>
                </a:solidFill>
                <a:latin typeface="DejaVu Sans"/>
                <a:ea typeface="DejaVu Sans"/>
                <a:cs typeface="DejaVu Sans"/>
              </a:defRPr>
            </a:pPr>
            <a:r>
              <a:rPr sz="1725" b="0">
                <a:solidFill>
                  <a:srgbClr val="17264C"/>
                </a:solidFill>
                <a:latin typeface="DejaVu Sans"/>
                <a:ea typeface="DejaVu Sans"/>
                <a:cs typeface="DejaVu Sans"/>
              </a:rPr>
              <a:t>Intervention métier</a:t>
            </a:r>
          </a:p>
          <a:p xmlns:a="http://schemas.openxmlformats.org/drawingml/2006/main">
            <a:pPr>
              <a:defRPr sz="1725" b="0">
                <a:solidFill>
                  <a:srgbClr val="17264C"/>
                </a:solidFill>
                <a:latin typeface="DejaVu Sans"/>
                <a:ea typeface="DejaVu Sans"/>
                <a:cs typeface="DejaVu Sans"/>
              </a:defRPr>
            </a:pPr>
            <a:r>
              <a:rPr sz="1725" b="0">
                <a:solidFill>
                  <a:srgbClr val="17264C"/>
                </a:solidFill>
                <a:latin typeface="DejaVu Sans"/>
                <a:ea typeface="DejaVu Sans"/>
                <a:cs typeface="DejaVu Sans"/>
              </a:rPr>
              <a:t>et suivi de la durée</a:t>
            </a:r>
          </a:p>
        </p:txBody>
      </p:sp>
      <p:sp>
        <p:nvSpPr>
          <p:cNvPr id="13" name="">
            <a:extLst xmlns:a="http://schemas.openxmlformats.org/drawingml/2006/main">
              <a:ext uri="{FF2B5EF4-FFF2-40B4-BE49-F238E27FC236}">
                <a16:creationId xmlns:a16="http://schemas.microsoft.com/office/drawing/2014/main" id="{58640CAA-77B9-43D1-82E3-85B10CAA190C}"/>
              </a:ext>
            </a:extLst>
          </p:cNvPr>
          <p:cNvSpPr>
            <a:spLocks xmlns:a="http://schemas.openxmlformats.org/drawingml/2006/main" noGrp="1"/>
          </p:cNvSpPr>
          <p:nvPr/>
        </p:nvSpPr>
        <p:spPr>
          <a:xfrm xmlns:a="http://schemas.openxmlformats.org/drawingml/2006/main">
            <a:off x="9010650" y="2333625"/>
            <a:ext cx="2381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325" b="1">
                <a:solidFill>
                  <a:srgbClr val="C3377B"/>
                </a:solidFill>
                <a:latin typeface="DejaVu Sans"/>
                <a:ea typeface="DejaVu Sans"/>
                <a:cs typeface="DejaVu Sans"/>
              </a:defRPr>
            </a:pPr>
            <a:r>
              <a:rPr sz="5325" b="1">
                <a:solidFill>
                  <a:srgbClr val="C3377B"/>
                </a:solidFill>
                <a:latin typeface="DejaVu Sans"/>
                <a:ea typeface="DejaVu Sans"/>
                <a:cs typeface="DejaVu Sans"/>
              </a:rPr>
              <a:t>04</a:t>
            </a:r>
          </a:p>
        </p:txBody>
      </p:sp>
      <p:sp>
        <p:nvSpPr>
          <p:cNvPr id="14" name="">
            <a:extLst xmlns:a="http://schemas.openxmlformats.org/drawingml/2006/main">
              <a:ext uri="{FF2B5EF4-FFF2-40B4-BE49-F238E27FC236}">
                <a16:creationId xmlns:a16="http://schemas.microsoft.com/office/drawing/2014/main" id="{FD4846F8-24BD-467C-BCBC-AA1C28315706}"/>
              </a:ext>
            </a:extLst>
          </p:cNvPr>
          <p:cNvSpPr>
            <a:spLocks xmlns:a="http://schemas.openxmlformats.org/drawingml/2006/main" noGrp="1"/>
          </p:cNvSpPr>
          <p:nvPr/>
        </p:nvSpPr>
        <p:spPr>
          <a:xfrm xmlns:a="http://schemas.openxmlformats.org/drawingml/2006/main">
            <a:off x="9010650" y="3571875"/>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1C42"/>
                </a:solidFill>
                <a:latin typeface="DejaVu Sans"/>
                <a:ea typeface="DejaVu Sans"/>
                <a:cs typeface="DejaVu Sans"/>
              </a:defRPr>
            </a:pPr>
            <a:r>
              <a:rPr sz="2250" b="1">
                <a:solidFill>
                  <a:srgbClr val="101C42"/>
                </a:solidFill>
                <a:latin typeface="DejaVu Sans"/>
                <a:ea typeface="DejaVu Sans"/>
                <a:cs typeface="DejaVu Sans"/>
              </a:rPr>
              <a:t>Clôturer</a:t>
            </a:r>
          </a:p>
        </p:txBody>
      </p:sp>
      <p:sp>
        <p:nvSpPr>
          <p:cNvPr id="15" name="">
            <a:extLst xmlns:a="http://schemas.openxmlformats.org/drawingml/2006/main">
              <a:ext uri="{FF2B5EF4-FFF2-40B4-BE49-F238E27FC236}">
                <a16:creationId xmlns:a16="http://schemas.microsoft.com/office/drawing/2014/main" id="{1C95769D-56A3-45B5-9196-A6DA9A5772D6}"/>
              </a:ext>
            </a:extLst>
          </p:cNvPr>
          <p:cNvSpPr>
            <a:spLocks xmlns:a="http://schemas.openxmlformats.org/drawingml/2006/main" noGrp="1"/>
          </p:cNvSpPr>
          <p:nvPr/>
        </p:nvSpPr>
        <p:spPr>
          <a:xfrm xmlns:a="http://schemas.openxmlformats.org/drawingml/2006/main">
            <a:off x="9010650" y="4324350"/>
            <a:ext cx="2571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64C"/>
                </a:solidFill>
                <a:latin typeface="DejaVu Sans"/>
                <a:ea typeface="DejaVu Sans"/>
                <a:cs typeface="DejaVu Sans"/>
              </a:defRPr>
            </a:pPr>
            <a:r>
              <a:rPr sz="1725" b="0">
                <a:solidFill>
                  <a:srgbClr val="17264C"/>
                </a:solidFill>
                <a:latin typeface="DejaVu Sans"/>
                <a:ea typeface="DejaVu Sans"/>
                <a:cs typeface="DejaVu Sans"/>
              </a:rPr>
              <a:t>Commentaire final</a:t>
            </a:r>
          </a:p>
          <a:p xmlns:a="http://schemas.openxmlformats.org/drawingml/2006/main">
            <a:pPr>
              <a:defRPr sz="1725" b="0">
                <a:solidFill>
                  <a:srgbClr val="17264C"/>
                </a:solidFill>
                <a:latin typeface="DejaVu Sans"/>
                <a:ea typeface="DejaVu Sans"/>
                <a:cs typeface="DejaVu Sans"/>
              </a:defRPr>
            </a:pPr>
            <a:r>
              <a:rPr sz="1725" b="0">
                <a:solidFill>
                  <a:srgbClr val="17264C"/>
                </a:solidFill>
                <a:latin typeface="DejaVu Sans"/>
                <a:ea typeface="DejaVu Sans"/>
                <a:cs typeface="DejaVu Sans"/>
              </a:rPr>
              <a:t>Fin horodatée</a:t>
            </a:r>
          </a:p>
        </p:txBody>
      </p:sp>
      <p:sp>
        <p:nvSpPr>
          <p:cNvPr id="16" name="">
            <a:extLst xmlns:a="http://schemas.openxmlformats.org/drawingml/2006/main">
              <a:ext uri="{FF2B5EF4-FFF2-40B4-BE49-F238E27FC236}">
                <a16:creationId xmlns:a16="http://schemas.microsoft.com/office/drawing/2014/main" id="{C49AD85D-22C1-474E-8D95-D32D7585C936}"/>
              </a:ext>
            </a:extLst>
          </p:cNvPr>
          <p:cNvSpPr>
            <a:spLocks xmlns:a="http://schemas.openxmlformats.org/drawingml/2006/main" noGrp="1"/>
          </p:cNvSpPr>
          <p:nvPr/>
        </p:nvSpPr>
        <p:spPr>
          <a:xfrm xmlns:a="http://schemas.openxmlformats.org/drawingml/2006/main">
            <a:off x="628650" y="5915025"/>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3708A"/>
                </a:solidFill>
                <a:latin typeface="DejaVu Sans"/>
                <a:ea typeface="DejaVu Sans"/>
                <a:cs typeface="DejaVu Sans"/>
              </a:defRPr>
            </a:pPr>
            <a:r>
              <a:rPr sz="1650" b="0">
                <a:solidFill>
                  <a:srgbClr val="63708A"/>
                </a:solidFill>
                <a:latin typeface="DejaVu Sans"/>
                <a:ea typeface="DejaVu Sans"/>
                <a:cs typeface="DejaVu Sans"/>
              </a:rPr>
              <a:t>Le traitement en cours reste enregistré si le navigateur se ferme.</a:t>
            </a:r>
          </a:p>
        </p:txBody>
      </p:sp>
    </p:spTree>
    <p:extLst>
      <p:ext uri="{BB962C8B-B14F-4D97-AF65-F5344CB8AC3E}">
        <p14:creationId xmlns:p14="http://schemas.microsoft.com/office/powerpoint/2010/main" val="304697287"/>
      </p:ext>
    </p:extLst>
  </p:cSld>
</p:sld>
</file>

<file path=ppt/slides/slide6.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5B7BD05-F97C-4344-9D40-006270902EF0}"/>
              </a:ext>
            </a:extLst>
          </p:cNvPr>
          <p:cNvSpPr>
            <a:spLocks xmlns:a="http://schemas.openxmlformats.org/drawingml/2006/main" noGrp="1"/>
          </p:cNvSpPr>
          <p:nvPr/>
        </p:nvSpPr>
        <p:spPr>
          <a:xfrm xmlns:a="http://schemas.openxmlformats.org/drawingml/2006/main">
            <a:off x="609600" y="381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3447A1"/>
                </a:solidFill>
                <a:latin typeface="DejaVu Sans"/>
                <a:ea typeface="DejaVu Sans"/>
                <a:cs typeface="DejaVu Sans"/>
              </a:defRPr>
            </a:pPr>
            <a:r>
              <a:rPr sz="1200" b="1">
                <a:solidFill>
                  <a:srgbClr val="3447A1"/>
                </a:solidFill>
                <a:latin typeface="DejaVu Sans"/>
                <a:ea typeface="DejaVu Sans"/>
                <a:cs typeface="DejaVu Sans"/>
              </a:rPr>
              <a:t>MESSAGERIE</a:t>
            </a:r>
          </a:p>
        </p:txBody>
      </p:sp>
      <p:sp>
        <p:nvSpPr>
          <p:cNvPr id="2" name="">
            <a:extLst xmlns:a="http://schemas.openxmlformats.org/drawingml/2006/main">
              <a:ext uri="{FF2B5EF4-FFF2-40B4-BE49-F238E27FC236}">
                <a16:creationId xmlns:a16="http://schemas.microsoft.com/office/drawing/2014/main" id="{0615C43F-D48E-46B2-9ACD-D50DC2EE85CF}"/>
              </a:ext>
            </a:extLst>
          </p:cNvPr>
          <p:cNvSpPr>
            <a:spLocks xmlns:a="http://schemas.openxmlformats.org/drawingml/2006/main" noGrp="1"/>
          </p:cNvSpPr>
          <p:nvPr/>
        </p:nvSpPr>
        <p:spPr>
          <a:xfrm xmlns:a="http://schemas.openxmlformats.org/drawingml/2006/main">
            <a:off x="609600" y="8382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1C42"/>
                </a:solidFill>
                <a:latin typeface="DejaVu Sans"/>
                <a:ea typeface="DejaVu Sans"/>
                <a:cs typeface="DejaVu Sans"/>
              </a:defRPr>
            </a:pPr>
            <a:r>
              <a:rPr sz="3225" b="1">
                <a:solidFill>
                  <a:srgbClr val="101C42"/>
                </a:solidFill>
                <a:latin typeface="DejaVu Sans"/>
                <a:ea typeface="DejaVu Sans"/>
                <a:cs typeface="DejaVu Sans"/>
              </a:rPr>
              <a:t>Outlook dans le parcours de traitement</a:t>
            </a:r>
          </a:p>
        </p:txBody>
      </p:sp>
      <p:sp>
        <p:nvSpPr>
          <p:cNvPr id="3" name="">
            <a:extLst xmlns:a="http://schemas.openxmlformats.org/drawingml/2006/main">
              <a:ext uri="{FF2B5EF4-FFF2-40B4-BE49-F238E27FC236}">
                <a16:creationId xmlns:a16="http://schemas.microsoft.com/office/drawing/2014/main" id="{74E7CDF0-1C38-4D98-A84E-E7BB21F4EC32}"/>
              </a:ext>
            </a:extLst>
          </p:cNvPr>
          <p:cNvSpPr>
            <a:spLocks xmlns:a="http://schemas.openxmlformats.org/drawingml/2006/main" noGrp="1"/>
          </p:cNvSpPr>
          <p:nvPr/>
        </p:nvSpPr>
        <p:spPr>
          <a:xfrm xmlns:a="http://schemas.openxmlformats.org/drawingml/2006/main">
            <a:off x="11049000" y="638175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3708A"/>
                </a:solidFill>
                <a:latin typeface="DejaVu Sans"/>
                <a:ea typeface="DejaVu Sans"/>
                <a:cs typeface="DejaVu Sans"/>
              </a:defRPr>
            </a:pPr>
            <a:r>
              <a:rPr sz="1125" b="0">
                <a:solidFill>
                  <a:srgbClr val="63708A"/>
                </a:solidFill>
                <a:latin typeface="DejaVu Sans"/>
                <a:ea typeface="DejaVu Sans"/>
                <a:cs typeface="DejaVu Sans"/>
              </a:rPr>
              <a:t>06</a:t>
            </a:r>
          </a:p>
        </p:txBody>
      </p:sp>
      <p:sp>
        <p:nvSpPr>
          <p:cNvPr id="4" name="">
            <a:extLst xmlns:a="http://schemas.openxmlformats.org/drawingml/2006/main">
              <a:ext uri="{FF2B5EF4-FFF2-40B4-BE49-F238E27FC236}">
                <a16:creationId xmlns:a16="http://schemas.microsoft.com/office/drawing/2014/main" id="{5F1BBB32-CAC1-461A-912E-32DB6C5ADC5A}"/>
              </a:ext>
            </a:extLst>
          </p:cNvPr>
          <p:cNvSpPr>
            <a:spLocks xmlns:a="http://schemas.openxmlformats.org/drawingml/2006/main" noGrp="1"/>
          </p:cNvSpPr>
          <p:nvPr/>
        </p:nvSpPr>
        <p:spPr>
          <a:xfrm xmlns:a="http://schemas.openxmlformats.org/drawingml/2006/main">
            <a:off x="609600" y="2209800"/>
            <a:ext cx="5143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1C42"/>
                </a:solidFill>
                <a:latin typeface="DejaVu Sans"/>
                <a:ea typeface="DejaVu Sans"/>
                <a:cs typeface="DejaVu Sans"/>
              </a:defRPr>
            </a:pPr>
            <a:r>
              <a:rPr sz="3300" b="1">
                <a:solidFill>
                  <a:srgbClr val="101C42"/>
                </a:solidFill>
                <a:latin typeface="DejaVu Sans"/>
                <a:ea typeface="DejaVu Sans"/>
                <a:cs typeface="DejaVu Sans"/>
              </a:rPr>
              <a:t>Une demande</a:t>
            </a:r>
          </a:p>
          <a:p xmlns:a="http://schemas.openxmlformats.org/drawingml/2006/main">
            <a:pPr>
              <a:defRPr sz="3300" b="1">
                <a:solidFill>
                  <a:srgbClr val="101C42"/>
                </a:solidFill>
                <a:latin typeface="DejaVu Sans"/>
                <a:ea typeface="DejaVu Sans"/>
                <a:cs typeface="DejaVu Sans"/>
              </a:defRPr>
            </a:pPr>
            <a:r>
              <a:rPr sz="3300" b="1">
                <a:solidFill>
                  <a:srgbClr val="101C42"/>
                </a:solidFill>
                <a:latin typeface="DejaVu Sans"/>
                <a:ea typeface="DejaVu Sans"/>
                <a:cs typeface="DejaVu Sans"/>
              </a:rPr>
              <a:t>réservée à un agent</a:t>
            </a:r>
          </a:p>
        </p:txBody>
      </p:sp>
      <p:sp>
        <p:nvSpPr>
          <p:cNvPr id="5" name="">
            <a:extLst xmlns:a="http://schemas.openxmlformats.org/drawingml/2006/main">
              <a:ext uri="{FF2B5EF4-FFF2-40B4-BE49-F238E27FC236}">
                <a16:creationId xmlns:a16="http://schemas.microsoft.com/office/drawing/2014/main" id="{F3F09BB6-356F-4C32-8E44-2F261EC6E73A}"/>
              </a:ext>
            </a:extLst>
          </p:cNvPr>
          <p:cNvSpPr>
            <a:spLocks xmlns:a="http://schemas.openxmlformats.org/drawingml/2006/main" noGrp="1"/>
          </p:cNvSpPr>
          <p:nvPr/>
        </p:nvSpPr>
        <p:spPr>
          <a:xfrm xmlns:a="http://schemas.openxmlformats.org/drawingml/2006/main">
            <a:off x="647700" y="4200525"/>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64C"/>
                </a:solidFill>
                <a:latin typeface="DejaVu Sans"/>
                <a:ea typeface="DejaVu Sans"/>
                <a:cs typeface="DejaVu Sans"/>
              </a:defRPr>
            </a:pPr>
            <a:r>
              <a:rPr sz="2100" b="0">
                <a:solidFill>
                  <a:srgbClr val="17264C"/>
                </a:solidFill>
                <a:latin typeface="DejaVu Sans"/>
                <a:ea typeface="DejaVu Sans"/>
                <a:cs typeface="DejaVu Sans"/>
              </a:rPr>
              <a:t>« Prendre en charge » crée le traitement et empêche une seconde réservation simultanée.</a:t>
            </a:r>
          </a:p>
        </p:txBody>
      </p:sp>
      <p:sp>
        <p:nvSpPr>
          <p:cNvPr id="6" name="">
            <a:extLst xmlns:a="http://schemas.openxmlformats.org/drawingml/2006/main">
              <a:ext uri="{FF2B5EF4-FFF2-40B4-BE49-F238E27FC236}">
                <a16:creationId xmlns:a16="http://schemas.microsoft.com/office/drawing/2014/main" id="{A7E4E9EA-AB3B-479A-A403-E9288B9185AD}"/>
              </a:ext>
            </a:extLst>
          </p:cNvPr>
          <p:cNvSpPr>
            <a:spLocks xmlns:a="http://schemas.openxmlformats.org/drawingml/2006/main" noGrp="1"/>
          </p:cNvSpPr>
          <p:nvPr/>
        </p:nvSpPr>
        <p:spPr>
          <a:xfrm xmlns:a="http://schemas.openxmlformats.org/drawingml/2006/main">
            <a:off x="6743700" y="21431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447A1"/>
                </a:solidFill>
                <a:latin typeface="DejaVu Sans"/>
                <a:ea typeface="DejaVu Sans"/>
                <a:cs typeface="DejaVu Sans"/>
              </a:defRPr>
            </a:pPr>
            <a:r>
              <a:rPr sz="2175" b="1">
                <a:solidFill>
                  <a:srgbClr val="3447A1"/>
                </a:solidFill>
                <a:latin typeface="DejaVu Sans"/>
                <a:ea typeface="DejaVu Sans"/>
                <a:cs typeface="DejaVu Sans"/>
              </a:rPr>
              <a:t>Consulter et répondre</a:t>
            </a:r>
          </a:p>
        </p:txBody>
      </p:sp>
      <p:sp>
        <p:nvSpPr>
          <p:cNvPr id="7" name="">
            <a:extLst xmlns:a="http://schemas.openxmlformats.org/drawingml/2006/main">
              <a:ext uri="{FF2B5EF4-FFF2-40B4-BE49-F238E27FC236}">
                <a16:creationId xmlns:a16="http://schemas.microsoft.com/office/drawing/2014/main" id="{0DE4222C-0BAD-4F6A-AFB5-070C36D17F71}"/>
              </a:ext>
            </a:extLst>
          </p:cNvPr>
          <p:cNvSpPr>
            <a:spLocks xmlns:a="http://schemas.openxmlformats.org/drawingml/2006/main" noGrp="1"/>
          </p:cNvSpPr>
          <p:nvPr/>
        </p:nvSpPr>
        <p:spPr>
          <a:xfrm xmlns:a="http://schemas.openxmlformats.org/drawingml/2006/main">
            <a:off x="6743700" y="2733675"/>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64C"/>
                </a:solidFill>
                <a:latin typeface="DejaVu Sans"/>
                <a:ea typeface="DejaVu Sans"/>
                <a:cs typeface="DejaVu Sans"/>
              </a:defRPr>
            </a:pPr>
            <a:r>
              <a:rPr sz="1875" b="0">
                <a:solidFill>
                  <a:srgbClr val="17264C"/>
                </a:solidFill>
                <a:latin typeface="DejaVu Sans"/>
                <a:ea typeface="DejaVu Sans"/>
                <a:cs typeface="DejaVu Sans"/>
              </a:rPr>
              <a:t>Ouvrir l’e-mail, les pièces jointes et les fenêtres de réponse ou de transfert.</a:t>
            </a:r>
          </a:p>
        </p:txBody>
      </p:sp>
      <p:sp>
        <p:nvSpPr>
          <p:cNvPr id="8" name="">
            <a:extLst xmlns:a="http://schemas.openxmlformats.org/drawingml/2006/main">
              <a:ext uri="{FF2B5EF4-FFF2-40B4-BE49-F238E27FC236}">
                <a16:creationId xmlns:a16="http://schemas.microsoft.com/office/drawing/2014/main" id="{ED08D557-D88B-45BA-8240-586A3BDBEDCB}"/>
              </a:ext>
            </a:extLst>
          </p:cNvPr>
          <p:cNvSpPr>
            <a:spLocks xmlns:a="http://schemas.openxmlformats.org/drawingml/2006/main" noGrp="1"/>
          </p:cNvSpPr>
          <p:nvPr/>
        </p:nvSpPr>
        <p:spPr>
          <a:xfrm xmlns:a="http://schemas.openxmlformats.org/drawingml/2006/main">
            <a:off x="6743700" y="41338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447A1"/>
                </a:solidFill>
                <a:latin typeface="DejaVu Sans"/>
                <a:ea typeface="DejaVu Sans"/>
                <a:cs typeface="DejaVu Sans"/>
              </a:defRPr>
            </a:pPr>
            <a:r>
              <a:rPr sz="2175" b="1">
                <a:solidFill>
                  <a:srgbClr val="3447A1"/>
                </a:solidFill>
                <a:latin typeface="DejaVu Sans"/>
                <a:ea typeface="DejaVu Sans"/>
                <a:cs typeface="DejaVu Sans"/>
              </a:rPr>
              <a:t>Terminer ou libérer</a:t>
            </a:r>
          </a:p>
        </p:txBody>
      </p:sp>
      <p:sp>
        <p:nvSpPr>
          <p:cNvPr id="9" name="">
            <a:extLst xmlns:a="http://schemas.openxmlformats.org/drawingml/2006/main">
              <a:ext uri="{FF2B5EF4-FFF2-40B4-BE49-F238E27FC236}">
                <a16:creationId xmlns:a16="http://schemas.microsoft.com/office/drawing/2014/main" id="{E01724DA-6E38-4DBC-8897-51316D2048FA}"/>
              </a:ext>
            </a:extLst>
          </p:cNvPr>
          <p:cNvSpPr>
            <a:spLocks xmlns:a="http://schemas.openxmlformats.org/drawingml/2006/main" noGrp="1"/>
          </p:cNvSpPr>
          <p:nvPr/>
        </p:nvSpPr>
        <p:spPr>
          <a:xfrm xmlns:a="http://schemas.openxmlformats.org/drawingml/2006/main">
            <a:off x="6743700" y="4724400"/>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64C"/>
                </a:solidFill>
                <a:latin typeface="DejaVu Sans"/>
                <a:ea typeface="DejaVu Sans"/>
                <a:cs typeface="DejaVu Sans"/>
              </a:defRPr>
            </a:pPr>
            <a:r>
              <a:rPr sz="1875" b="0">
                <a:solidFill>
                  <a:srgbClr val="17264C"/>
                </a:solidFill>
                <a:latin typeface="DejaVu Sans"/>
                <a:ea typeface="DejaVu Sans"/>
                <a:cs typeface="DejaVu Sans"/>
              </a:rPr>
              <a:t>La clôture range le mail dans le dossier prévu. La libération le rend disponible.</a:t>
            </a:r>
          </a:p>
        </p:txBody>
      </p:sp>
    </p:spTree>
    <p:extLst>
      <p:ext uri="{BB962C8B-B14F-4D97-AF65-F5344CB8AC3E}">
        <p14:creationId xmlns:p14="http://schemas.microsoft.com/office/powerpoint/2010/main" val="1840224639"/>
      </p:ext>
    </p:extLst>
  </p:cSld>
</p:sld>
</file>

<file path=ppt/slides/slide7.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0686899-40D2-47A2-98A5-003615796E1F}"/>
              </a:ext>
            </a:extLst>
          </p:cNvPr>
          <p:cNvSpPr>
            <a:spLocks xmlns:a="http://schemas.openxmlformats.org/drawingml/2006/main" noGrp="1"/>
          </p:cNvSpPr>
          <p:nvPr/>
        </p:nvSpPr>
        <p:spPr>
          <a:xfrm xmlns:a="http://schemas.openxmlformats.org/drawingml/2006/main">
            <a:off x="609600" y="381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3447A1"/>
                </a:solidFill>
                <a:latin typeface="DejaVu Sans"/>
                <a:ea typeface="DejaVu Sans"/>
                <a:cs typeface="DejaVu Sans"/>
              </a:defRPr>
            </a:pPr>
            <a:r>
              <a:rPr sz="1200" b="1">
                <a:solidFill>
                  <a:srgbClr val="3447A1"/>
                </a:solidFill>
                <a:latin typeface="DejaVu Sans"/>
                <a:ea typeface="DejaVu Sans"/>
                <a:cs typeface="DejaVu Sans"/>
              </a:rPr>
              <a:t>PILOTAGE</a:t>
            </a:r>
          </a:p>
        </p:txBody>
      </p:sp>
      <p:sp>
        <p:nvSpPr>
          <p:cNvPr id="2" name="">
            <a:extLst xmlns:a="http://schemas.openxmlformats.org/drawingml/2006/main">
              <a:ext uri="{FF2B5EF4-FFF2-40B4-BE49-F238E27FC236}">
                <a16:creationId xmlns:a16="http://schemas.microsoft.com/office/drawing/2014/main" id="{1216D182-D26B-4984-B991-6814F0613F76}"/>
              </a:ext>
            </a:extLst>
          </p:cNvPr>
          <p:cNvSpPr>
            <a:spLocks xmlns:a="http://schemas.openxmlformats.org/drawingml/2006/main" noGrp="1"/>
          </p:cNvSpPr>
          <p:nvPr/>
        </p:nvSpPr>
        <p:spPr>
          <a:xfrm xmlns:a="http://schemas.openxmlformats.org/drawingml/2006/main">
            <a:off x="609600" y="8382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1C42"/>
                </a:solidFill>
                <a:latin typeface="DejaVu Sans"/>
                <a:ea typeface="DejaVu Sans"/>
                <a:cs typeface="DejaVu Sans"/>
              </a:defRPr>
            </a:pPr>
            <a:r>
              <a:rPr sz="3225" b="1">
                <a:solidFill>
                  <a:srgbClr val="101C42"/>
                </a:solidFill>
                <a:latin typeface="DejaVu Sans"/>
                <a:ea typeface="DejaVu Sans"/>
                <a:cs typeface="DejaVu Sans"/>
              </a:rPr>
              <a:t>Les repères de pilotage du Manager</a:t>
            </a:r>
          </a:p>
        </p:txBody>
      </p:sp>
      <p:sp>
        <p:nvSpPr>
          <p:cNvPr id="3" name="">
            <a:extLst xmlns:a="http://schemas.openxmlformats.org/drawingml/2006/main">
              <a:ext uri="{FF2B5EF4-FFF2-40B4-BE49-F238E27FC236}">
                <a16:creationId xmlns:a16="http://schemas.microsoft.com/office/drawing/2014/main" id="{9CAE2887-4535-46D6-996F-5FF1166F02D1}"/>
              </a:ext>
            </a:extLst>
          </p:cNvPr>
          <p:cNvSpPr>
            <a:spLocks xmlns:a="http://schemas.openxmlformats.org/drawingml/2006/main" noGrp="1"/>
          </p:cNvSpPr>
          <p:nvPr/>
        </p:nvSpPr>
        <p:spPr>
          <a:xfrm xmlns:a="http://schemas.openxmlformats.org/drawingml/2006/main">
            <a:off x="11049000" y="638175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3708A"/>
                </a:solidFill>
                <a:latin typeface="DejaVu Sans"/>
                <a:ea typeface="DejaVu Sans"/>
                <a:cs typeface="DejaVu Sans"/>
              </a:defRPr>
            </a:pPr>
            <a:r>
              <a:rPr sz="1125" b="0">
                <a:solidFill>
                  <a:srgbClr val="63708A"/>
                </a:solidFill>
                <a:latin typeface="DejaVu Sans"/>
                <a:ea typeface="DejaVu Sans"/>
                <a:cs typeface="DejaVu Sans"/>
              </a:rPr>
              <a:t>07</a:t>
            </a:r>
          </a:p>
        </p:txBody>
      </p:sp>
      <p:graphicFrame>
        <p:nvGraphicFramePr>
          <p:cNvPr id="9" name=""/>
          <p:cNvGraphicFramePr/>
          <p:nvPr/>
        </p:nvGraphicFramePr>
        <p:xfrm>
          <a:off xmlns:a="http://schemas.openxmlformats.org/drawingml/2006/main" x="609600" y="2209800"/>
          <a:ext xmlns:a="http://schemas.openxmlformats.org/drawingml/2006/main" cx="10972800" cy="3048000"/>
        </p:xfrm>
        <a:graphic xmlns:a="http://schemas.openxmlformats.org/drawingml/2006/main">
          <a:graphicData uri="http://schemas.openxmlformats.org/drawingml/2006/table">
            <a:tbl>
              <a:tblPr/>
              <a:tblGrid>
                <a:gridCol w="3429000"/>
                <a:gridCol w="7543800"/>
              </a:tblGrid>
              <a:tr h="609600">
                <a:tc>
                  <a:txBody>
                    <a:bodyPr/>
                    <a:lstStyle/>
                    <a:p>
                      <a:r>
                        <a:rPr sz="1725" b="1">
                          <a:solidFill>
                            <a:srgbClr val="FFFFFF"/>
                          </a:solidFill>
                          <a:latin typeface="DejaVu Sans"/>
                          <a:ea typeface="DejaVu Sans"/>
                          <a:cs typeface="DejaVu Sans"/>
                        </a:rPr>
                        <a:t>Repère</a:t>
                      </a:r>
                    </a:p>
                  </a:txBody>
                  <a:tcPr marL="91440" marR="91440" marT="45720" marB="45720">
                    <a:solidFill>
                      <a:srgbClr val="101C42"/>
                    </a:solidFill>
                  </a:tcPr>
                </a:tc>
                <a:tc>
                  <a:txBody>
                    <a:bodyPr/>
                    <a:lstStyle/>
                    <a:p>
                      <a:r>
                        <a:rPr sz="1725" b="1">
                          <a:solidFill>
                            <a:srgbClr val="FFFFFF"/>
                          </a:solidFill>
                          <a:latin typeface="DejaVu Sans"/>
                          <a:ea typeface="DejaVu Sans"/>
                          <a:cs typeface="DejaVu Sans"/>
                        </a:rPr>
                        <a:t>Lecture opérationnelle</a:t>
                      </a:r>
                    </a:p>
                  </a:txBody>
                  <a:tcPr marL="91440" marR="91440" marT="45720" marB="45720">
                    <a:solidFill>
                      <a:srgbClr val="101C42"/>
                    </a:solidFill>
                  </a:tcPr>
                </a:tc>
              </a:tr>
              <a:tr h="609600">
                <a:tc>
                  <a:txBody>
                    <a:bodyPr/>
                    <a:lstStyle/>
                    <a:p>
                      <a:r>
                        <a:rPr sz="1725" b="0">
                          <a:solidFill>
                            <a:srgbClr val="17264C"/>
                          </a:solidFill>
                          <a:latin typeface="DejaVu Sans"/>
                          <a:ea typeface="DejaVu Sans"/>
                          <a:cs typeface="DejaVu Sans"/>
                        </a:rPr>
                        <a:t>Volume de traitements</a:t>
                      </a:r>
                    </a:p>
                  </a:txBody>
                  <a:tcPr marL="91440" marR="91440" marT="45720" marB="45720">
                    <a:solidFill>
                      <a:srgbClr val="FFFFFF"/>
                    </a:solidFill>
                  </a:tcPr>
                </a:tc>
                <a:tc>
                  <a:txBody>
                    <a:bodyPr/>
                    <a:lstStyle/>
                    <a:p>
                      <a:r>
                        <a:rPr sz="1725" b="0">
                          <a:solidFill>
                            <a:srgbClr val="17264C"/>
                          </a:solidFill>
                          <a:latin typeface="DejaVu Sans"/>
                          <a:ea typeface="DejaVu Sans"/>
                          <a:cs typeface="DejaVu Sans"/>
                        </a:rPr>
                        <a:t>Évaluer l’activité enregistrée sur la sélection</a:t>
                      </a:r>
                    </a:p>
                  </a:txBody>
                  <a:tcPr marL="91440" marR="91440" marT="45720" marB="45720">
                    <a:solidFill>
                      <a:srgbClr val="FFFFFF"/>
                    </a:solidFill>
                  </a:tcPr>
                </a:tc>
              </a:tr>
              <a:tr h="609600">
                <a:tc>
                  <a:txBody>
                    <a:bodyPr/>
                    <a:lstStyle/>
                    <a:p>
                      <a:r>
                        <a:rPr sz="1725" b="0">
                          <a:solidFill>
                            <a:srgbClr val="17264C"/>
                          </a:solidFill>
                          <a:latin typeface="DejaVu Sans"/>
                          <a:ea typeface="DejaVu Sans"/>
                          <a:cs typeface="DejaVu Sans"/>
                        </a:rPr>
                        <a:t>En cours et terminés</a:t>
                      </a:r>
                    </a:p>
                  </a:txBody>
                  <a:tcPr marL="91440" marR="91440" marT="45720" marB="45720">
                    <a:solidFill>
                      <a:srgbClr val="EEF1F8"/>
                    </a:solidFill>
                  </a:tcPr>
                </a:tc>
                <a:tc>
                  <a:txBody>
                    <a:bodyPr/>
                    <a:lstStyle/>
                    <a:p>
                      <a:r>
                        <a:rPr sz="1725" b="0">
                          <a:solidFill>
                            <a:srgbClr val="17264C"/>
                          </a:solidFill>
                          <a:latin typeface="DejaVu Sans"/>
                          <a:ea typeface="DejaVu Sans"/>
                          <a:cs typeface="DejaVu Sans"/>
                        </a:rPr>
                        <a:t>Repérer les interventions encore ouvertes</a:t>
                      </a:r>
                    </a:p>
                  </a:txBody>
                  <a:tcPr marL="91440" marR="91440" marT="45720" marB="45720">
                    <a:solidFill>
                      <a:srgbClr val="EEF1F8"/>
                    </a:solidFill>
                  </a:tcPr>
                </a:tc>
              </a:tr>
              <a:tr h="609600">
                <a:tc>
                  <a:txBody>
                    <a:bodyPr/>
                    <a:lstStyle/>
                    <a:p>
                      <a:r>
                        <a:rPr sz="1725" b="0">
                          <a:solidFill>
                            <a:srgbClr val="17264C"/>
                          </a:solidFill>
                          <a:latin typeface="DejaVu Sans"/>
                          <a:ea typeface="DejaVu Sans"/>
                          <a:cs typeface="DejaVu Sans"/>
                        </a:rPr>
                        <a:t>DMT moyenne</a:t>
                      </a:r>
                    </a:p>
                  </a:txBody>
                  <a:tcPr marL="91440" marR="91440" marT="45720" marB="45720">
                    <a:solidFill>
                      <a:srgbClr val="FFFFFF"/>
                    </a:solidFill>
                  </a:tcPr>
                </a:tc>
                <a:tc>
                  <a:txBody>
                    <a:bodyPr/>
                    <a:lstStyle/>
                    <a:p>
                      <a:r>
                        <a:rPr sz="1725" b="0">
                          <a:solidFill>
                            <a:srgbClr val="17264C"/>
                          </a:solidFill>
                          <a:latin typeface="DejaVu Sans"/>
                          <a:ea typeface="DejaVu Sans"/>
                          <a:cs typeface="DejaVu Sans"/>
                        </a:rPr>
                        <a:t>Examiner les durées des traitements terminés</a:t>
                      </a:r>
                    </a:p>
                  </a:txBody>
                  <a:tcPr marL="91440" marR="91440" marT="45720" marB="45720">
                    <a:solidFill>
                      <a:srgbClr val="FFFFFF"/>
                    </a:solidFill>
                  </a:tcPr>
                </a:tc>
              </a:tr>
              <a:tr h="609600">
                <a:tc>
                  <a:txBody>
                    <a:bodyPr/>
                    <a:lstStyle/>
                    <a:p>
                      <a:r>
                        <a:rPr sz="1725" b="0">
                          <a:solidFill>
                            <a:srgbClr val="17264C"/>
                          </a:solidFill>
                          <a:latin typeface="DejaVu Sans"/>
                          <a:ea typeface="DejaVu Sans"/>
                          <a:cs typeface="DejaVu Sans"/>
                        </a:rPr>
                        <a:t>Répartition de l’activité</a:t>
                      </a:r>
                    </a:p>
                  </a:txBody>
                  <a:tcPr marL="91440" marR="91440" marT="45720" marB="45720">
                    <a:solidFill>
                      <a:srgbClr val="EEF1F8"/>
                    </a:solidFill>
                  </a:tcPr>
                </a:tc>
                <a:tc>
                  <a:txBody>
                    <a:bodyPr/>
                    <a:lstStyle/>
                    <a:p>
                      <a:r>
                        <a:rPr sz="1725" b="0">
                          <a:solidFill>
                            <a:srgbClr val="17264C"/>
                          </a:solidFill>
                          <a:latin typeface="DejaVu Sans"/>
                          <a:ea typeface="DejaVu Sans"/>
                          <a:cs typeface="DejaVu Sans"/>
                        </a:rPr>
                        <a:t>Comparer les origines, les agents et les titres</a:t>
                      </a:r>
                    </a:p>
                  </a:txBody>
                  <a:tcPr marL="91440" marR="91440" marT="45720" marB="45720">
                    <a:solidFill>
                      <a:srgbClr val="EEF1F8"/>
                    </a:solidFill>
                  </a:tcPr>
                </a:tc>
              </a:tr>
            </a:tbl>
          </a:graphicData>
        </a:graphic>
      </p:graphicFrame>
      <p:sp>
        <p:nvSpPr>
          <p:cNvPr id="5" name="">
            <a:extLst xmlns:a="http://schemas.openxmlformats.org/drawingml/2006/main">
              <a:ext uri="{FF2B5EF4-FFF2-40B4-BE49-F238E27FC236}">
                <a16:creationId xmlns:a16="http://schemas.microsoft.com/office/drawing/2014/main" id="{D90F755A-2941-4CF7-9896-85E0C3CB0CD5}"/>
              </a:ext>
            </a:extLst>
          </p:cNvPr>
          <p:cNvSpPr>
            <a:spLocks xmlns:a="http://schemas.openxmlformats.org/drawingml/2006/main" noGrp="1"/>
          </p:cNvSpPr>
          <p:nvPr/>
        </p:nvSpPr>
        <p:spPr>
          <a:xfrm xmlns:a="http://schemas.openxmlformats.org/drawingml/2006/main">
            <a:off x="638175" y="5762625"/>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3708A"/>
                </a:solidFill>
                <a:latin typeface="DejaVu Sans"/>
                <a:ea typeface="DejaVu Sans"/>
                <a:cs typeface="DejaVu Sans"/>
              </a:defRPr>
            </a:pPr>
            <a:r>
              <a:rPr sz="1725" b="0">
                <a:solidFill>
                  <a:srgbClr val="63708A"/>
                </a:solidFill>
                <a:latin typeface="DejaVu Sans"/>
                <a:ea typeface="DejaVu Sans"/>
                <a:cs typeface="DejaVu Sans"/>
              </a:rPr>
              <a:t>Filtres : collaborateur, type, statut et dates. Export de la sélection en JSON.</a:t>
            </a:r>
          </a:p>
        </p:txBody>
      </p:sp>
    </p:spTree>
    <p:extLst>
      <p:ext uri="{BB962C8B-B14F-4D97-AF65-F5344CB8AC3E}">
        <p14:creationId xmlns:p14="http://schemas.microsoft.com/office/powerpoint/2010/main" val="113483506"/>
      </p:ext>
    </p:extLst>
  </p:cSld>
</p:sld>
</file>

<file path=ppt/slides/slide8.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D767F31-FDEB-4726-8661-77A1741A36DD}"/>
              </a:ext>
            </a:extLst>
          </p:cNvPr>
          <p:cNvSpPr>
            <a:spLocks xmlns:a="http://schemas.openxmlformats.org/drawingml/2006/main" noGrp="1"/>
          </p:cNvSpPr>
          <p:nvPr/>
        </p:nvSpPr>
        <p:spPr>
          <a:xfrm xmlns:a="http://schemas.openxmlformats.org/drawingml/2006/main">
            <a:off x="609600" y="381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3447A1"/>
                </a:solidFill>
                <a:latin typeface="DejaVu Sans"/>
                <a:ea typeface="DejaVu Sans"/>
                <a:cs typeface="DejaVu Sans"/>
              </a:defRPr>
            </a:pPr>
            <a:r>
              <a:rPr sz="1200" b="1">
                <a:solidFill>
                  <a:srgbClr val="3447A1"/>
                </a:solidFill>
                <a:latin typeface="DejaVu Sans"/>
                <a:ea typeface="DejaVu Sans"/>
                <a:cs typeface="DejaVu Sans"/>
              </a:rPr>
              <a:t>AGENT / TRAITEMENT</a:t>
            </a:r>
          </a:p>
        </p:txBody>
      </p:sp>
      <p:sp>
        <p:nvSpPr>
          <p:cNvPr id="2" name="">
            <a:extLst xmlns:a="http://schemas.openxmlformats.org/drawingml/2006/main">
              <a:ext uri="{FF2B5EF4-FFF2-40B4-BE49-F238E27FC236}">
                <a16:creationId xmlns:a16="http://schemas.microsoft.com/office/drawing/2014/main" id="{5966F30F-6E4F-48FD-99AF-829813778E68}"/>
              </a:ext>
            </a:extLst>
          </p:cNvPr>
          <p:cNvSpPr>
            <a:spLocks xmlns:a="http://schemas.openxmlformats.org/drawingml/2006/main" noGrp="1"/>
          </p:cNvSpPr>
          <p:nvPr/>
        </p:nvSpPr>
        <p:spPr>
          <a:xfrm xmlns:a="http://schemas.openxmlformats.org/drawingml/2006/main">
            <a:off x="609600" y="8382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1C42"/>
                </a:solidFill>
                <a:latin typeface="DejaVu Sans"/>
                <a:ea typeface="DejaVu Sans"/>
                <a:cs typeface="DejaVu Sans"/>
              </a:defRPr>
            </a:pPr>
            <a:r>
              <a:rPr sz="3225" b="1">
                <a:solidFill>
                  <a:srgbClr val="101C42"/>
                </a:solidFill>
                <a:latin typeface="DejaVu Sans"/>
                <a:ea typeface="DejaVu Sans"/>
                <a:cs typeface="DejaVu Sans"/>
              </a:rPr>
              <a:t>Agent : lancer un traitement</a:t>
            </a:r>
          </a:p>
        </p:txBody>
      </p:sp>
      <p:sp>
        <p:nvSpPr>
          <p:cNvPr id="3" name="">
            <a:extLst xmlns:a="http://schemas.openxmlformats.org/drawingml/2006/main">
              <a:ext uri="{FF2B5EF4-FFF2-40B4-BE49-F238E27FC236}">
                <a16:creationId xmlns:a16="http://schemas.microsoft.com/office/drawing/2014/main" id="{589139AE-FE79-4D86-93D9-25C0EFAD0191}"/>
              </a:ext>
            </a:extLst>
          </p:cNvPr>
          <p:cNvSpPr>
            <a:spLocks xmlns:a="http://schemas.openxmlformats.org/drawingml/2006/main" noGrp="1"/>
          </p:cNvSpPr>
          <p:nvPr/>
        </p:nvSpPr>
        <p:spPr>
          <a:xfrm xmlns:a="http://schemas.openxmlformats.org/drawingml/2006/main">
            <a:off x="11049000" y="638175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3708A"/>
                </a:solidFill>
                <a:latin typeface="DejaVu Sans"/>
                <a:ea typeface="DejaVu Sans"/>
                <a:cs typeface="DejaVu Sans"/>
              </a:defRPr>
            </a:pPr>
            <a:r>
              <a:rPr sz="1125" b="0">
                <a:solidFill>
                  <a:srgbClr val="63708A"/>
                </a:solidFill>
                <a:latin typeface="DejaVu Sans"/>
                <a:ea typeface="DejaVu Sans"/>
                <a:cs typeface="DejaVu Sans"/>
              </a:rPr>
              <a:t>08</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754999c351249ae"/>
          <a:stretch xmlns:a="http://schemas.openxmlformats.org/drawingml/2006/main"/>
        </p:blipFill>
        <p:spPr>
          <a:xfrm xmlns:a="http://schemas.openxmlformats.org/drawingml/2006/main">
            <a:off x="457200" y="1676400"/>
            <a:ext cx="7848600" cy="460995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ACECFA9-13A9-4874-A14D-DE3FB0263FEB}"/>
              </a:ext>
            </a:extLst>
          </p:cNvPr>
          <p:cNvSpPr>
            <a:spLocks xmlns:a="http://schemas.openxmlformats.org/drawingml/2006/main" noGrp="1"/>
          </p:cNvSpPr>
          <p:nvPr/>
        </p:nvSpPr>
        <p:spPr>
          <a:xfrm xmlns:a="http://schemas.openxmlformats.org/drawingml/2006/main">
            <a:off x="8763000" y="1676400"/>
            <a:ext cx="2914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3447A1"/>
                </a:solidFill>
                <a:latin typeface="DejaVu Sans"/>
                <a:ea typeface="DejaVu Sans"/>
                <a:cs typeface="DejaVu Sans"/>
              </a:defRPr>
            </a:pPr>
            <a:r>
              <a:rPr sz="1725" b="1">
                <a:solidFill>
                  <a:srgbClr val="3447A1"/>
                </a:solidFill>
                <a:latin typeface="DejaVu Sans"/>
                <a:ea typeface="DejaVu Sans"/>
                <a:cs typeface="DejaVu Sans"/>
              </a:rPr>
              <a:t>Renseigner</a:t>
            </a:r>
          </a:p>
        </p:txBody>
      </p:sp>
      <p:sp>
        <p:nvSpPr>
          <p:cNvPr id="6" name="">
            <a:extLst xmlns:a="http://schemas.openxmlformats.org/drawingml/2006/main">
              <a:ext uri="{FF2B5EF4-FFF2-40B4-BE49-F238E27FC236}">
                <a16:creationId xmlns:a16="http://schemas.microsoft.com/office/drawing/2014/main" id="{07AEDA51-C48B-405A-B355-B2D96D435FFB}"/>
              </a:ext>
            </a:extLst>
          </p:cNvPr>
          <p:cNvSpPr>
            <a:spLocks xmlns:a="http://schemas.openxmlformats.org/drawingml/2006/main" noGrp="1"/>
          </p:cNvSpPr>
          <p:nvPr/>
        </p:nvSpPr>
        <p:spPr>
          <a:xfrm xmlns:a="http://schemas.openxmlformats.org/drawingml/2006/main">
            <a:off x="8763000" y="2228850"/>
            <a:ext cx="29146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264C"/>
                </a:solidFill>
                <a:latin typeface="DejaVu Sans"/>
                <a:ea typeface="DejaVu Sans"/>
                <a:cs typeface="DejaVu Sans"/>
              </a:defRPr>
            </a:pPr>
            <a:r>
              <a:rPr sz="1650" b="0">
                <a:solidFill>
                  <a:srgbClr val="17264C"/>
                </a:solidFill>
                <a:latin typeface="DejaVu Sans"/>
                <a:ea typeface="DejaVu Sans"/>
                <a:cs typeface="DejaVu Sans"/>
              </a:rPr>
              <a:t>Choisir le type, l’origine et le titre. Ajouter les références client.</a:t>
            </a:r>
          </a:p>
        </p:txBody>
      </p:sp>
      <p:sp>
        <p:nvSpPr>
          <p:cNvPr id="7" name="">
            <a:extLst xmlns:a="http://schemas.openxmlformats.org/drawingml/2006/main">
              <a:ext uri="{FF2B5EF4-FFF2-40B4-BE49-F238E27FC236}">
                <a16:creationId xmlns:a16="http://schemas.microsoft.com/office/drawing/2014/main" id="{644B2EF1-5600-42C1-A3EA-978AD414B05C}"/>
              </a:ext>
            </a:extLst>
          </p:cNvPr>
          <p:cNvSpPr>
            <a:spLocks xmlns:a="http://schemas.openxmlformats.org/drawingml/2006/main" noGrp="1"/>
          </p:cNvSpPr>
          <p:nvPr/>
        </p:nvSpPr>
        <p:spPr>
          <a:xfrm xmlns:a="http://schemas.openxmlformats.org/drawingml/2006/main">
            <a:off x="8763000" y="3276600"/>
            <a:ext cx="2914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3447A1"/>
                </a:solidFill>
                <a:latin typeface="DejaVu Sans"/>
                <a:ea typeface="DejaVu Sans"/>
                <a:cs typeface="DejaVu Sans"/>
              </a:defRPr>
            </a:pPr>
            <a:r>
              <a:rPr sz="1725" b="1">
                <a:solidFill>
                  <a:srgbClr val="3447A1"/>
                </a:solidFill>
                <a:latin typeface="DejaVu Sans"/>
                <a:ea typeface="DejaVu Sans"/>
                <a:cs typeface="DejaVu Sans"/>
              </a:rPr>
              <a:t>Lancer</a:t>
            </a:r>
          </a:p>
        </p:txBody>
      </p:sp>
      <p:sp>
        <p:nvSpPr>
          <p:cNvPr id="8" name="">
            <a:extLst xmlns:a="http://schemas.openxmlformats.org/drawingml/2006/main">
              <a:ext uri="{FF2B5EF4-FFF2-40B4-BE49-F238E27FC236}">
                <a16:creationId xmlns:a16="http://schemas.microsoft.com/office/drawing/2014/main" id="{567ED9DC-E98D-4838-BA4C-DE70C53E5C76}"/>
              </a:ext>
            </a:extLst>
          </p:cNvPr>
          <p:cNvSpPr>
            <a:spLocks xmlns:a="http://schemas.openxmlformats.org/drawingml/2006/main" noGrp="1"/>
          </p:cNvSpPr>
          <p:nvPr/>
        </p:nvSpPr>
        <p:spPr>
          <a:xfrm xmlns:a="http://schemas.openxmlformats.org/drawingml/2006/main">
            <a:off x="8763000" y="3829050"/>
            <a:ext cx="29146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264C"/>
                </a:solidFill>
                <a:latin typeface="DejaVu Sans"/>
                <a:ea typeface="DejaVu Sans"/>
                <a:cs typeface="DejaVu Sans"/>
              </a:defRPr>
            </a:pPr>
            <a:r>
              <a:rPr sz="1650" b="0">
                <a:solidFill>
                  <a:srgbClr val="17264C"/>
                </a:solidFill>
                <a:latin typeface="DejaVu Sans"/>
                <a:ea typeface="DejaVu Sans"/>
                <a:cs typeface="DejaVu Sans"/>
              </a:rPr>
              <a:t>Cliquer sur « Lancer le traitement ». Le suivi de durée démarre.</a:t>
            </a:r>
          </a:p>
        </p:txBody>
      </p:sp>
      <p:sp>
        <p:nvSpPr>
          <p:cNvPr id="9" name="">
            <a:extLst xmlns:a="http://schemas.openxmlformats.org/drawingml/2006/main">
              <a:ext uri="{FF2B5EF4-FFF2-40B4-BE49-F238E27FC236}">
                <a16:creationId xmlns:a16="http://schemas.microsoft.com/office/drawing/2014/main" id="{E7B5F7F4-612B-43CA-8A14-116735548D3E}"/>
              </a:ext>
            </a:extLst>
          </p:cNvPr>
          <p:cNvSpPr>
            <a:spLocks xmlns:a="http://schemas.openxmlformats.org/drawingml/2006/main" noGrp="1"/>
          </p:cNvSpPr>
          <p:nvPr/>
        </p:nvSpPr>
        <p:spPr>
          <a:xfrm xmlns:a="http://schemas.openxmlformats.org/drawingml/2006/main">
            <a:off x="8763000" y="4876800"/>
            <a:ext cx="2914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3447A1"/>
                </a:solidFill>
                <a:latin typeface="DejaVu Sans"/>
                <a:ea typeface="DejaVu Sans"/>
                <a:cs typeface="DejaVu Sans"/>
              </a:defRPr>
            </a:pPr>
            <a:r>
              <a:rPr sz="1725" b="1">
                <a:solidFill>
                  <a:srgbClr val="3447A1"/>
                </a:solidFill>
                <a:latin typeface="DejaVu Sans"/>
                <a:ea typeface="DejaVu Sans"/>
                <a:cs typeface="DejaVu Sans"/>
              </a:rPr>
              <a:t>Terminer</a:t>
            </a:r>
          </a:p>
        </p:txBody>
      </p:sp>
      <p:sp>
        <p:nvSpPr>
          <p:cNvPr id="10" name="">
            <a:extLst xmlns:a="http://schemas.openxmlformats.org/drawingml/2006/main">
              <a:ext uri="{FF2B5EF4-FFF2-40B4-BE49-F238E27FC236}">
                <a16:creationId xmlns:a16="http://schemas.microsoft.com/office/drawing/2014/main" id="{80310324-B9FB-4B40-8946-DE0EEBC0DB5A}"/>
              </a:ext>
            </a:extLst>
          </p:cNvPr>
          <p:cNvSpPr>
            <a:spLocks xmlns:a="http://schemas.openxmlformats.org/drawingml/2006/main" noGrp="1"/>
          </p:cNvSpPr>
          <p:nvPr/>
        </p:nvSpPr>
        <p:spPr>
          <a:xfrm xmlns:a="http://schemas.openxmlformats.org/drawingml/2006/main">
            <a:off x="8763000" y="5429250"/>
            <a:ext cx="29146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264C"/>
                </a:solidFill>
                <a:latin typeface="DejaVu Sans"/>
                <a:ea typeface="DejaVu Sans"/>
                <a:cs typeface="DejaVu Sans"/>
              </a:defRPr>
            </a:pPr>
            <a:r>
              <a:rPr sz="1650" b="0">
                <a:solidFill>
                  <a:srgbClr val="17264C"/>
                </a:solidFill>
                <a:latin typeface="DejaVu Sans"/>
                <a:ea typeface="DejaVu Sans"/>
                <a:cs typeface="DejaVu Sans"/>
              </a:rPr>
              <a:t>Clôturer avec un commentaire, puis consulter la ligne dans Historique.</a:t>
            </a:r>
          </a:p>
        </p:txBody>
      </p:sp>
    </p:spTree>
    <p:extLst>
      <p:ext uri="{BB962C8B-B14F-4D97-AF65-F5344CB8AC3E}">
        <p14:creationId xmlns:p14="http://schemas.microsoft.com/office/powerpoint/2010/main" val="1974492220"/>
      </p:ext>
    </p:extLst>
  </p:cSld>
</p:sld>
</file>

<file path=ppt/slides/slide9.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B5A1CA0-10F4-47A0-AF6E-2A7690591399}"/>
              </a:ext>
            </a:extLst>
          </p:cNvPr>
          <p:cNvSpPr>
            <a:spLocks xmlns:a="http://schemas.openxmlformats.org/drawingml/2006/main" noGrp="1"/>
          </p:cNvSpPr>
          <p:nvPr/>
        </p:nvSpPr>
        <p:spPr>
          <a:xfrm xmlns:a="http://schemas.openxmlformats.org/drawingml/2006/main">
            <a:off x="609600" y="381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3447A1"/>
                </a:solidFill>
                <a:latin typeface="DejaVu Sans"/>
                <a:ea typeface="DejaVu Sans"/>
                <a:cs typeface="DejaVu Sans"/>
              </a:defRPr>
            </a:pPr>
            <a:r>
              <a:rPr sz="1200" b="1">
                <a:solidFill>
                  <a:srgbClr val="3447A1"/>
                </a:solidFill>
                <a:latin typeface="DejaVu Sans"/>
                <a:ea typeface="DejaVu Sans"/>
                <a:cs typeface="DejaVu Sans"/>
              </a:rPr>
              <a:t>AGENT / MESSAGERIE</a:t>
            </a:r>
          </a:p>
        </p:txBody>
      </p:sp>
      <p:sp>
        <p:nvSpPr>
          <p:cNvPr id="2" name="">
            <a:extLst xmlns:a="http://schemas.openxmlformats.org/drawingml/2006/main">
              <a:ext uri="{FF2B5EF4-FFF2-40B4-BE49-F238E27FC236}">
                <a16:creationId xmlns:a16="http://schemas.microsoft.com/office/drawing/2014/main" id="{497E5DCB-D49E-4A8E-A50F-3AEE7293D363}"/>
              </a:ext>
            </a:extLst>
          </p:cNvPr>
          <p:cNvSpPr>
            <a:spLocks xmlns:a="http://schemas.openxmlformats.org/drawingml/2006/main" noGrp="1"/>
          </p:cNvSpPr>
          <p:nvPr/>
        </p:nvSpPr>
        <p:spPr>
          <a:xfrm xmlns:a="http://schemas.openxmlformats.org/drawingml/2006/main">
            <a:off x="609600" y="8382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1C42"/>
                </a:solidFill>
                <a:latin typeface="DejaVu Sans"/>
                <a:ea typeface="DejaVu Sans"/>
                <a:cs typeface="DejaVu Sans"/>
              </a:defRPr>
            </a:pPr>
            <a:r>
              <a:rPr sz="3225" b="1">
                <a:solidFill>
                  <a:srgbClr val="101C42"/>
                </a:solidFill>
                <a:latin typeface="DejaVu Sans"/>
                <a:ea typeface="DejaVu Sans"/>
                <a:cs typeface="DejaVu Sans"/>
              </a:rPr>
              <a:t>Agent : configurer la messagerie</a:t>
            </a:r>
          </a:p>
        </p:txBody>
      </p:sp>
      <p:sp>
        <p:nvSpPr>
          <p:cNvPr id="3" name="">
            <a:extLst xmlns:a="http://schemas.openxmlformats.org/drawingml/2006/main">
              <a:ext uri="{FF2B5EF4-FFF2-40B4-BE49-F238E27FC236}">
                <a16:creationId xmlns:a16="http://schemas.microsoft.com/office/drawing/2014/main" id="{D8123494-52C7-44E1-94BB-9B525E1AFAE8}"/>
              </a:ext>
            </a:extLst>
          </p:cNvPr>
          <p:cNvSpPr>
            <a:spLocks xmlns:a="http://schemas.openxmlformats.org/drawingml/2006/main" noGrp="1"/>
          </p:cNvSpPr>
          <p:nvPr/>
        </p:nvSpPr>
        <p:spPr>
          <a:xfrm xmlns:a="http://schemas.openxmlformats.org/drawingml/2006/main">
            <a:off x="11049000" y="638175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3708A"/>
                </a:solidFill>
                <a:latin typeface="DejaVu Sans"/>
                <a:ea typeface="DejaVu Sans"/>
                <a:cs typeface="DejaVu Sans"/>
              </a:defRPr>
            </a:pPr>
            <a:r>
              <a:rPr sz="1125" b="0">
                <a:solidFill>
                  <a:srgbClr val="63708A"/>
                </a:solidFill>
                <a:latin typeface="DejaVu Sans"/>
                <a:ea typeface="DejaVu Sans"/>
                <a:cs typeface="DejaVu Sans"/>
              </a:rPr>
              <a:t>09</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136f3d51d9d4010"/>
          <a:stretch xmlns:a="http://schemas.openxmlformats.org/drawingml/2006/main"/>
        </p:blipFill>
        <p:spPr>
          <a:xfrm xmlns:a="http://schemas.openxmlformats.org/drawingml/2006/main">
            <a:off x="457200" y="1676400"/>
            <a:ext cx="7848600" cy="324588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2117515-1459-4BA9-AB36-3FA85045DA51}"/>
              </a:ext>
            </a:extLst>
          </p:cNvPr>
          <p:cNvSpPr>
            <a:spLocks xmlns:a="http://schemas.openxmlformats.org/drawingml/2006/main" noGrp="1"/>
          </p:cNvSpPr>
          <p:nvPr/>
        </p:nvSpPr>
        <p:spPr>
          <a:xfrm xmlns:a="http://schemas.openxmlformats.org/drawingml/2006/main">
            <a:off x="476250" y="5181600"/>
            <a:ext cx="784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3447A1"/>
                </a:solidFill>
                <a:latin typeface="DejaVu Sans"/>
                <a:ea typeface="DejaVu Sans"/>
                <a:cs typeface="DejaVu Sans"/>
              </a:defRPr>
            </a:pPr>
            <a:r>
              <a:rPr sz="1725" b="1">
                <a:solidFill>
                  <a:srgbClr val="3447A1"/>
                </a:solidFill>
                <a:latin typeface="DejaVu Sans"/>
                <a:ea typeface="DejaVu Sans"/>
                <a:cs typeface="DejaVu Sans"/>
              </a:rPr>
              <a:t>Communauté : notifications partagées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c135c4d5e5604cff"/>
          <a:stretch xmlns:a="http://schemas.openxmlformats.org/drawingml/2006/main"/>
        </p:blipFill>
        <p:spPr>
          <a:xfrm xmlns:a="http://schemas.openxmlformats.org/drawingml/2006/main">
            <a:off x="457200" y="5610225"/>
            <a:ext cx="3810000" cy="1139744"/>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5C2A3CB-9648-42E5-B8B6-90CFA8D5C180}"/>
              </a:ext>
            </a:extLst>
          </p:cNvPr>
          <p:cNvSpPr>
            <a:spLocks xmlns:a="http://schemas.openxmlformats.org/drawingml/2006/main" noGrp="1"/>
          </p:cNvSpPr>
          <p:nvPr/>
        </p:nvSpPr>
        <p:spPr>
          <a:xfrm xmlns:a="http://schemas.openxmlformats.org/drawingml/2006/main">
            <a:off x="4572000" y="5695950"/>
            <a:ext cx="3714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64C"/>
                </a:solidFill>
                <a:latin typeface="DejaVu Sans"/>
                <a:ea typeface="DejaVu Sans"/>
                <a:cs typeface="DejaVu Sans"/>
              </a:defRPr>
            </a:pPr>
            <a:r>
              <a:rPr sz="1725" b="0">
                <a:solidFill>
                  <a:srgbClr val="17264C"/>
                </a:solidFill>
                <a:latin typeface="DejaVu Sans"/>
                <a:ea typeface="DejaVu Sans"/>
                <a:cs typeface="DejaVu Sans"/>
              </a:rPr>
              <a:t>Les prises en charge et les libérations sont visibles par l’équipe.</a:t>
            </a:r>
          </a:p>
        </p:txBody>
      </p:sp>
      <p:sp>
        <p:nvSpPr>
          <p:cNvPr id="8" name="">
            <a:extLst xmlns:a="http://schemas.openxmlformats.org/drawingml/2006/main">
              <a:ext uri="{FF2B5EF4-FFF2-40B4-BE49-F238E27FC236}">
                <a16:creationId xmlns:a16="http://schemas.microsoft.com/office/drawing/2014/main" id="{F30C0FD9-21FB-4AE5-AD2A-C7537A78BD8C}"/>
              </a:ext>
            </a:extLst>
          </p:cNvPr>
          <p:cNvSpPr>
            <a:spLocks xmlns:a="http://schemas.openxmlformats.org/drawingml/2006/main" noGrp="1"/>
          </p:cNvSpPr>
          <p:nvPr/>
        </p:nvSpPr>
        <p:spPr>
          <a:xfrm xmlns:a="http://schemas.openxmlformats.org/drawingml/2006/main">
            <a:off x="8763000" y="1676400"/>
            <a:ext cx="2914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3447A1"/>
                </a:solidFill>
                <a:latin typeface="DejaVu Sans"/>
                <a:ea typeface="DejaVu Sans"/>
                <a:cs typeface="DejaVu Sans"/>
              </a:defRPr>
            </a:pPr>
            <a:r>
              <a:rPr sz="1725" b="1">
                <a:solidFill>
                  <a:srgbClr val="3447A1"/>
                </a:solidFill>
                <a:latin typeface="DejaVu Sans"/>
                <a:ea typeface="DejaVu Sans"/>
                <a:cs typeface="DejaVu Sans"/>
              </a:rPr>
              <a:t>Choisir la boîte</a:t>
            </a:r>
          </a:p>
        </p:txBody>
      </p:sp>
      <p:sp>
        <p:nvSpPr>
          <p:cNvPr id="9" name="">
            <a:extLst xmlns:a="http://schemas.openxmlformats.org/drawingml/2006/main">
              <a:ext uri="{FF2B5EF4-FFF2-40B4-BE49-F238E27FC236}">
                <a16:creationId xmlns:a16="http://schemas.microsoft.com/office/drawing/2014/main" id="{ACFC42AE-C9C7-4367-9B8C-6313A4F8E7CF}"/>
              </a:ext>
            </a:extLst>
          </p:cNvPr>
          <p:cNvSpPr>
            <a:spLocks xmlns:a="http://schemas.openxmlformats.org/drawingml/2006/main" noGrp="1"/>
          </p:cNvSpPr>
          <p:nvPr/>
        </p:nvSpPr>
        <p:spPr>
          <a:xfrm xmlns:a="http://schemas.openxmlformats.org/drawingml/2006/main">
            <a:off x="8763000" y="2228850"/>
            <a:ext cx="29146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264C"/>
                </a:solidFill>
                <a:latin typeface="DejaVu Sans"/>
                <a:ea typeface="DejaVu Sans"/>
                <a:cs typeface="DejaVu Sans"/>
              </a:defRPr>
            </a:pPr>
            <a:r>
              <a:rPr sz="1650" b="0">
                <a:solidFill>
                  <a:srgbClr val="17264C"/>
                </a:solidFill>
                <a:latin typeface="DejaVu Sans"/>
                <a:ea typeface="DejaVu Sans"/>
                <a:cs typeface="DejaVu Sans"/>
              </a:rPr>
              <a:t>Sélectionner la boîte Outlook accessible à votre session.</a:t>
            </a:r>
          </a:p>
        </p:txBody>
      </p:sp>
      <p:sp>
        <p:nvSpPr>
          <p:cNvPr id="10" name="">
            <a:extLst xmlns:a="http://schemas.openxmlformats.org/drawingml/2006/main">
              <a:ext uri="{FF2B5EF4-FFF2-40B4-BE49-F238E27FC236}">
                <a16:creationId xmlns:a16="http://schemas.microsoft.com/office/drawing/2014/main" id="{C5FE0205-58BB-4B49-BD69-EBF0A4397E70}"/>
              </a:ext>
            </a:extLst>
          </p:cNvPr>
          <p:cNvSpPr>
            <a:spLocks xmlns:a="http://schemas.openxmlformats.org/drawingml/2006/main" noGrp="1"/>
          </p:cNvSpPr>
          <p:nvPr/>
        </p:nvSpPr>
        <p:spPr>
          <a:xfrm xmlns:a="http://schemas.openxmlformats.org/drawingml/2006/main">
            <a:off x="8763000" y="3276600"/>
            <a:ext cx="2914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3447A1"/>
                </a:solidFill>
                <a:latin typeface="DejaVu Sans"/>
                <a:ea typeface="DejaVu Sans"/>
                <a:cs typeface="DejaVu Sans"/>
              </a:defRPr>
            </a:pPr>
            <a:r>
              <a:rPr sz="1725" b="1">
                <a:solidFill>
                  <a:srgbClr val="3447A1"/>
                </a:solidFill>
                <a:latin typeface="DejaVu Sans"/>
                <a:ea typeface="DejaVu Sans"/>
                <a:cs typeface="DejaVu Sans"/>
              </a:rPr>
              <a:t>Définir les dossiers</a:t>
            </a:r>
          </a:p>
        </p:txBody>
      </p:sp>
      <p:sp>
        <p:nvSpPr>
          <p:cNvPr id="11" name="">
            <a:extLst xmlns:a="http://schemas.openxmlformats.org/drawingml/2006/main">
              <a:ext uri="{FF2B5EF4-FFF2-40B4-BE49-F238E27FC236}">
                <a16:creationId xmlns:a16="http://schemas.microsoft.com/office/drawing/2014/main" id="{B1452DC9-DAB9-4458-84BD-FC8EBA1C2A38}"/>
              </a:ext>
            </a:extLst>
          </p:cNvPr>
          <p:cNvSpPr>
            <a:spLocks xmlns:a="http://schemas.openxmlformats.org/drawingml/2006/main" noGrp="1"/>
          </p:cNvSpPr>
          <p:nvPr/>
        </p:nvSpPr>
        <p:spPr>
          <a:xfrm xmlns:a="http://schemas.openxmlformats.org/drawingml/2006/main">
            <a:off x="8763000" y="3829050"/>
            <a:ext cx="29146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264C"/>
                </a:solidFill>
                <a:latin typeface="DejaVu Sans"/>
                <a:ea typeface="DejaVu Sans"/>
                <a:cs typeface="DejaVu Sans"/>
              </a:defRPr>
            </a:pPr>
            <a:r>
              <a:rPr sz="1650" b="0">
                <a:solidFill>
                  <a:srgbClr val="17264C"/>
                </a:solidFill>
                <a:latin typeface="DejaVu Sans"/>
                <a:ea typeface="DejaVu Sans"/>
                <a:cs typeface="DejaVu Sans"/>
              </a:rPr>
              <a:t>Choisir la source et la destination, puis cliquer sur « Enregistrer ».</a:t>
            </a:r>
          </a:p>
        </p:txBody>
      </p:sp>
      <p:sp>
        <p:nvSpPr>
          <p:cNvPr id="12" name="">
            <a:extLst xmlns:a="http://schemas.openxmlformats.org/drawingml/2006/main">
              <a:ext uri="{FF2B5EF4-FFF2-40B4-BE49-F238E27FC236}">
                <a16:creationId xmlns:a16="http://schemas.microsoft.com/office/drawing/2014/main" id="{AA844CF9-70A5-4A33-9F0A-E2754E959AD1}"/>
              </a:ext>
            </a:extLst>
          </p:cNvPr>
          <p:cNvSpPr>
            <a:spLocks xmlns:a="http://schemas.openxmlformats.org/drawingml/2006/main" noGrp="1"/>
          </p:cNvSpPr>
          <p:nvPr/>
        </p:nvSpPr>
        <p:spPr>
          <a:xfrm xmlns:a="http://schemas.openxmlformats.org/drawingml/2006/main">
            <a:off x="8763000" y="4876800"/>
            <a:ext cx="2914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3447A1"/>
                </a:solidFill>
                <a:latin typeface="DejaVu Sans"/>
                <a:ea typeface="DejaVu Sans"/>
                <a:cs typeface="DejaVu Sans"/>
              </a:defRPr>
            </a:pPr>
            <a:r>
              <a:rPr sz="1725" b="1">
                <a:solidFill>
                  <a:srgbClr val="3447A1"/>
                </a:solidFill>
                <a:latin typeface="DejaVu Sans"/>
                <a:ea typeface="DejaVu Sans"/>
                <a:cs typeface="DejaVu Sans"/>
              </a:rPr>
              <a:t>Traiter les e-mails</a:t>
            </a:r>
          </a:p>
        </p:txBody>
      </p:sp>
      <p:sp>
        <p:nvSpPr>
          <p:cNvPr id="13" name="">
            <a:extLst xmlns:a="http://schemas.openxmlformats.org/drawingml/2006/main">
              <a:ext uri="{FF2B5EF4-FFF2-40B4-BE49-F238E27FC236}">
                <a16:creationId xmlns:a16="http://schemas.microsoft.com/office/drawing/2014/main" id="{88A2F783-561B-452F-AF71-AE623A6F1BCD}"/>
              </a:ext>
            </a:extLst>
          </p:cNvPr>
          <p:cNvSpPr>
            <a:spLocks xmlns:a="http://schemas.openxmlformats.org/drawingml/2006/main" noGrp="1"/>
          </p:cNvSpPr>
          <p:nvPr/>
        </p:nvSpPr>
        <p:spPr>
          <a:xfrm xmlns:a="http://schemas.openxmlformats.org/drawingml/2006/main">
            <a:off x="8763000" y="5429250"/>
            <a:ext cx="29146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264C"/>
                </a:solidFill>
                <a:latin typeface="DejaVu Sans"/>
                <a:ea typeface="DejaVu Sans"/>
                <a:cs typeface="DejaVu Sans"/>
              </a:defRPr>
            </a:pPr>
            <a:r>
              <a:rPr sz="1650" b="0">
                <a:solidFill>
                  <a:srgbClr val="17264C"/>
                </a:solidFill>
                <a:latin typeface="DejaVu Sans"/>
                <a:ea typeface="DejaVu Sans"/>
                <a:cs typeface="DejaVu Sans"/>
              </a:rPr>
              <a:t>Actualiser, rechercher puis prendre en charge un message disponible.</a:t>
            </a:r>
          </a:p>
        </p:txBody>
      </p:sp>
    </p:spTree>
    <p:extLst>
      <p:ext uri="{BB962C8B-B14F-4D97-AF65-F5344CB8AC3E}">
        <p14:creationId xmlns:p14="http://schemas.microsoft.com/office/powerpoint/2010/main" val="1000731537"/>
      </p:ext>
    </p:extLst>
  </p:cSld>
</p:sld>
</file>

<file path=ppt/slides/slide10.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32177F7-DCCF-4024-97DF-95AE3B59EED6}"/>
              </a:ext>
            </a:extLst>
          </p:cNvPr>
          <p:cNvSpPr>
            <a:spLocks xmlns:a="http://schemas.openxmlformats.org/drawingml/2006/main" noGrp="1"/>
          </p:cNvSpPr>
          <p:nvPr/>
        </p:nvSpPr>
        <p:spPr>
          <a:xfrm xmlns:a="http://schemas.openxmlformats.org/drawingml/2006/main">
            <a:off x="609600" y="381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3447A1"/>
                </a:solidFill>
                <a:latin typeface="DejaVu Sans"/>
                <a:ea typeface="DejaVu Sans"/>
                <a:cs typeface="DejaVu Sans"/>
              </a:defRPr>
            </a:pPr>
            <a:r>
              <a:rPr sz="1200" b="1">
                <a:solidFill>
                  <a:srgbClr val="3447A1"/>
                </a:solidFill>
                <a:latin typeface="DejaVu Sans"/>
                <a:ea typeface="DejaVu Sans"/>
                <a:cs typeface="DejaVu Sans"/>
              </a:rPr>
              <a:t>MANAGER / PILOTAGE</a:t>
            </a:r>
          </a:p>
        </p:txBody>
      </p:sp>
      <p:sp>
        <p:nvSpPr>
          <p:cNvPr id="2" name="">
            <a:extLst xmlns:a="http://schemas.openxmlformats.org/drawingml/2006/main">
              <a:ext uri="{FF2B5EF4-FFF2-40B4-BE49-F238E27FC236}">
                <a16:creationId xmlns:a16="http://schemas.microsoft.com/office/drawing/2014/main" id="{1603337A-1311-4D53-962A-52D9023B5F2C}"/>
              </a:ext>
            </a:extLst>
          </p:cNvPr>
          <p:cNvSpPr>
            <a:spLocks xmlns:a="http://schemas.openxmlformats.org/drawingml/2006/main" noGrp="1"/>
          </p:cNvSpPr>
          <p:nvPr/>
        </p:nvSpPr>
        <p:spPr>
          <a:xfrm xmlns:a="http://schemas.openxmlformats.org/drawingml/2006/main">
            <a:off x="609600" y="8382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1C42"/>
                </a:solidFill>
                <a:latin typeface="DejaVu Sans"/>
                <a:ea typeface="DejaVu Sans"/>
                <a:cs typeface="DejaVu Sans"/>
              </a:defRPr>
            </a:pPr>
            <a:r>
              <a:rPr sz="3225" b="1">
                <a:solidFill>
                  <a:srgbClr val="101C42"/>
                </a:solidFill>
                <a:latin typeface="DejaVu Sans"/>
                <a:ea typeface="DejaVu Sans"/>
                <a:cs typeface="DejaVu Sans"/>
              </a:rPr>
              <a:t>Manager : piloter l’activité</a:t>
            </a:r>
          </a:p>
        </p:txBody>
      </p:sp>
      <p:sp>
        <p:nvSpPr>
          <p:cNvPr id="3" name="">
            <a:extLst xmlns:a="http://schemas.openxmlformats.org/drawingml/2006/main">
              <a:ext uri="{FF2B5EF4-FFF2-40B4-BE49-F238E27FC236}">
                <a16:creationId xmlns:a16="http://schemas.microsoft.com/office/drawing/2014/main" id="{634FB6D4-414D-41D8-8489-867FB766B250}"/>
              </a:ext>
            </a:extLst>
          </p:cNvPr>
          <p:cNvSpPr>
            <a:spLocks xmlns:a="http://schemas.openxmlformats.org/drawingml/2006/main" noGrp="1"/>
          </p:cNvSpPr>
          <p:nvPr/>
        </p:nvSpPr>
        <p:spPr>
          <a:xfrm xmlns:a="http://schemas.openxmlformats.org/drawingml/2006/main">
            <a:off x="11049000" y="638175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3708A"/>
                </a:solidFill>
                <a:latin typeface="DejaVu Sans"/>
                <a:ea typeface="DejaVu Sans"/>
                <a:cs typeface="DejaVu Sans"/>
              </a:defRPr>
            </a:pPr>
            <a:r>
              <a:rPr sz="1125" b="0">
                <a:solidFill>
                  <a:srgbClr val="63708A"/>
                </a:solidFill>
                <a:latin typeface="DejaVu Sans"/>
                <a:ea typeface="DejaVu Sans"/>
                <a:cs typeface="DejaVu Sans"/>
              </a:rPr>
              <a:t>10</a:t>
            </a:r>
          </a:p>
        </p:txBody>
      </p:sp>
      <p:sp>
        <p:nvSpPr>
          <p:cNvPr id="4" name="">
            <a:extLst xmlns:a="http://schemas.openxmlformats.org/drawingml/2006/main">
              <a:ext uri="{FF2B5EF4-FFF2-40B4-BE49-F238E27FC236}">
                <a16:creationId xmlns:a16="http://schemas.microsoft.com/office/drawing/2014/main" id="{90EA1AC8-47C8-48C3-8A00-6D92B3A6464E}"/>
              </a:ext>
            </a:extLst>
          </p:cNvPr>
          <p:cNvSpPr>
            <a:spLocks xmlns:a="http://schemas.openxmlformats.org/drawingml/2006/main" noGrp="1"/>
          </p:cNvSpPr>
          <p:nvPr/>
        </p:nvSpPr>
        <p:spPr>
          <a:xfrm xmlns:a="http://schemas.openxmlformats.org/drawingml/2006/main">
            <a:off x="476250" y="1571625"/>
            <a:ext cx="7848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3447A1"/>
                </a:solidFill>
                <a:latin typeface="DejaVu Sans"/>
                <a:ea typeface="DejaVu Sans"/>
                <a:cs typeface="DejaVu Sans"/>
              </a:defRPr>
            </a:pPr>
            <a:r>
              <a:rPr sz="1725" b="1">
                <a:solidFill>
                  <a:srgbClr val="3447A1"/>
                </a:solidFill>
                <a:latin typeface="DejaVu Sans"/>
                <a:ea typeface="DejaVu Sans"/>
                <a:cs typeface="DejaVu Sans"/>
              </a:rPr>
              <a:t>Indicateurs et agents connectés</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2169d5b2bddf4335"/>
          <a:stretch xmlns:a="http://schemas.openxmlformats.org/drawingml/2006/main"/>
        </p:blipFill>
        <p:spPr>
          <a:xfrm xmlns:a="http://schemas.openxmlformats.org/drawingml/2006/main">
            <a:off x="457200" y="2009775"/>
            <a:ext cx="7848600" cy="19621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5D66836-7E3C-4873-AF49-E469C8D51EB2}"/>
              </a:ext>
            </a:extLst>
          </p:cNvPr>
          <p:cNvSpPr>
            <a:spLocks xmlns:a="http://schemas.openxmlformats.org/drawingml/2006/main" noGrp="1"/>
          </p:cNvSpPr>
          <p:nvPr/>
        </p:nvSpPr>
        <p:spPr>
          <a:xfrm xmlns:a="http://schemas.openxmlformats.org/drawingml/2006/main">
            <a:off x="476250" y="4238625"/>
            <a:ext cx="7848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3447A1"/>
                </a:solidFill>
                <a:latin typeface="DejaVu Sans"/>
                <a:ea typeface="DejaVu Sans"/>
                <a:cs typeface="DejaVu Sans"/>
              </a:defRPr>
            </a:pPr>
            <a:r>
              <a:rPr sz="1725" b="1">
                <a:solidFill>
                  <a:srgbClr val="3447A1"/>
                </a:solidFill>
                <a:latin typeface="DejaVu Sans"/>
                <a:ea typeface="DejaVu Sans"/>
                <a:cs typeface="DejaVu Sans"/>
              </a:rPr>
              <a:t>Tendance et répartition par origine</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a3f3da7c37044d99"/>
          <a:stretch xmlns:a="http://schemas.openxmlformats.org/drawingml/2006/main"/>
        </p:blipFill>
        <p:spPr>
          <a:xfrm xmlns:a="http://schemas.openxmlformats.org/drawingml/2006/main">
            <a:off x="457200" y="4676775"/>
            <a:ext cx="7848600" cy="1761222"/>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5984483E-69A5-4C5F-BA3E-F7B9FF7B870E}"/>
              </a:ext>
            </a:extLst>
          </p:cNvPr>
          <p:cNvSpPr>
            <a:spLocks xmlns:a="http://schemas.openxmlformats.org/drawingml/2006/main" noGrp="1"/>
          </p:cNvSpPr>
          <p:nvPr/>
        </p:nvSpPr>
        <p:spPr>
          <a:xfrm xmlns:a="http://schemas.openxmlformats.org/drawingml/2006/main">
            <a:off x="8763000" y="1676400"/>
            <a:ext cx="2914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3447A1"/>
                </a:solidFill>
                <a:latin typeface="DejaVu Sans"/>
                <a:ea typeface="DejaVu Sans"/>
                <a:cs typeface="DejaVu Sans"/>
              </a:defRPr>
            </a:pPr>
            <a:r>
              <a:rPr sz="1725" b="1">
                <a:solidFill>
                  <a:srgbClr val="3447A1"/>
                </a:solidFill>
                <a:latin typeface="DejaVu Sans"/>
                <a:ea typeface="DejaVu Sans"/>
                <a:cs typeface="DejaVu Sans"/>
              </a:rPr>
              <a:t>Lire les indicateurs</a:t>
            </a:r>
          </a:p>
        </p:txBody>
      </p:sp>
      <p:sp>
        <p:nvSpPr>
          <p:cNvPr id="9" name="">
            <a:extLst xmlns:a="http://schemas.openxmlformats.org/drawingml/2006/main">
              <a:ext uri="{FF2B5EF4-FFF2-40B4-BE49-F238E27FC236}">
                <a16:creationId xmlns:a16="http://schemas.microsoft.com/office/drawing/2014/main" id="{050748B1-E3D3-411B-9F7D-C789C765472B}"/>
              </a:ext>
            </a:extLst>
          </p:cNvPr>
          <p:cNvSpPr>
            <a:spLocks xmlns:a="http://schemas.openxmlformats.org/drawingml/2006/main" noGrp="1"/>
          </p:cNvSpPr>
          <p:nvPr/>
        </p:nvSpPr>
        <p:spPr>
          <a:xfrm xmlns:a="http://schemas.openxmlformats.org/drawingml/2006/main">
            <a:off x="8763000" y="2228850"/>
            <a:ext cx="29146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264C"/>
                </a:solidFill>
                <a:latin typeface="DejaVu Sans"/>
                <a:ea typeface="DejaVu Sans"/>
                <a:cs typeface="DejaVu Sans"/>
              </a:defRPr>
            </a:pPr>
            <a:r>
              <a:rPr sz="1650" b="0">
                <a:solidFill>
                  <a:srgbClr val="17264C"/>
                </a:solidFill>
                <a:latin typeface="DejaVu Sans"/>
                <a:ea typeface="DejaVu Sans"/>
                <a:cs typeface="DejaVu Sans"/>
              </a:rPr>
              <a:t>Vérifier les volumes en cours et terminés ainsi que la DMT moyenne.</a:t>
            </a:r>
          </a:p>
        </p:txBody>
      </p:sp>
      <p:sp>
        <p:nvSpPr>
          <p:cNvPr id="10" name="">
            <a:extLst xmlns:a="http://schemas.openxmlformats.org/drawingml/2006/main">
              <a:ext uri="{FF2B5EF4-FFF2-40B4-BE49-F238E27FC236}">
                <a16:creationId xmlns:a16="http://schemas.microsoft.com/office/drawing/2014/main" id="{6A9A2B0E-1409-4C92-AD90-251BD040DAB9}"/>
              </a:ext>
            </a:extLst>
          </p:cNvPr>
          <p:cNvSpPr>
            <a:spLocks xmlns:a="http://schemas.openxmlformats.org/drawingml/2006/main" noGrp="1"/>
          </p:cNvSpPr>
          <p:nvPr/>
        </p:nvSpPr>
        <p:spPr>
          <a:xfrm xmlns:a="http://schemas.openxmlformats.org/drawingml/2006/main">
            <a:off x="8763000" y="3276600"/>
            <a:ext cx="2914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3447A1"/>
                </a:solidFill>
                <a:latin typeface="DejaVu Sans"/>
                <a:ea typeface="DejaVu Sans"/>
                <a:cs typeface="DejaVu Sans"/>
              </a:defRPr>
            </a:pPr>
            <a:r>
              <a:rPr sz="1725" b="1">
                <a:solidFill>
                  <a:srgbClr val="3447A1"/>
                </a:solidFill>
                <a:latin typeface="DejaVu Sans"/>
                <a:ea typeface="DejaVu Sans"/>
                <a:cs typeface="DejaVu Sans"/>
              </a:rPr>
              <a:t>Analyser l’activité</a:t>
            </a:r>
          </a:p>
        </p:txBody>
      </p:sp>
      <p:sp>
        <p:nvSpPr>
          <p:cNvPr id="11" name="">
            <a:extLst xmlns:a="http://schemas.openxmlformats.org/drawingml/2006/main">
              <a:ext uri="{FF2B5EF4-FFF2-40B4-BE49-F238E27FC236}">
                <a16:creationId xmlns:a16="http://schemas.microsoft.com/office/drawing/2014/main" id="{D7EFCBD0-5A4F-4183-A6C1-73AFCD86785A}"/>
              </a:ext>
            </a:extLst>
          </p:cNvPr>
          <p:cNvSpPr>
            <a:spLocks xmlns:a="http://schemas.openxmlformats.org/drawingml/2006/main" noGrp="1"/>
          </p:cNvSpPr>
          <p:nvPr/>
        </p:nvSpPr>
        <p:spPr>
          <a:xfrm xmlns:a="http://schemas.openxmlformats.org/drawingml/2006/main">
            <a:off x="8763000" y="3829050"/>
            <a:ext cx="29146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264C"/>
                </a:solidFill>
                <a:latin typeface="DejaVu Sans"/>
                <a:ea typeface="DejaVu Sans"/>
                <a:cs typeface="DejaVu Sans"/>
              </a:defRPr>
            </a:pPr>
            <a:r>
              <a:rPr sz="1650" b="0">
                <a:solidFill>
                  <a:srgbClr val="17264C"/>
                </a:solidFill>
                <a:latin typeface="DejaVu Sans"/>
                <a:ea typeface="DejaVu Sans"/>
                <a:cs typeface="DejaVu Sans"/>
              </a:rPr>
              <a:t>Observer les évolutions par jour et la répartition Front, Back et Web.</a:t>
            </a:r>
          </a:p>
        </p:txBody>
      </p:sp>
      <p:sp>
        <p:nvSpPr>
          <p:cNvPr id="12" name="">
            <a:extLst xmlns:a="http://schemas.openxmlformats.org/drawingml/2006/main">
              <a:ext uri="{FF2B5EF4-FFF2-40B4-BE49-F238E27FC236}">
                <a16:creationId xmlns:a16="http://schemas.microsoft.com/office/drawing/2014/main" id="{5E5D9EE3-8BF3-4973-943C-A14C0C9ED4BE}"/>
              </a:ext>
            </a:extLst>
          </p:cNvPr>
          <p:cNvSpPr>
            <a:spLocks xmlns:a="http://schemas.openxmlformats.org/drawingml/2006/main" noGrp="1"/>
          </p:cNvSpPr>
          <p:nvPr/>
        </p:nvSpPr>
        <p:spPr>
          <a:xfrm xmlns:a="http://schemas.openxmlformats.org/drawingml/2006/main">
            <a:off x="8763000" y="4876800"/>
            <a:ext cx="2914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3447A1"/>
                </a:solidFill>
                <a:latin typeface="DejaVu Sans"/>
                <a:ea typeface="DejaVu Sans"/>
                <a:cs typeface="DejaVu Sans"/>
              </a:defRPr>
            </a:pPr>
            <a:r>
              <a:rPr sz="1725" b="1">
                <a:solidFill>
                  <a:srgbClr val="3447A1"/>
                </a:solidFill>
                <a:latin typeface="DejaVu Sans"/>
                <a:ea typeface="DejaVu Sans"/>
                <a:cs typeface="DejaVu Sans"/>
              </a:rPr>
              <a:t>Suivre l’équipe</a:t>
            </a:r>
          </a:p>
        </p:txBody>
      </p:sp>
      <p:sp>
        <p:nvSpPr>
          <p:cNvPr id="13" name="">
            <a:extLst xmlns:a="http://schemas.openxmlformats.org/drawingml/2006/main">
              <a:ext uri="{FF2B5EF4-FFF2-40B4-BE49-F238E27FC236}">
                <a16:creationId xmlns:a16="http://schemas.microsoft.com/office/drawing/2014/main" id="{3FA223F8-7500-448F-865B-CCBB81D2421A}"/>
              </a:ext>
            </a:extLst>
          </p:cNvPr>
          <p:cNvSpPr>
            <a:spLocks xmlns:a="http://schemas.openxmlformats.org/drawingml/2006/main" noGrp="1"/>
          </p:cNvSpPr>
          <p:nvPr/>
        </p:nvSpPr>
        <p:spPr>
          <a:xfrm xmlns:a="http://schemas.openxmlformats.org/drawingml/2006/main">
            <a:off x="8763000" y="5429250"/>
            <a:ext cx="29146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264C"/>
                </a:solidFill>
                <a:latin typeface="DejaVu Sans"/>
                <a:ea typeface="DejaVu Sans"/>
                <a:cs typeface="DejaVu Sans"/>
              </a:defRPr>
            </a:pPr>
            <a:r>
              <a:rPr sz="1650" b="0">
                <a:solidFill>
                  <a:srgbClr val="17264C"/>
                </a:solidFill>
                <a:latin typeface="DejaVu Sans"/>
                <a:ea typeface="DejaVu Sans"/>
                <a:cs typeface="DejaVu Sans"/>
              </a:rPr>
              <a:t>Dans « Collaborateurs », cliquer sur « Voir les traitements ».</a:t>
            </a:r>
          </a:p>
        </p:txBody>
      </p:sp>
    </p:spTree>
    <p:extLst>
      <p:ext uri="{BB962C8B-B14F-4D97-AF65-F5344CB8AC3E}">
        <p14:creationId xmlns:p14="http://schemas.microsoft.com/office/powerpoint/2010/main" val="1520228904"/>
      </p:ext>
    </p:extLst>
  </p:cSld>
</p:sld>
</file>

<file path=ppt/slides/slide11.xml><?xml version="1.0" encoding="utf-8"?>
<p:sld xmlns:p="http://schemas.openxmlformats.org/presentationml/2006/main">
  <p:cSld>
    <p:bg>
      <p:bgPr>
        <a:solidFill xmlns:a="http://schemas.openxmlformats.org/drawingml/2006/main">
          <a:srgbClr val="F6F7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52620FB-F730-4899-9776-9ABBC4C59CBF}"/>
              </a:ext>
            </a:extLst>
          </p:cNvPr>
          <p:cNvSpPr>
            <a:spLocks xmlns:a="http://schemas.openxmlformats.org/drawingml/2006/main" noGrp="1"/>
          </p:cNvSpPr>
          <p:nvPr/>
        </p:nvSpPr>
        <p:spPr>
          <a:xfrm xmlns:a="http://schemas.openxmlformats.org/drawingml/2006/main">
            <a:off x="609600" y="3810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3447A1"/>
                </a:solidFill>
                <a:latin typeface="DejaVu Sans"/>
                <a:ea typeface="DejaVu Sans"/>
                <a:cs typeface="DejaVu Sans"/>
              </a:defRPr>
            </a:pPr>
            <a:r>
              <a:rPr sz="1200" b="1">
                <a:solidFill>
                  <a:srgbClr val="3447A1"/>
                </a:solidFill>
                <a:latin typeface="DejaVu Sans"/>
                <a:ea typeface="DejaVu Sans"/>
                <a:cs typeface="DejaVu Sans"/>
              </a:rPr>
              <a:t>MANAGER / HISTORIQUES</a:t>
            </a:r>
          </a:p>
        </p:txBody>
      </p:sp>
      <p:sp>
        <p:nvSpPr>
          <p:cNvPr id="2" name="">
            <a:extLst xmlns:a="http://schemas.openxmlformats.org/drawingml/2006/main">
              <a:ext uri="{FF2B5EF4-FFF2-40B4-BE49-F238E27FC236}">
                <a16:creationId xmlns:a16="http://schemas.microsoft.com/office/drawing/2014/main" id="{5BA90D79-8BC3-4C14-A147-613BDB97DED4}"/>
              </a:ext>
            </a:extLst>
          </p:cNvPr>
          <p:cNvSpPr>
            <a:spLocks xmlns:a="http://schemas.openxmlformats.org/drawingml/2006/main" noGrp="1"/>
          </p:cNvSpPr>
          <p:nvPr/>
        </p:nvSpPr>
        <p:spPr>
          <a:xfrm xmlns:a="http://schemas.openxmlformats.org/drawingml/2006/main">
            <a:off x="609600" y="8382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1C42"/>
                </a:solidFill>
                <a:latin typeface="DejaVu Sans"/>
                <a:ea typeface="DejaVu Sans"/>
                <a:cs typeface="DejaVu Sans"/>
              </a:defRPr>
            </a:pPr>
            <a:r>
              <a:rPr sz="3225" b="1">
                <a:solidFill>
                  <a:srgbClr val="101C42"/>
                </a:solidFill>
                <a:latin typeface="DejaVu Sans"/>
                <a:ea typeface="DejaVu Sans"/>
                <a:cs typeface="DejaVu Sans"/>
              </a:rPr>
              <a:t>Manager : retrouver et contrôler une action</a:t>
            </a:r>
          </a:p>
        </p:txBody>
      </p:sp>
      <p:sp>
        <p:nvSpPr>
          <p:cNvPr id="3" name="">
            <a:extLst xmlns:a="http://schemas.openxmlformats.org/drawingml/2006/main">
              <a:ext uri="{FF2B5EF4-FFF2-40B4-BE49-F238E27FC236}">
                <a16:creationId xmlns:a16="http://schemas.microsoft.com/office/drawing/2014/main" id="{BA07FB3A-1F8A-4A01-AC17-E7D04D1D7D2D}"/>
              </a:ext>
            </a:extLst>
          </p:cNvPr>
          <p:cNvSpPr>
            <a:spLocks xmlns:a="http://schemas.openxmlformats.org/drawingml/2006/main" noGrp="1"/>
          </p:cNvSpPr>
          <p:nvPr/>
        </p:nvSpPr>
        <p:spPr>
          <a:xfrm xmlns:a="http://schemas.openxmlformats.org/drawingml/2006/main">
            <a:off x="11049000" y="638175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3708A"/>
                </a:solidFill>
                <a:latin typeface="DejaVu Sans"/>
                <a:ea typeface="DejaVu Sans"/>
                <a:cs typeface="DejaVu Sans"/>
              </a:defRPr>
            </a:pPr>
            <a:r>
              <a:rPr sz="1125" b="0">
                <a:solidFill>
                  <a:srgbClr val="63708A"/>
                </a:solidFill>
                <a:latin typeface="DejaVu Sans"/>
                <a:ea typeface="DejaVu Sans"/>
                <a:cs typeface="DejaVu Sans"/>
              </a:rPr>
              <a:t>11</a:t>
            </a:r>
          </a:p>
        </p:txBody>
      </p:sp>
      <p:sp>
        <p:nvSpPr>
          <p:cNvPr id="4" name="">
            <a:extLst xmlns:a="http://schemas.openxmlformats.org/drawingml/2006/main">
              <a:ext uri="{FF2B5EF4-FFF2-40B4-BE49-F238E27FC236}">
                <a16:creationId xmlns:a16="http://schemas.microsoft.com/office/drawing/2014/main" id="{AE4119F9-90CE-4F4B-B317-CFB5B819A27F}"/>
              </a:ext>
            </a:extLst>
          </p:cNvPr>
          <p:cNvSpPr>
            <a:spLocks xmlns:a="http://schemas.openxmlformats.org/drawingml/2006/main" noGrp="1"/>
          </p:cNvSpPr>
          <p:nvPr/>
        </p:nvSpPr>
        <p:spPr>
          <a:xfrm xmlns:a="http://schemas.openxmlformats.org/drawingml/2006/main">
            <a:off x="476250" y="1533525"/>
            <a:ext cx="7848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3447A1"/>
                </a:solidFill>
                <a:latin typeface="DejaVu Sans"/>
                <a:ea typeface="DejaVu Sans"/>
                <a:cs typeface="DejaVu Sans"/>
              </a:defRPr>
            </a:pPr>
            <a:r>
              <a:rPr sz="1725" b="1">
                <a:solidFill>
                  <a:srgbClr val="3447A1"/>
                </a:solidFill>
                <a:latin typeface="DejaVu Sans"/>
                <a:ea typeface="DejaVu Sans"/>
                <a:cs typeface="DejaVu Sans"/>
              </a:rPr>
              <a:t>Historique des traitements</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0ab4bf50e7347e5"/>
          <a:stretch xmlns:a="http://schemas.openxmlformats.org/drawingml/2006/main"/>
        </p:blipFill>
        <p:spPr>
          <a:xfrm xmlns:a="http://schemas.openxmlformats.org/drawingml/2006/main">
            <a:off x="457200" y="1924050"/>
            <a:ext cx="7848600" cy="2826489"/>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7EB069F-158C-4D86-B2F5-68B253A4BA15}"/>
              </a:ext>
            </a:extLst>
          </p:cNvPr>
          <p:cNvSpPr>
            <a:spLocks xmlns:a="http://schemas.openxmlformats.org/drawingml/2006/main" noGrp="1"/>
          </p:cNvSpPr>
          <p:nvPr/>
        </p:nvSpPr>
        <p:spPr>
          <a:xfrm xmlns:a="http://schemas.openxmlformats.org/drawingml/2006/main">
            <a:off x="476250" y="4953000"/>
            <a:ext cx="7848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3447A1"/>
                </a:solidFill>
                <a:latin typeface="DejaVu Sans"/>
                <a:ea typeface="DejaVu Sans"/>
                <a:cs typeface="DejaVu Sans"/>
              </a:defRPr>
            </a:pPr>
            <a:r>
              <a:rPr sz="1725" b="1">
                <a:solidFill>
                  <a:srgbClr val="3447A1"/>
                </a:solidFill>
                <a:latin typeface="DejaVu Sans"/>
                <a:ea typeface="DejaVu Sans"/>
                <a:cs typeface="DejaVu Sans"/>
              </a:rPr>
              <a:t>Journal des actions Outlook</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8b1a60b9ffe84715"/>
          <a:stretch xmlns:a="http://schemas.openxmlformats.org/drawingml/2006/main"/>
        </p:blipFill>
        <p:spPr>
          <a:xfrm xmlns:a="http://schemas.openxmlformats.org/drawingml/2006/main">
            <a:off x="457200" y="5381625"/>
            <a:ext cx="7848600" cy="789924"/>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4BF3DAD-97D5-4ADC-BC1E-B2D5F63329A0}"/>
              </a:ext>
            </a:extLst>
          </p:cNvPr>
          <p:cNvSpPr>
            <a:spLocks xmlns:a="http://schemas.openxmlformats.org/drawingml/2006/main" noGrp="1"/>
          </p:cNvSpPr>
          <p:nvPr/>
        </p:nvSpPr>
        <p:spPr>
          <a:xfrm xmlns:a="http://schemas.openxmlformats.org/drawingml/2006/main">
            <a:off x="8763000" y="1676400"/>
            <a:ext cx="2914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3447A1"/>
                </a:solidFill>
                <a:latin typeface="DejaVu Sans"/>
                <a:ea typeface="DejaVu Sans"/>
                <a:cs typeface="DejaVu Sans"/>
              </a:defRPr>
            </a:pPr>
            <a:r>
              <a:rPr sz="1725" b="1">
                <a:solidFill>
                  <a:srgbClr val="3447A1"/>
                </a:solidFill>
                <a:latin typeface="DejaVu Sans"/>
                <a:ea typeface="DejaVu Sans"/>
                <a:cs typeface="DejaVu Sans"/>
              </a:rPr>
              <a:t>Filtrer</a:t>
            </a:r>
          </a:p>
        </p:txBody>
      </p:sp>
      <p:sp>
        <p:nvSpPr>
          <p:cNvPr id="9" name="">
            <a:extLst xmlns:a="http://schemas.openxmlformats.org/drawingml/2006/main">
              <a:ext uri="{FF2B5EF4-FFF2-40B4-BE49-F238E27FC236}">
                <a16:creationId xmlns:a16="http://schemas.microsoft.com/office/drawing/2014/main" id="{F788A221-57CD-41A2-9947-FE3CA1BD75FD}"/>
              </a:ext>
            </a:extLst>
          </p:cNvPr>
          <p:cNvSpPr>
            <a:spLocks xmlns:a="http://schemas.openxmlformats.org/drawingml/2006/main" noGrp="1"/>
          </p:cNvSpPr>
          <p:nvPr/>
        </p:nvSpPr>
        <p:spPr>
          <a:xfrm xmlns:a="http://schemas.openxmlformats.org/drawingml/2006/main">
            <a:off x="8763000" y="2228850"/>
            <a:ext cx="29146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264C"/>
                </a:solidFill>
                <a:latin typeface="DejaVu Sans"/>
                <a:ea typeface="DejaVu Sans"/>
                <a:cs typeface="DejaVu Sans"/>
              </a:defRPr>
            </a:pPr>
            <a:r>
              <a:rPr sz="1650" b="0">
                <a:solidFill>
                  <a:srgbClr val="17264C"/>
                </a:solidFill>
                <a:latin typeface="DejaVu Sans"/>
                <a:ea typeface="DejaVu Sans"/>
                <a:cs typeface="DejaVu Sans"/>
              </a:rPr>
              <a:t>Choisir le collaborateur, le type, le statut et les dates recherchées.</a:t>
            </a:r>
          </a:p>
        </p:txBody>
      </p:sp>
      <p:sp>
        <p:nvSpPr>
          <p:cNvPr id="10" name="">
            <a:extLst xmlns:a="http://schemas.openxmlformats.org/drawingml/2006/main">
              <a:ext uri="{FF2B5EF4-FFF2-40B4-BE49-F238E27FC236}">
                <a16:creationId xmlns:a16="http://schemas.microsoft.com/office/drawing/2014/main" id="{E1E4EA57-ED67-48E2-90C4-11FA13DB481C}"/>
              </a:ext>
            </a:extLst>
          </p:cNvPr>
          <p:cNvSpPr>
            <a:spLocks xmlns:a="http://schemas.openxmlformats.org/drawingml/2006/main" noGrp="1"/>
          </p:cNvSpPr>
          <p:nvPr/>
        </p:nvSpPr>
        <p:spPr>
          <a:xfrm xmlns:a="http://schemas.openxmlformats.org/drawingml/2006/main">
            <a:off x="8763000" y="3276600"/>
            <a:ext cx="2914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3447A1"/>
                </a:solidFill>
                <a:latin typeface="DejaVu Sans"/>
                <a:ea typeface="DejaVu Sans"/>
                <a:cs typeface="DejaVu Sans"/>
              </a:defRPr>
            </a:pPr>
            <a:r>
              <a:rPr sz="1725" b="1">
                <a:solidFill>
                  <a:srgbClr val="3447A1"/>
                </a:solidFill>
                <a:latin typeface="DejaVu Sans"/>
                <a:ea typeface="DejaVu Sans"/>
                <a:cs typeface="DejaVu Sans"/>
              </a:rPr>
              <a:t>Contrôler</a:t>
            </a:r>
          </a:p>
        </p:txBody>
      </p:sp>
      <p:sp>
        <p:nvSpPr>
          <p:cNvPr id="11" name="">
            <a:extLst xmlns:a="http://schemas.openxmlformats.org/drawingml/2006/main">
              <a:ext uri="{FF2B5EF4-FFF2-40B4-BE49-F238E27FC236}">
                <a16:creationId xmlns:a16="http://schemas.microsoft.com/office/drawing/2014/main" id="{7080F795-FD13-4809-B5A8-F486117D810A}"/>
              </a:ext>
            </a:extLst>
          </p:cNvPr>
          <p:cNvSpPr>
            <a:spLocks xmlns:a="http://schemas.openxmlformats.org/drawingml/2006/main" noGrp="1"/>
          </p:cNvSpPr>
          <p:nvPr/>
        </p:nvSpPr>
        <p:spPr>
          <a:xfrm xmlns:a="http://schemas.openxmlformats.org/drawingml/2006/main">
            <a:off x="8763000" y="3829050"/>
            <a:ext cx="29146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264C"/>
                </a:solidFill>
                <a:latin typeface="DejaVu Sans"/>
                <a:ea typeface="DejaVu Sans"/>
                <a:cs typeface="DejaVu Sans"/>
              </a:defRPr>
            </a:pPr>
            <a:r>
              <a:rPr sz="1650" b="0">
                <a:solidFill>
                  <a:srgbClr val="17264C"/>
                </a:solidFill>
                <a:latin typeface="DejaVu Sans"/>
                <a:ea typeface="DejaVu Sans"/>
                <a:cs typeface="DejaVu Sans"/>
              </a:rPr>
              <a:t>Cliquer sur « Voir », puis consulter, corriger ou valider la fiche.</a:t>
            </a:r>
          </a:p>
        </p:txBody>
      </p:sp>
      <p:sp>
        <p:nvSpPr>
          <p:cNvPr id="12" name="">
            <a:extLst xmlns:a="http://schemas.openxmlformats.org/drawingml/2006/main">
              <a:ext uri="{FF2B5EF4-FFF2-40B4-BE49-F238E27FC236}">
                <a16:creationId xmlns:a16="http://schemas.microsoft.com/office/drawing/2014/main" id="{25F0E930-C311-468B-A1E0-754647DE99F9}"/>
              </a:ext>
            </a:extLst>
          </p:cNvPr>
          <p:cNvSpPr>
            <a:spLocks xmlns:a="http://schemas.openxmlformats.org/drawingml/2006/main" noGrp="1"/>
          </p:cNvSpPr>
          <p:nvPr/>
        </p:nvSpPr>
        <p:spPr>
          <a:xfrm xmlns:a="http://schemas.openxmlformats.org/drawingml/2006/main">
            <a:off x="8763000" y="4876800"/>
            <a:ext cx="2914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3447A1"/>
                </a:solidFill>
                <a:latin typeface="DejaVu Sans"/>
                <a:ea typeface="DejaVu Sans"/>
                <a:cs typeface="DejaVu Sans"/>
              </a:defRPr>
            </a:pPr>
            <a:r>
              <a:rPr sz="1725" b="1">
                <a:solidFill>
                  <a:srgbClr val="3447A1"/>
                </a:solidFill>
                <a:latin typeface="DejaVu Sans"/>
                <a:ea typeface="DejaVu Sans"/>
                <a:cs typeface="DejaVu Sans"/>
              </a:rPr>
              <a:t>Exploiter la trace</a:t>
            </a:r>
          </a:p>
        </p:txBody>
      </p:sp>
      <p:sp>
        <p:nvSpPr>
          <p:cNvPr id="13" name="">
            <a:extLst xmlns:a="http://schemas.openxmlformats.org/drawingml/2006/main">
              <a:ext uri="{FF2B5EF4-FFF2-40B4-BE49-F238E27FC236}">
                <a16:creationId xmlns:a16="http://schemas.microsoft.com/office/drawing/2014/main" id="{D8B65631-426A-4D9F-88B8-577483959D26}"/>
              </a:ext>
            </a:extLst>
          </p:cNvPr>
          <p:cNvSpPr>
            <a:spLocks xmlns:a="http://schemas.openxmlformats.org/drawingml/2006/main" noGrp="1"/>
          </p:cNvSpPr>
          <p:nvPr/>
        </p:nvSpPr>
        <p:spPr>
          <a:xfrm xmlns:a="http://schemas.openxmlformats.org/drawingml/2006/main">
            <a:off x="8763000" y="5429250"/>
            <a:ext cx="29146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264C"/>
                </a:solidFill>
                <a:latin typeface="DejaVu Sans"/>
                <a:ea typeface="DejaVu Sans"/>
                <a:cs typeface="DejaVu Sans"/>
              </a:defRPr>
            </a:pPr>
            <a:r>
              <a:rPr sz="1650" b="0">
                <a:solidFill>
                  <a:srgbClr val="17264C"/>
                </a:solidFill>
                <a:latin typeface="DejaVu Sans"/>
                <a:ea typeface="DejaVu Sans"/>
                <a:cs typeface="DejaVu Sans"/>
              </a:rPr>
              <a:t>Exporter en JSON ou consulter le journal Historique Outlook.</a:t>
            </a:r>
          </a:p>
        </p:txBody>
      </p:sp>
    </p:spTree>
    <p:extLst>
      <p:ext uri="{BB962C8B-B14F-4D97-AF65-F5344CB8AC3E}">
        <p14:creationId xmlns:p14="http://schemas.microsoft.com/office/powerpoint/2010/main" val="9030667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2026-09-25T13:49:20.8350000Z</dcterms:created>
  <dcterms:modified xsi:type="dcterms:W3CDTF">2026-09-25T13:49:20.8350000Z</dcterms:modified>
</coreProperties>
</file>